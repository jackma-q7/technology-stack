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5" r:id="rId3"/>
    <p:sldId id="276" r:id="rId4"/>
    <p:sldId id="297" r:id="rId6"/>
    <p:sldId id="309" r:id="rId7"/>
    <p:sldId id="323" r:id="rId8"/>
    <p:sldId id="394" r:id="rId9"/>
    <p:sldId id="308" r:id="rId10"/>
    <p:sldId id="298" r:id="rId11"/>
    <p:sldId id="299" r:id="rId12"/>
    <p:sldId id="359" r:id="rId13"/>
    <p:sldId id="363" r:id="rId14"/>
    <p:sldId id="361" r:id="rId15"/>
    <p:sldId id="379" r:id="rId16"/>
    <p:sldId id="417" r:id="rId17"/>
    <p:sldId id="410" r:id="rId18"/>
    <p:sldId id="387" r:id="rId19"/>
    <p:sldId id="411" r:id="rId20"/>
    <p:sldId id="412" r:id="rId21"/>
    <p:sldId id="422" r:id="rId22"/>
    <p:sldId id="423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pleSmart" initials="S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8" autoAdjust="0"/>
    <p:restoredTop sz="94660"/>
  </p:normalViewPr>
  <p:slideViewPr>
    <p:cSldViewPr>
      <p:cViewPr varScale="1">
        <p:scale>
          <a:sx n="110" d="100"/>
          <a:sy n="110" d="100"/>
        </p:scale>
        <p:origin x="1968" y="78"/>
      </p:cViewPr>
      <p:guideLst>
        <p:guide orient="horz" pos="2192"/>
        <p:guide pos="29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27T08:03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1578 1040,'2'0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27T08:03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1578 1040,'2'0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27T08:03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1578 1040,'2'0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27T08:03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532 638,'2'0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27T08:03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799 339,'2'0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DF8C-4C82-4E1D-ACFB-E2E2D3E135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4FEF-681B-40E5-A232-6D056FB2C7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9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file:///C:\Users\1V994W2\Documents\Tencent%20Files\574576071\FileRecv\&#25340;&#35013;&#32032;&#26448;\formiddle1\\15\subject_holdleft_111,134,161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4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9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2376729" y="2653386"/>
            <a:ext cx="4762500" cy="133096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Font typeface="Arial" panose="020B0604020202020204" pitchFamily="34" charset="0"/>
              <a:buNone/>
              <a:defRPr sz="5400" b="0" spc="-2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376729" y="4227376"/>
            <a:ext cx="4762500" cy="764868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6016"/>
            <a:ext cx="3048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350495" y="3429000"/>
            <a:ext cx="4443011" cy="918537"/>
          </a:xfrm>
        </p:spPr>
        <p:txBody>
          <a:bodyPr>
            <a:normAutofit/>
          </a:bodyPr>
          <a:lstStyle>
            <a:lvl1pPr algn="ctr"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4679158" y="952508"/>
            <a:ext cx="396243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502448" y="952508"/>
            <a:ext cx="396243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60" y="2194560"/>
            <a:ext cx="3291840" cy="2468880"/>
          </a:xfrm>
          <a:prstGeom prst="rect">
            <a:avLst/>
          </a:prstGeom>
        </p:spPr>
      </p:pic>
      <p:sp>
        <p:nvSpPr>
          <p:cNvPr id="6" name="任意多边形 6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5484971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2" y="443230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02448" y="952508"/>
            <a:ext cx="8139178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2516981" y="3913822"/>
            <a:ext cx="411003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2560320" y="4117022"/>
            <a:ext cx="4023836" cy="764943"/>
          </a:xfr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0"/>
            </p:custDataLst>
          </p:nvPr>
        </p:nvSpPr>
        <p:spPr>
          <a:xfrm>
            <a:off x="2559844" y="2379663"/>
            <a:ext cx="4024313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6000" b="0" spc="10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0"/>
            <a:ext cx="8139178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1249200"/>
            <a:ext cx="7219800" cy="723600"/>
          </a:xfrm>
        </p:spPr>
        <p:txBody>
          <a:bodyPr wrap="square" anchor="ctr"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960835" y="2163600"/>
            <a:ext cx="721995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7400" y="770400"/>
            <a:ext cx="2970000" cy="882000"/>
          </a:xfrm>
        </p:spPr>
        <p:txBody>
          <a:bodyPr wrap="square" anchor="ctr" anchorCtr="0">
            <a:normAutofit/>
          </a:bodyPr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440100" y="1764000"/>
            <a:ext cx="29673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3825900" y="769938"/>
            <a:ext cx="486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9000" y="781200"/>
            <a:ext cx="8232300" cy="626400"/>
          </a:xfrm>
        </p:spPr>
        <p:txBody>
          <a:bodyPr wrap="square" anchor="ctr">
            <a:normAutofit/>
          </a:bodyPr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59000" y="1659600"/>
            <a:ext cx="8231981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59581" y="2808000"/>
            <a:ext cx="82242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669600"/>
            <a:ext cx="8232300" cy="565200"/>
          </a:xfrm>
        </p:spPr>
        <p:txBody>
          <a:bodyPr wrap="square" anchor="ctr" anchorCtr="0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681200"/>
            <a:ext cx="82431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5180400"/>
            <a:ext cx="82512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2" name="图片 11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634365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365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4700" y="237600"/>
            <a:ext cx="82782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34700" y="1663200"/>
            <a:ext cx="40068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681800" y="1663200"/>
            <a:ext cx="40257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429300" y="4816800"/>
            <a:ext cx="40068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4689900" y="4813200"/>
            <a:ext cx="40257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3691"/>
            <a:ext cx="9144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700713"/>
            <a:ext cx="1215152" cy="1157288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713"/>
            <a:ext cx="1215152" cy="11572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142100" y="1339200"/>
            <a:ext cx="6858000" cy="2386800"/>
          </a:xfrm>
        </p:spPr>
        <p:txBody>
          <a:bodyPr wrap="square" anchor="b">
            <a:normAutofit/>
          </a:bodyPr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141810" y="3862800"/>
            <a:ext cx="6858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ent Proje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001441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220809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961398"/>
            <a:ext cx="8139178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image" Target="../media/image6.jpeg"/><Relationship Id="rId1" Type="http://schemas.openxmlformats.org/officeDocument/2006/relationships/tags" Target="../tags/tag139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72.xml"/><Relationship Id="rId5" Type="http://schemas.openxmlformats.org/officeDocument/2006/relationships/image" Target="../media/image7.png"/><Relationship Id="rId4" Type="http://schemas.openxmlformats.org/officeDocument/2006/relationships/tags" Target="../tags/tag171.xml"/><Relationship Id="rId3" Type="http://schemas.openxmlformats.org/officeDocument/2006/relationships/customXml" Target="../ink/ink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9.xml"/><Relationship Id="rId4" Type="http://schemas.openxmlformats.org/officeDocument/2006/relationships/image" Target="../media/image7.png"/><Relationship Id="rId3" Type="http://schemas.openxmlformats.org/officeDocument/2006/relationships/tags" Target="../tags/tag188.xml"/><Relationship Id="rId2" Type="http://schemas.openxmlformats.org/officeDocument/2006/relationships/customXml" Target="../ink/ink2.xml"/><Relationship Id="rId1" Type="http://schemas.openxmlformats.org/officeDocument/2006/relationships/tags" Target="../tags/tag18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2.xml"/><Relationship Id="rId4" Type="http://schemas.openxmlformats.org/officeDocument/2006/relationships/image" Target="../media/image7.png"/><Relationship Id="rId3" Type="http://schemas.openxmlformats.org/officeDocument/2006/relationships/tags" Target="../tags/tag191.xml"/><Relationship Id="rId2" Type="http://schemas.openxmlformats.org/officeDocument/2006/relationships/customXml" Target="../ink/ink3.xml"/><Relationship Id="rId1" Type="http://schemas.openxmlformats.org/officeDocument/2006/relationships/tags" Target="../tags/tag190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5.xml"/><Relationship Id="rId4" Type="http://schemas.openxmlformats.org/officeDocument/2006/relationships/image" Target="../media/image7.png"/><Relationship Id="rId3" Type="http://schemas.openxmlformats.org/officeDocument/2006/relationships/customXml" Target="../ink/ink4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8.xml"/><Relationship Id="rId4" Type="http://schemas.openxmlformats.org/officeDocument/2006/relationships/image" Target="../media/image7.png"/><Relationship Id="rId3" Type="http://schemas.openxmlformats.org/officeDocument/2006/relationships/customXml" Target="../ink/ink5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idx="4294967295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3" b="28923"/>
          <a:stretch>
            <a:fillRect/>
          </a:stretch>
        </p:blipFill>
        <p:spPr>
          <a:xfrm>
            <a:off x="0" y="857250"/>
            <a:ext cx="9144000" cy="22278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5" name="TextBox 1"/>
          <p:cNvSpPr txBox="1"/>
          <p:nvPr>
            <p:custDataLst>
              <p:tags r:id="rId3"/>
            </p:custDataLst>
          </p:nvPr>
        </p:nvSpPr>
        <p:spPr>
          <a:xfrm>
            <a:off x="2076099" y="3480582"/>
            <a:ext cx="4992370" cy="1534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chrono</a:t>
            </a:r>
            <a:r>
              <a:rPr lang="zh-CN" altLang="en-US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库</a:t>
            </a:r>
            <a:endParaRPr lang="en-US" altLang="zh-CN" sz="7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63741" y="3162185"/>
            <a:ext cx="452120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对时间处理的需求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24391" y="2649895"/>
            <a:ext cx="1795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chrono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库的使用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144270"/>
            <a:ext cx="7948930" cy="458406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sz="1600" b="1" spc="0" dirty="0">
                <a:solidFill>
                  <a:srgbClr val="FF0000"/>
                </a:solidFill>
                <a:sym typeface="+mn-ea"/>
              </a:rPr>
              <a:t>获取当前时间，比如记录日志，精度一般到毫秒</a:t>
            </a:r>
            <a:endParaRPr sz="1600" b="1" spc="0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b="1" spc="0" dirty="0">
                <a:solidFill>
                  <a:srgbClr val="FF0000"/>
                </a:solidFill>
                <a:sym typeface="+mn-ea"/>
              </a:rPr>
              <a:t>计算时间间隔，比如判断代码块的运行时长</a:t>
            </a:r>
            <a:endParaRPr sz="1600" b="1" spc="0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获取日期，日期换算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定时器</a:t>
            </a:r>
            <a:endParaRPr lang="zh-CN" altLang="en-US"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AutoNum type="arabicPeriod"/>
            </a:pPr>
            <a:endParaRPr lang="zh-CN" altLang="en-US"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以上是在开发中对时间处理的最常见的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4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点需求，并且是与平台无关，要求跨平台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日期处理更多的是业务层代码中，时间的处理在底层</a:t>
            </a:r>
            <a:endParaRPr sz="16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对于时间处理的需求</a:t>
            </a:r>
            <a:endParaRPr lang="zh-CN" altLang="en-US"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87361" y="3162185"/>
            <a:ext cx="349758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OS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提供的</a:t>
            </a:r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API</a:t>
            </a:r>
            <a:endParaRPr lang="en-US" altLang="zh-CN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24391" y="2649895"/>
            <a:ext cx="1795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chrono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库的使用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45075" y="2294165"/>
            <a:ext cx="30988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淘宝网chenying0907出品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501380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Text Box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40630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224280"/>
            <a:ext cx="8126730" cy="51428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时间的相关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API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，有两个使用相当广泛的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API</a:t>
            </a:r>
            <a:endParaRPr lang="en-US" altLang="zh-CN" sz="16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time_t time() //</a:t>
            </a:r>
            <a:r>
              <a:rPr lang="en-US" altLang="zh-CN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返回从1970-01-01 00:00:00 +0000 (UTC)的秒数</a:t>
            </a:r>
            <a:r>
              <a:rPr lang="en-US" altLang="zh-CN" b="1" spc="0" dirty="0">
                <a:solidFill>
                  <a:srgbClr val="FF0000"/>
                </a:solidFill>
                <a:sym typeface="+mn-ea"/>
              </a:rPr>
              <a:t>(C</a:t>
            </a:r>
            <a:r>
              <a:rPr b="1" spc="0" dirty="0">
                <a:solidFill>
                  <a:srgbClr val="FF0000"/>
                </a:solidFill>
                <a:sym typeface="+mn-ea"/>
              </a:rPr>
              <a:t>语言标准提供</a:t>
            </a:r>
            <a:r>
              <a:rPr lang="en-US" altLang="zh-CN" b="1" spc="0" dirty="0">
                <a:solidFill>
                  <a:srgbClr val="FF0000"/>
                </a:solidFill>
                <a:sym typeface="+mn-ea"/>
              </a:rPr>
              <a:t>)</a:t>
            </a:r>
            <a:endParaRPr lang="en-US" altLang="zh-CN" sz="1600" b="1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int gettimeofday(struct timeval *tv,struct timezone *tz) //</a:t>
            </a:r>
            <a:r>
              <a:rPr lang="en-US" altLang="zh-CN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返回指定时区 回从1970-01-01 00:00:00 +0000 (UTC)的秒数及微秒</a:t>
            </a:r>
            <a:endParaRPr lang="en-US" altLang="zh-CN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time()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是跨平台的，但是它的精度只是到了秒，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gettimeofday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虽然精度到了微秒，但它是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linux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下的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API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。当然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windows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也提供相应的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API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，但是用法就不同了。</a:t>
            </a:r>
            <a:endParaRPr lang="en-US" altLang="zh-CN" sz="1600" spc="0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定时相关</a:t>
            </a:r>
            <a:endParaRPr sz="16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一种跨平台的定时器，是通过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select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函数实现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设置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timeout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参数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)</a:t>
            </a:r>
            <a:endParaRPr lang="en-US" altLang="zh-CN" sz="16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需要实现高精度，跨平台的时间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(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日期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)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处理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API</a:t>
            </a:r>
            <a:endParaRPr lang="en-US" altLang="zh-CN" sz="1600" spc="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OS</a:t>
            </a: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提供的</a:t>
            </a: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endParaRPr lang="en-US" altLang="zh-CN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81965" y="1108075"/>
            <a:ext cx="8126730" cy="514286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包括两种方式：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C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语言风格的方式，在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time.h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头文件包括一系列的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API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，在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C++11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中是被包含在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ctime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头文件中</a:t>
            </a:r>
            <a:endParaRPr lang="en-US" altLang="zh-CN" sz="1600" spc="0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time() 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获取时间，用秒数表示，返回一个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time_t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类型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ctime() 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传入一个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time_t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类型，返回日期字符串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localtime() 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传入一个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time_t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类型，获取一个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tm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结构体，其中包括了年，月，日，时，分，秒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精度是到秒</a:t>
            </a:r>
            <a:endParaRPr lang="en-US" altLang="zh-CN" sz="1600" spc="0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C++ 11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引入的</a:t>
            </a:r>
            <a:r>
              <a:rPr lang="en-US" altLang="zh-CN" sz="1600" spc="0" dirty="0">
                <a:solidFill>
                  <a:srgbClr val="FF0000"/>
                </a:solidFill>
                <a:sym typeface="+mn-ea"/>
              </a:rPr>
              <a:t>chrono</a:t>
            </a:r>
            <a:r>
              <a:rPr sz="1600" spc="0" dirty="0">
                <a:solidFill>
                  <a:srgbClr val="FF0000"/>
                </a:solidFill>
                <a:sym typeface="+mn-ea"/>
              </a:rPr>
              <a:t>库</a:t>
            </a:r>
            <a:endParaRPr lang="en-US" altLang="zh-CN" sz="1600" spc="0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None/>
            </a:pPr>
            <a:endParaRPr sz="1600" b="1" spc="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52425" y="43434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C++11</a:t>
            </a: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中的日期和时间处理</a:t>
            </a:r>
            <a:endParaRPr lang="zh-CN" altLang="en-US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920811" y="3162185"/>
            <a:ext cx="256413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chrono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库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52991" y="2649895"/>
            <a:ext cx="1567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chrono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的使用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淘宝网chenying0907出品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501380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Text Box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40630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091565"/>
            <a:ext cx="8061325" cy="467487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chrono库是C++11提供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跨平台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强类型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的日期，时间处理库，它提供的功能覆盖了前面提出的前三点需求，它没提供定时相关的功能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对时间，日期的处理，它引入了三个基本概念：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时间点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比如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12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：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05: 00 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表示一个时间点，比如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2021-01-01 13:00:00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也表示一个时间点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时间间隔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两个时间点的差值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时间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时钟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时间点的通俗概念，包含了时间点，时间间隔，日期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b="1" spc="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chrono</a:t>
            </a:r>
            <a:r>
              <a:rPr lang="zh-CN" alt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lang="zh-CN" altLang="en-US"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7" name="墨迹 6"/>
              <p14:cNvContentPartPr/>
              <p14:nvPr>
                <p:custDataLst>
                  <p:tags r:id="rId4"/>
                </p:custDataLst>
              </p14:nvPr>
            </p14:nvContentPartPr>
            <p14:xfrm>
              <a:off x="10020300" y="6604000"/>
              <a:ext cx="1270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10020300" y="6604000"/>
                <a:ext cx="12700" cy="360"/>
              </a:xfrm>
              <a:prstGeom prst="rect"/>
            </p:spPr>
          </p:pic>
        </mc:Fallback>
      </mc:AlternateContent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328420"/>
            <a:ext cx="7947025" cy="5250815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Clock 跟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time_t time()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返回值的意义类似，代表这从时间纪元(不一定是从1970-01-01 00:00:00 +0000开始了)，到现在的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"距离"</a:t>
            </a:r>
            <a:r>
              <a:rPr sz="1600" spc="0" dirty="0">
                <a:solidFill>
                  <a:schemeClr val="tx1"/>
                </a:solidFill>
                <a:sym typeface="+mn-ea"/>
              </a:rPr>
              <a:t>，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这个"距离"有不同的精度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b="1" spc="0" dirty="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C++ 11中包含三种clock类型: 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system_clock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steady_clok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high_resolution_clock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分别对应了不同的精度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 dirty="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每一种clock中都定义了特定的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duration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及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time_point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类型(因为精度不同)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7200" y="517525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clock(</a:t>
            </a: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时间</a:t>
            </a: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时钟</a:t>
            </a: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41630" y="630555"/>
            <a:ext cx="8551545" cy="5386070"/>
          </a:xfrm>
        </p:spPr>
        <p:txBody>
          <a:bodyPr>
            <a:normAutofit lnSpcReduction="10000"/>
          </a:bodyPr>
          <a:lstStyle/>
          <a:p>
            <a:pPr marL="457200" indent="-457200" algn="l">
              <a:lnSpc>
                <a:spcPct val="150000"/>
              </a:lnSpc>
              <a:buClrTx/>
              <a:buSzTx/>
              <a:buAutoNum type="arabicPeriod"/>
            </a:pPr>
            <a:r>
              <a:rPr sz="20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system_clock</a:t>
            </a:r>
            <a:endParaRPr sz="20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20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system_clock为系统时间(壁钟时间)，它的原点时间是UNIX 197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0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-01-01 00:00::00 UTC，它包括3个静态方法: 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now, to_time_t, from_time_t(与C 风格的时间相互转换)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，它的用法比较简单，当需要获取时间时，就可以使用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system_clock</a:t>
            </a:r>
            <a:endParaRPr sz="16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b="1" spc="0" dirty="0">
                <a:solidFill>
                  <a:srgbClr val="FF0000"/>
                </a:solidFill>
                <a:sym typeface="+mn-ea"/>
              </a:rPr>
              <a:t>如果改了系统时间，system_clock的值也会变化，所以它是不"稳定的</a:t>
            </a:r>
            <a:endParaRPr sz="1600" b="1" spc="0" dirty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system_clock::is_steady值为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false</a:t>
            </a:r>
            <a:endParaRPr lang="en-US" altLang="zh-CN" sz="1600" b="1" spc="0" dirty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03225" y="635635"/>
            <a:ext cx="8337550" cy="5194935"/>
          </a:xfrm>
        </p:spPr>
        <p:txBody>
          <a:bodyPr>
            <a:normAutofit/>
          </a:bodyPr>
          <a:lstStyle/>
          <a:p>
            <a:pPr marL="285750" indent="-457200" algn="l">
              <a:lnSpc>
                <a:spcPct val="150000"/>
              </a:lnSpc>
              <a:buClrTx/>
              <a:buSzTx/>
              <a:buFont typeface="+mj-lt"/>
              <a:buAutoNum type="arabicPeriod" startAt="2"/>
            </a:pPr>
            <a:r>
              <a:rPr lang="en-US" altLang="zh-CN" sz="20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steady_clock </a:t>
            </a:r>
            <a:endParaRPr lang="en-US" altLang="zh-CN" sz="20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steady_clock是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处理器的tick时间(非壁钟时间)，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原点是机器启动的时刻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steady_clock::now()返回的值绝不会小于上一次调用的值，即使改了系统时间，也会保证steady_clock::now()产生正确的值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它最适合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度量间隔(精度)，它只有一个静态now方法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。它经常被用来计算时间间隔，通过使用steady_clock命名空间的duration和time_point，来表示高精度的时间间隔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b="1" spc="0" dirty="0">
                <a:solidFill>
                  <a:srgbClr val="FF0000"/>
                </a:solidFill>
                <a:sym typeface="+mn-ea"/>
              </a:rPr>
              <a:t>更改了系统时间并不会影响 </a:t>
            </a:r>
            <a:r>
              <a:rPr lang="en-US" altLang="zh-CN" sz="1600" b="1" spc="0" dirty="0">
                <a:solidFill>
                  <a:srgbClr val="FF0000"/>
                </a:solidFill>
                <a:sym typeface="+mn-ea"/>
              </a:rPr>
              <a:t>steady_clock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，所以它是</a:t>
            </a:r>
            <a:r>
              <a:rPr lang="en-US" altLang="zh-CN" sz="1600" b="1" spc="0" dirty="0">
                <a:solidFill>
                  <a:srgbClr val="FF0000"/>
                </a:solidFill>
                <a:sym typeface="+mn-ea"/>
              </a:rPr>
              <a:t>”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稳定的</a:t>
            </a:r>
            <a:r>
              <a:rPr lang="en-US" altLang="zh-CN" sz="1600" b="1" spc="0" dirty="0">
                <a:solidFill>
                  <a:srgbClr val="FF0000"/>
                </a:solidFill>
                <a:sym typeface="+mn-ea"/>
              </a:rPr>
              <a:t>“</a:t>
            </a:r>
            <a:r>
              <a:rPr sz="1600" b="1" spc="0" dirty="0">
                <a:solidFill>
                  <a:srgbClr val="FF0000"/>
                </a:solidFill>
                <a:sym typeface="+mn-ea"/>
              </a:rPr>
              <a:t>，steady_clock::is_steady 值为</a:t>
            </a:r>
            <a:r>
              <a:rPr lang="en-US" altLang="zh-CN" sz="1600" b="1" spc="0" dirty="0">
                <a:solidFill>
                  <a:srgbClr val="FF0000"/>
                </a:solidFill>
                <a:sym typeface="+mn-ea"/>
              </a:rPr>
              <a:t>true</a:t>
            </a:r>
            <a:endParaRPr lang="en-US" altLang="zh-CN" sz="1600" b="1" spc="0" dirty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02260" y="565785"/>
            <a:ext cx="8735695" cy="5378450"/>
          </a:xfrm>
        </p:spPr>
        <p:txBody>
          <a:bodyPr>
            <a:normAutofit/>
          </a:bodyPr>
          <a:lstStyle/>
          <a:p>
            <a:pPr marL="285750" indent="-457200" algn="l">
              <a:lnSpc>
                <a:spcPct val="150000"/>
              </a:lnSpc>
              <a:buClrTx/>
              <a:buSzTx/>
              <a:buFont typeface="+mj-lt"/>
              <a:buAutoNum type="arabicPeriod" startAt="3"/>
            </a:pPr>
            <a:r>
              <a:rPr lang="en-US" altLang="zh-CN" sz="20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high_resolution_clock</a:t>
            </a:r>
            <a:endParaRPr lang="en-US" altLang="zh-CN" sz="20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Font typeface="+mj-lt"/>
              <a:buNone/>
            </a:pPr>
            <a:endParaRPr lang="en-US" altLang="zh-CN" sz="20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high_resolution_clock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，它代表了当前系统的所支持的最高精度，它可能就是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system_clock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或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steady_clock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，是一个类型别名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不同平台实现不同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)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，它也只有一个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now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方法。使用场景跟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steady_clock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一致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endParaRPr sz="1600" b="1" spc="0" dirty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85750" y="1270000"/>
            <a:ext cx="8857615" cy="5300980"/>
          </a:xfrm>
        </p:spPr>
        <p:txBody>
          <a:bodyPr>
            <a:normAutofit/>
          </a:bodyPr>
          <a:lstStyle/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比率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(std::ratio)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template&lt;std::intmax_t Num, std::intmax_t Denom = 1 &gt; class ratio</a:t>
            </a:r>
            <a:endParaRPr sz="16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std::ratio代表一个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比率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，Num是分子，Denom是分母， Denom 不可为零且不可等于最负的值。代表的数值约分分子和分母到最简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Duration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template &lt;class Rep, class Period = ratio&lt;1&gt; &gt; class duration</a:t>
            </a:r>
            <a:endParaRPr lang="en-US" altLang="zh-CN" sz="1600" b="1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它代表的是一个时间间隔，</a:t>
            </a:r>
            <a:r>
              <a:rPr lang="en-US" altLang="zh-CN"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Period就是精度(比如秒ration&lt;1&gt;，毫秒ration&lt;1,1000&gt;)</a:t>
            </a:r>
            <a:r>
              <a:rPr sz="1600" b="1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lang="en-US" altLang="zh-CN" sz="1600" b="1" spc="0" dirty="0">
                <a:solidFill>
                  <a:srgbClr val="FF0000"/>
                </a:solidFill>
                <a:sym typeface="+mn-ea"/>
              </a:rPr>
              <a:t>它支持算术运算符，支持比较运算符</a:t>
            </a:r>
            <a:endParaRPr lang="en-US" altLang="zh-CN" sz="1600" b="1" spc="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7200" y="487045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时间间隔Duration</a:t>
            </a:r>
            <a:endParaRPr lang="zh-CN" altLang="en-US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510540"/>
            <a:ext cx="8154035" cy="6068695"/>
          </a:xfrm>
        </p:spPr>
        <p:txBody>
          <a:bodyPr>
            <a:normAutofit lnSpcReduction="10000"/>
          </a:bodyPr>
          <a:lstStyle/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b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三种clock的精度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在每个clock类型都一个period的成员变量,它是一个ratio类型(比率),以一秒为分子,精度为分母,可以通过打印period的den成员值来确定clock的精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//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环境 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win10+vs2017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std::cout &lt;&lt; system_clock::period::den &lt;&lt; std::endl;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//10000000(100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纳秒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)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std::cout &lt;&lt; high_resolution_clock::period::den &lt;&lt; std::endl;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//1000000000(1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纳秒）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std::cout &lt;&lt; steady_clock::period::den &lt;&lt; std::endl;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//1000000000(1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纳秒）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不同平台的结果不同</a:t>
            </a:r>
            <a:endParaRPr sz="1600" b="1" spc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6565" y="564515"/>
            <a:ext cx="8205470" cy="5471795"/>
          </a:xfrm>
        </p:spPr>
        <p:txBody>
          <a:bodyPr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sz="16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使用基本的时间单元</a:t>
            </a:r>
            <a:endParaRPr sz="16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在chrono库中，预定义了六种时间单元:hours,minutes,seconds,milliseconds,microseconds,nanoseconds，可以拿来直接使用:</a:t>
            </a:r>
            <a:endParaRPr lang="en-US" altLang="zh-CN"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1400" b="1" spc="0">
                <a:solidFill>
                  <a:srgbClr val="FF0000"/>
                </a:solidFill>
                <a:sym typeface="+mn-ea"/>
              </a:rPr>
              <a:t>//using seconds = duration&lt;long long&gt;</a:t>
            </a:r>
            <a:endParaRPr lang="en-US" altLang="zh-CN" sz="14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1400" b="1" spc="0">
                <a:solidFill>
                  <a:srgbClr val="FF0000"/>
                </a:solidFill>
                <a:sym typeface="+mn-ea"/>
              </a:rPr>
              <a:t>seconds s(1);//代表1秒钟</a:t>
            </a:r>
            <a:endParaRPr lang="en-US" altLang="zh-CN" sz="14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endParaRPr lang="en-US" altLang="zh-CN" sz="14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1400" b="1" spc="0">
                <a:solidFill>
                  <a:srgbClr val="FF0000"/>
                </a:solidFill>
                <a:sym typeface="+mn-ea"/>
              </a:rPr>
              <a:t>//using minutes = duration&lt;int, ratio&lt;60&gt;&gt;</a:t>
            </a:r>
            <a:endParaRPr lang="en-US" altLang="zh-CN" sz="14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1400" b="1" spc="0">
                <a:solidFill>
                  <a:srgbClr val="FF0000"/>
                </a:solidFill>
                <a:sym typeface="+mn-ea"/>
              </a:rPr>
              <a:t>minutes m1(1); //代表1分钟</a:t>
            </a:r>
            <a:endParaRPr lang="en-US" altLang="zh-CN" sz="1400" b="1" spc="0">
              <a:solidFill>
                <a:srgbClr val="FF0000"/>
              </a:solidFill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endParaRPr lang="en-US" altLang="zh-CN" sz="1400" b="1" spc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b="1" spc="0" dirty="0">
                <a:solidFill>
                  <a:srgbClr val="FF0000"/>
                </a:solidFill>
                <a:sym typeface="+mn-ea"/>
              </a:rPr>
              <a:t>//using milliseconds = duration&lt;long long, milli&gt;;</a:t>
            </a:r>
            <a:endParaRPr sz="1400" b="1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b="1" spc="0" dirty="0">
                <a:solidFill>
                  <a:srgbClr val="FF0000"/>
                </a:solidFill>
                <a:sym typeface="+mn-ea"/>
              </a:rPr>
              <a:t>milliseconds ms(10); //代表10毫秒</a:t>
            </a:r>
            <a:endParaRPr sz="1400" b="1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b="1" spc="0" dirty="0">
                <a:solidFill>
                  <a:srgbClr val="FF0000"/>
                </a:solidFill>
                <a:sym typeface="+mn-ea"/>
              </a:rPr>
              <a:t>milliseconds ms(1000); //代表1000毫秒即1秒</a:t>
            </a:r>
            <a:endParaRPr sz="1400" b="1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400" b="1" spc="0" dirty="0">
              <a:solidFill>
                <a:srgbClr val="FF0000"/>
              </a:solidFill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>
                <p:custDataLst>
                  <p:tags r:id="rId3"/>
                </p:custDataLst>
              </p14:nvPr>
            </p14:nvContentPartPr>
            <p14:xfrm>
              <a:off x="10020300" y="6604000"/>
              <a:ext cx="1270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4"/>
            </p:blipFill>
            <p:spPr>
              <a:xfrm>
                <a:off x="10020300" y="6604000"/>
                <a:ext cx="12700" cy="360"/>
              </a:xfrm>
              <a:prstGeom prst="rect"/>
            </p:spPr>
          </p:pic>
        </mc:Fallback>
      </mc:AlternateContent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6565" y="564515"/>
            <a:ext cx="8061325" cy="4674870"/>
          </a:xfrm>
        </p:spPr>
        <p:txBody>
          <a:bodyPr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sz="16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定义有意义的时间单元</a:t>
            </a:r>
            <a:endParaRPr sz="16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在duration中预定义的时，分，秒等，本质上是类型别名，也可以通过这种方式定义在业务系统中有意义的时间单元，比如，在音视频系统，编码端会设置采集或编码的帧率，比如设置为25帧，可以理解成每40ms产生一帧数据(采集或编码),那么通过duration定义40ms的时间单元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//在25帧的情况下，代表每帧的时间隔即为40ms(ration&lt;1,25&gt;)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(1/25)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typ</a:t>
            </a:r>
            <a:r>
              <a:rPr lang="en-US" altLang="zh-CN" sz="1600" b="1" spc="0">
                <a:solidFill>
                  <a:srgbClr val="FF0000"/>
                </a:solidFill>
                <a:sym typeface="+mn-ea"/>
              </a:rPr>
              <a:t>e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def std::chrono::duration&lt;long,std::ratio&lt;1,25&gt;&gt; FrameRate;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//代表一帧的时间间隔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FrameRate(1)</a:t>
            </a:r>
            <a:endParaRPr sz="1600" b="1" spc="0">
              <a:solidFill>
                <a:srgbClr val="FF0000"/>
              </a:solidFill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>
                <p:custDataLst>
                  <p:tags r:id="rId3"/>
                </p:custDataLst>
              </p14:nvPr>
            </p14:nvContentPartPr>
            <p14:xfrm>
              <a:off x="10020300" y="6604000"/>
              <a:ext cx="1270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4"/>
            </p:blipFill>
            <p:spPr>
              <a:xfrm>
                <a:off x="10020300" y="6604000"/>
                <a:ext cx="12700" cy="360"/>
              </a:xfrm>
              <a:prstGeom prst="rect"/>
            </p:spPr>
          </p:pic>
        </mc:Fallback>
      </mc:AlternateContent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85750" y="1270000"/>
            <a:ext cx="8857615" cy="530098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time_point表示时间点，在前面提到的公式，将时间点加减一个时间间隔还是一个时间点，可以通过clock将时间点换算成具体时间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template&lt;class Clock,class Duration = typename Clock::duration&gt;</a:t>
            </a:r>
            <a:endParaRPr sz="1600" b="1" spc="0">
              <a:solidFill>
                <a:srgbClr val="FF0000"/>
              </a:solidFill>
              <a:sym typeface="+mn-ea"/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r>
              <a:rPr sz="1600" b="1" spc="0">
                <a:solidFill>
                  <a:srgbClr val="FF0000"/>
                </a:solidFill>
                <a:sym typeface="+mn-ea"/>
              </a:rPr>
              <a:t>class time_point;</a:t>
            </a:r>
            <a:endParaRPr sz="16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endParaRPr sz="16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std::chrono</a:t>
            </a:r>
            <a:r>
              <a:rPr lang="en-US" altLang="zh-CN"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::time_point</a:t>
            </a:r>
            <a:endParaRPr lang="en-US" altLang="zh-CN" sz="16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7200" y="487045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时间点time_point</a:t>
            </a:r>
            <a:endParaRPr lang="zh-CN" altLang="en-US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6" name="墨迹 15"/>
              <p14:cNvContentPartPr/>
              <p14:nvPr/>
            </p14:nvContentPartPr>
            <p14:xfrm>
              <a:off x="3378200" y="4051300"/>
              <a:ext cx="1270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4"/>
            </p:blipFill>
            <p:spPr>
              <a:xfrm>
                <a:off x="3378200" y="4051300"/>
                <a:ext cx="12700" cy="360"/>
              </a:xfrm>
              <a:prstGeom prst="rect"/>
            </p:spPr>
          </p:pic>
        </mc:Fallback>
      </mc:AlternateContent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85750" y="1270000"/>
            <a:ext cx="8857615" cy="530098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duration_cast可以转化不同类型的时长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在源duration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能准确地为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目标duration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所整除的场合（例如小时到分钟），无需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duration_cast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整数时长间转型为浮点时长能隐式进行，无需 duration_cast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endParaRPr lang="en-US" altLang="zh-CN" sz="1600" b="1" spc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6090" y="467995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duration_cast</a:t>
            </a:r>
            <a:endParaRPr lang="zh-CN" altLang="en-US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" name="墨迹 10"/>
              <p14:cNvContentPartPr/>
              <p14:nvPr/>
            </p14:nvContentPartPr>
            <p14:xfrm>
              <a:off x="5073650" y="2152650"/>
              <a:ext cx="12700" cy="36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4"/>
            </p:blipFill>
            <p:spPr>
              <a:xfrm>
                <a:off x="5073650" y="2152650"/>
                <a:ext cx="12700" cy="360"/>
              </a:xfrm>
              <a:prstGeom prst="rect"/>
            </p:spPr>
          </p:pic>
        </mc:Fallback>
      </mc:AlternateContent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85750" y="1270000"/>
            <a:ext cx="8857615" cy="530098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20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日期</a:t>
            </a:r>
            <a:endParaRPr sz="18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这里介绍chrono的使用，主要是chrono对时间的处理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在C++ 11中的chrono基本没有对日期处理，在后续几个版本，对日期处理的功能，陆续加强，到了C++20 对日期的处理是非常强大了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C++开发更偏底层，涉及日期处理的需求是比较少的。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6090" y="467995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C++ 11 chrono</a:t>
            </a:r>
            <a:r>
              <a:rPr lang="zh-CN" altLang="en-US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之外</a:t>
            </a:r>
            <a:endParaRPr lang="zh-CN" altLang="en-US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68605" y="533400"/>
            <a:ext cx="8874760" cy="603758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boost</a:t>
            </a:r>
            <a:r>
              <a:rPr sz="20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库中的</a:t>
            </a:r>
            <a:r>
              <a:rPr lang="en-US" altLang="zh-CN" sz="20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chrono</a:t>
            </a:r>
            <a:endParaRPr sz="18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chrono是来自 boost中的，但是它只是boost chrono的一个子集，它的提供的功能更加强大，比如它提供了更多的 clock类型，比如：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process_real_cpu_clock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process_user_cpu_clock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process_system_cpu_clock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process_cpu_clock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 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thread_clock。</a:t>
            </a:r>
            <a:endParaRPr sz="16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对time_point，duration提供了IO功能，可以直接通过标准输入格式time_point，也可以直接输出到标准输出。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2000" b="1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定时器</a:t>
            </a:r>
            <a:endParaRPr sz="2000" b="1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chrono中并没有定时器，整个C++ stl中都没有定时器，定时器最佳实现是通过IO复用的API去对time_fd进行监听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(linux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下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)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478"/>
  <p:tag name="KSO_WM_TEMPLATE_MASTER_TYPE" val="1"/>
  <p:tag name="KSO_WM_TEMPLATE_THUMBS_INDEX" val="1、4、7、12、15、16、20、23、24、25、30、35、39、40、41、42"/>
</p:tagLst>
</file>

<file path=ppt/tags/tag139.xml><?xml version="1.0" encoding="utf-8"?>
<p:tagLst xmlns:p="http://schemas.openxmlformats.org/presentationml/2006/main">
  <p:tag name="KSO_WM_FULL_TEXT_BEAUTIFY_COPY_ID" val="4"/>
</p:tagLst>
</file>

<file path=ppt/tags/tag140.xml><?xml version="1.0" encoding="utf-8"?>
<p:tagLst xmlns:p="http://schemas.openxmlformats.org/presentationml/2006/main">
  <p:tag name="KSO_WM_FULL_TEXT_BEAUTIFY_COPY_ID" val="5"/>
</p:tagLst>
</file>

<file path=ppt/tags/tag141.xml><?xml version="1.0" encoding="utf-8"?>
<p:tagLst xmlns:p="http://schemas.openxmlformats.org/presentationml/2006/main">
  <p:tag name="KSO_WM_FULL_TEXT_BEAUTIFY_COPY_ID" val="150995219"/>
</p:tagLst>
</file>

<file path=ppt/tags/tag142.xml><?xml version="1.0" encoding="utf-8"?>
<p:tagLst xmlns:p="http://schemas.openxmlformats.org/presentationml/2006/main">
  <p:tag name="KSO_WM_FULL_TEXT_BEAUTIFY_COPY_ID" val="5123"/>
</p:tagLst>
</file>

<file path=ppt/tags/tag143.xml><?xml version="1.0" encoding="utf-8"?>
<p:tagLst xmlns:p="http://schemas.openxmlformats.org/presentationml/2006/main">
  <p:tag name="KSO_WM_FULL_TEXT_BEAUTIFY_COPY_ID" val="5124"/>
</p:tagLst>
</file>

<file path=ppt/tags/tag144.xml><?xml version="1.0" encoding="utf-8"?>
<p:tagLst xmlns:p="http://schemas.openxmlformats.org/presentationml/2006/main">
  <p:tag name="KSO_WM_FULL_TEXT_BEAUTIFY_COPY_ID" val="5125"/>
</p:tagLst>
</file>

<file path=ppt/tags/tag145.xml><?xml version="1.0" encoding="utf-8"?>
<p:tagLst xmlns:p="http://schemas.openxmlformats.org/presentationml/2006/main">
  <p:tag name="KSO_WM_FULL_TEXT_BEAUTIFY_COPY_ID" val="7"/>
</p:tagLst>
</file>

<file path=ppt/tags/tag146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20"/>
</p:tagLst>
</file>

<file path=ppt/tags/tag147.xml><?xml version="1.0" encoding="utf-8"?>
<p:tagLst xmlns:p="http://schemas.openxmlformats.org/presentationml/2006/main">
  <p:tag name="KSO_WM_FULL_TEXT_BEAUTIFY_COPY_ID" val="3"/>
</p:tagLst>
</file>

<file path=ppt/tags/tag148.xml><?xml version="1.0" encoding="utf-8"?>
<p:tagLst xmlns:p="http://schemas.openxmlformats.org/presentationml/2006/main">
  <p:tag name="KSO_WM_FULL_TEXT_BEAUTIFY_COPY_ID" val="2"/>
</p:tagLst>
</file>

<file path=ppt/tags/tag149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1"/>
</p:tagLst>
</file>

<file path=ppt/tags/tag150.xml><?xml version="1.0" encoding="utf-8"?>
<p:tagLst xmlns:p="http://schemas.openxmlformats.org/presentationml/2006/main">
  <p:tag name="KSO_WM_FULL_TEXT_BEAUTIFY_COPY_ID" val="5123"/>
</p:tagLst>
</file>

<file path=ppt/tags/tag151.xml><?xml version="1.0" encoding="utf-8"?>
<p:tagLst xmlns:p="http://schemas.openxmlformats.org/presentationml/2006/main">
  <p:tag name="KSO_WM_FULL_TEXT_BEAUTIFY_COPY_ID" val="5124"/>
</p:tagLst>
</file>

<file path=ppt/tags/tag152.xml><?xml version="1.0" encoding="utf-8"?>
<p:tagLst xmlns:p="http://schemas.openxmlformats.org/presentationml/2006/main">
  <p:tag name="KSO_WM_FULL_TEXT_BEAUTIFY_COPY_ID" val="5125"/>
</p:tagLst>
</file>

<file path=ppt/tags/tag153.xml><?xml version="1.0" encoding="utf-8"?>
<p:tagLst xmlns:p="http://schemas.openxmlformats.org/presentationml/2006/main">
  <p:tag name="KSO_WM_FULL_TEXT_BEAUTIFY_COPY_ID" val="7"/>
</p:tagLst>
</file>

<file path=ppt/tags/tag154.xml><?xml version="1.0" encoding="utf-8"?>
<p:tagLst xmlns:p="http://schemas.openxmlformats.org/presentationml/2006/main">
  <p:tag name="KSO_WM_FULL_TEXT_BEAUTIFY_COPY_ID" val="4"/>
</p:tagLst>
</file>

<file path=ppt/tags/tag155.xml><?xml version="1.0" encoding="utf-8"?>
<p:tagLst xmlns:p="http://schemas.openxmlformats.org/presentationml/2006/main">
  <p:tag name="KSO_WM_FULL_TEXT_BEAUTIFY_COPY_ID" val="5"/>
</p:tagLst>
</file>

<file path=ppt/tags/tag156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53"/>
</p:tagLst>
</file>

<file path=ppt/tags/tag157.xml><?xml version="1.0" encoding="utf-8"?>
<p:tagLst xmlns:p="http://schemas.openxmlformats.org/presentationml/2006/main">
  <p:tag name="KSO_WM_FULL_TEXT_BEAUTIFY_COPY_ID" val="3"/>
</p:tagLst>
</file>

<file path=ppt/tags/tag158.xml><?xml version="1.0" encoding="utf-8"?>
<p:tagLst xmlns:p="http://schemas.openxmlformats.org/presentationml/2006/main">
  <p:tag name="KSO_WM_FULL_TEXT_BEAUTIFY_COPY_ID" val="2"/>
</p:tagLst>
</file>

<file path=ppt/tags/tag159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5"/>
</p:tagLst>
</file>

<file path=ppt/tags/tag160.xml><?xml version="1.0" encoding="utf-8"?>
<p:tagLst xmlns:p="http://schemas.openxmlformats.org/presentationml/2006/main">
  <p:tag name="KSO_WM_FULL_TEXT_BEAUTIFY_COPY_ID" val="3"/>
</p:tagLst>
</file>

<file path=ppt/tags/tag161.xml><?xml version="1.0" encoding="utf-8"?>
<p:tagLst xmlns:p="http://schemas.openxmlformats.org/presentationml/2006/main">
  <p:tag name="KSO_WM_FULL_TEXT_BEAUTIFY_COPY_ID" val="2"/>
</p:tagLst>
</file>

<file path=ppt/tags/tag162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5"/>
</p:tagLst>
</file>

<file path=ppt/tags/tag163.xml><?xml version="1.0" encoding="utf-8"?>
<p:tagLst xmlns:p="http://schemas.openxmlformats.org/presentationml/2006/main">
  <p:tag name="KSO_WM_FULL_TEXT_BEAUTIFY_COPY_ID" val="5123"/>
</p:tagLst>
</file>

<file path=ppt/tags/tag164.xml><?xml version="1.0" encoding="utf-8"?>
<p:tagLst xmlns:p="http://schemas.openxmlformats.org/presentationml/2006/main">
  <p:tag name="KSO_WM_FULL_TEXT_BEAUTIFY_COPY_ID" val="5124"/>
</p:tagLst>
</file>

<file path=ppt/tags/tag165.xml><?xml version="1.0" encoding="utf-8"?>
<p:tagLst xmlns:p="http://schemas.openxmlformats.org/presentationml/2006/main">
  <p:tag name="KSO_WM_FULL_TEXT_BEAUTIFY_COPY_ID" val="5125"/>
</p:tagLst>
</file>

<file path=ppt/tags/tag166.xml><?xml version="1.0" encoding="utf-8"?>
<p:tagLst xmlns:p="http://schemas.openxmlformats.org/presentationml/2006/main">
  <p:tag name="KSO_WM_FULL_TEXT_BEAUTIFY_COPY_ID" val="4"/>
</p:tagLst>
</file>

<file path=ppt/tags/tag167.xml><?xml version="1.0" encoding="utf-8"?>
<p:tagLst xmlns:p="http://schemas.openxmlformats.org/presentationml/2006/main">
  <p:tag name="KSO_WM_FULL_TEXT_BEAUTIFY_COPY_ID" val="5"/>
</p:tagLst>
</file>

<file path=ppt/tags/tag168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52"/>
</p:tagLst>
</file>

<file path=ppt/tags/tag169.xml><?xml version="1.0" encoding="utf-8"?>
<p:tagLst xmlns:p="http://schemas.openxmlformats.org/presentationml/2006/main">
  <p:tag name="KSO_WM_FULL_TEXT_BEAUTIFY_COPY_ID" val="3"/>
</p:tagLst>
</file>

<file path=ppt/tags/tag170.xml><?xml version="1.0" encoding="utf-8"?>
<p:tagLst xmlns:p="http://schemas.openxmlformats.org/presentationml/2006/main">
  <p:tag name="KSO_WM_FULL_TEXT_BEAUTIFY_COPY_ID" val="2"/>
</p:tagLst>
</file>

<file path=ppt/tags/tag171.xml><?xml version="1.0" encoding="utf-8"?>
<p:tagLst xmlns:p="http://schemas.openxmlformats.org/presentationml/2006/main">
  <p:tag name="KSO_WM_FULL_TEXT_BEAUTIFY_COPY_ID" val="7"/>
</p:tagLst>
</file>

<file path=ppt/tags/tag172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2"/>
</p:tagLst>
</file>

<file path=ppt/tags/tag173.xml><?xml version="1.0" encoding="utf-8"?>
<p:tagLst xmlns:p="http://schemas.openxmlformats.org/presentationml/2006/main">
  <p:tag name="KSO_WM_FULL_TEXT_BEAUTIFY_COPY_ID" val="3"/>
</p:tagLst>
</file>

<file path=ppt/tags/tag174.xml><?xml version="1.0" encoding="utf-8"?>
<p:tagLst xmlns:p="http://schemas.openxmlformats.org/presentationml/2006/main">
  <p:tag name="KSO_WM_FULL_TEXT_BEAUTIFY_COPY_ID" val="2"/>
</p:tagLst>
</file>

<file path=ppt/tags/tag175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76.xml><?xml version="1.0" encoding="utf-8"?>
<p:tagLst xmlns:p="http://schemas.openxmlformats.org/presentationml/2006/main">
  <p:tag name="KSO_WM_FULL_TEXT_BEAUTIFY_COPY_ID" val="3"/>
</p:tagLst>
</file>

<file path=ppt/tags/tag177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78.xml><?xml version="1.0" encoding="utf-8"?>
<p:tagLst xmlns:p="http://schemas.openxmlformats.org/presentationml/2006/main">
  <p:tag name="KSO_WM_FULL_TEXT_BEAUTIFY_COPY_ID" val="3"/>
</p:tagLst>
</file>

<file path=ppt/tags/tag179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80.xml><?xml version="1.0" encoding="utf-8"?>
<p:tagLst xmlns:p="http://schemas.openxmlformats.org/presentationml/2006/main">
  <p:tag name="KSO_WM_FULL_TEXT_BEAUTIFY_COPY_ID" val="3"/>
</p:tagLst>
</file>

<file path=ppt/tags/tag181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82.xml><?xml version="1.0" encoding="utf-8"?>
<p:tagLst xmlns:p="http://schemas.openxmlformats.org/presentationml/2006/main">
  <p:tag name="KSO_WM_FULL_TEXT_BEAUTIFY_COPY_ID" val="3"/>
</p:tagLst>
</file>

<file path=ppt/tags/tag183.xml><?xml version="1.0" encoding="utf-8"?>
<p:tagLst xmlns:p="http://schemas.openxmlformats.org/presentationml/2006/main">
  <p:tag name="KSO_WM_FULL_TEXT_BEAUTIFY_COPY_ID" val="2"/>
</p:tagLst>
</file>

<file path=ppt/tags/tag184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85.xml><?xml version="1.0" encoding="utf-8"?>
<p:tagLst xmlns:p="http://schemas.openxmlformats.org/presentationml/2006/main">
  <p:tag name="KSO_WM_FULL_TEXT_BEAUTIFY_COPY_ID" val="3"/>
</p:tagLst>
</file>

<file path=ppt/tags/tag186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87.xml><?xml version="1.0" encoding="utf-8"?>
<p:tagLst xmlns:p="http://schemas.openxmlformats.org/presentationml/2006/main">
  <p:tag name="KSO_WM_FULL_TEXT_BEAUTIFY_COPY_ID" val="3"/>
</p:tagLst>
</file>

<file path=ppt/tags/tag188.xml><?xml version="1.0" encoding="utf-8"?>
<p:tagLst xmlns:p="http://schemas.openxmlformats.org/presentationml/2006/main">
  <p:tag name="KSO_WM_FULL_TEXT_BEAUTIFY_COPY_ID" val="7"/>
</p:tagLst>
</file>

<file path=ppt/tags/tag189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2"/>
</p:tagLst>
</file>

<file path=ppt/tags/tag190.xml><?xml version="1.0" encoding="utf-8"?>
<p:tagLst xmlns:p="http://schemas.openxmlformats.org/presentationml/2006/main">
  <p:tag name="KSO_WM_FULL_TEXT_BEAUTIFY_COPY_ID" val="3"/>
</p:tagLst>
</file>

<file path=ppt/tags/tag191.xml><?xml version="1.0" encoding="utf-8"?>
<p:tagLst xmlns:p="http://schemas.openxmlformats.org/presentationml/2006/main">
  <p:tag name="KSO_WM_FULL_TEXT_BEAUTIFY_COPY_ID" val="7"/>
</p:tagLst>
</file>

<file path=ppt/tags/tag192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2"/>
</p:tagLst>
</file>

<file path=ppt/tags/tag193.xml><?xml version="1.0" encoding="utf-8"?>
<p:tagLst xmlns:p="http://schemas.openxmlformats.org/presentationml/2006/main">
  <p:tag name="KSO_WM_FULL_TEXT_BEAUTIFY_COPY_ID" val="3"/>
</p:tagLst>
</file>

<file path=ppt/tags/tag194.xml><?xml version="1.0" encoding="utf-8"?>
<p:tagLst xmlns:p="http://schemas.openxmlformats.org/presentationml/2006/main">
  <p:tag name="KSO_WM_FULL_TEXT_BEAUTIFY_COPY_ID" val="2"/>
</p:tagLst>
</file>

<file path=ppt/tags/tag195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96.xml><?xml version="1.0" encoding="utf-8"?>
<p:tagLst xmlns:p="http://schemas.openxmlformats.org/presentationml/2006/main">
  <p:tag name="KSO_WM_FULL_TEXT_BEAUTIFY_COPY_ID" val="3"/>
</p:tagLst>
</file>

<file path=ppt/tags/tag197.xml><?xml version="1.0" encoding="utf-8"?>
<p:tagLst xmlns:p="http://schemas.openxmlformats.org/presentationml/2006/main">
  <p:tag name="KSO_WM_FULL_TEXT_BEAUTIFY_COPY_ID" val="2"/>
</p:tagLst>
</file>

<file path=ppt/tags/tag198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199.xml><?xml version="1.0" encoding="utf-8"?>
<p:tagLst xmlns:p="http://schemas.openxmlformats.org/presentationml/2006/main">
  <p:tag name="KSO_WM_FULL_TEXT_BEAUTIFY_COPY_ID" val="3"/>
</p:tagLst>
</file>

<file path=ppt/tags/tag200.xml><?xml version="1.0" encoding="utf-8"?>
<p:tagLst xmlns:p="http://schemas.openxmlformats.org/presentationml/2006/main">
  <p:tag name="KSO_WM_FULL_TEXT_BEAUTIFY_COPY_ID" val="2"/>
</p:tagLst>
</file>

<file path=ppt/tags/tag201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ags/tag202.xml><?xml version="1.0" encoding="utf-8"?>
<p:tagLst xmlns:p="http://schemas.openxmlformats.org/presentationml/2006/main">
  <p:tag name="KSO_WM_FULL_TEXT_BEAUTIFY_COPY_ID" val="3"/>
</p:tagLst>
</file>

<file path=ppt/tags/tag203.xml><?xml version="1.0" encoding="utf-8"?>
<p:tagLst xmlns:p="http://schemas.openxmlformats.org/presentationml/2006/main">
  <p:tag name="KSO_WM_TEMPLATE_CATEGORY" val="custom"/>
  <p:tag name="KSO_WM_TEMPLATE_INDEX" val="20204478"/>
  <p:tag name="KSO_WM_FULL_TEXT_BEAUTIFY_COPY_ID" val="150995243"/>
</p:tagLst>
</file>

<file path=ppt/theme/theme1.xml><?xml version="1.0" encoding="utf-8"?>
<a:theme xmlns:a="http://schemas.openxmlformats.org/drawingml/2006/main" name="2_Office 主题​​">
  <a:themeElements>
    <a:clrScheme name="自定义 199">
      <a:dk1>
        <a:srgbClr val="000000"/>
      </a:dk1>
      <a:lt1>
        <a:srgbClr val="FFFFFF"/>
      </a:lt1>
      <a:dk2>
        <a:srgbClr val="EEF6FC"/>
      </a:dk2>
      <a:lt2>
        <a:srgbClr val="FCFCFD"/>
      </a:lt2>
      <a:accent1>
        <a:srgbClr val="6F86A0"/>
      </a:accent1>
      <a:accent2>
        <a:srgbClr val="2F9BC1"/>
      </a:accent2>
      <a:accent3>
        <a:srgbClr val="20ADB0"/>
      </a:accent3>
      <a:accent4>
        <a:srgbClr val="35A550"/>
      </a:accent4>
      <a:accent5>
        <a:srgbClr val="7A9F3F"/>
      </a:accent5>
      <a:accent6>
        <a:srgbClr val="E5CA2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演示</Application>
  <PresentationFormat>全屏显示(4:3)</PresentationFormat>
  <Paragraphs>167</Paragraphs>
  <Slides>20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汉仪旗黑-85S</vt:lpstr>
      <vt:lpstr>黑体</vt:lpstr>
      <vt:lpstr>Arial Bold</vt:lpstr>
      <vt:lpstr>Arial Unicode MS</vt:lpstr>
      <vt:lpstr>等线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智能指针</dc:title>
  <dc:creator>lenovo</dc:creator>
  <cp:lastModifiedBy>Rock</cp:lastModifiedBy>
  <cp:revision>943</cp:revision>
  <dcterms:created xsi:type="dcterms:W3CDTF">2021-08-14T11:01:00Z</dcterms:created>
  <dcterms:modified xsi:type="dcterms:W3CDTF">2021-10-27T00:07:49Z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