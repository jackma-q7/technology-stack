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75" r:id="rId3"/>
    <p:sldId id="276" r:id="rId4"/>
    <p:sldId id="257" r:id="rId6"/>
    <p:sldId id="296" r:id="rId7"/>
    <p:sldId id="277" r:id="rId8"/>
    <p:sldId id="278" r:id="rId9"/>
    <p:sldId id="298" r:id="rId10"/>
    <p:sldId id="299" r:id="rId11"/>
    <p:sldId id="302" r:id="rId12"/>
    <p:sldId id="303" r:id="rId13"/>
    <p:sldId id="305" r:id="rId14"/>
    <p:sldId id="304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impleSmart" initials="S" lastIdx="1" clrIdx="0"/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468" autoAdjust="0"/>
    <p:restoredTop sz="94660"/>
  </p:normalViewPr>
  <p:slideViewPr>
    <p:cSldViewPr>
      <p:cViewPr varScale="1">
        <p:scale>
          <a:sx n="110" d="100"/>
          <a:sy n="110" d="100"/>
        </p:scale>
        <p:origin x="1968" y="78"/>
      </p:cViewPr>
      <p:guideLst>
        <p:guide orient="horz" pos="2293"/>
        <p:guide pos="278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54DF8C-4C82-4E1D-ACFB-E2E2D3E135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7A4FEF-681B-40E5-A232-6D056FB2C7A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8F03C3-53C1-4F10-8DAF-D1F318E96C6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6.xml"/><Relationship Id="rId8" Type="http://schemas.openxmlformats.org/officeDocument/2006/relationships/tags" Target="../tags/tag5.xml"/><Relationship Id="rId7" Type="http://schemas.openxmlformats.org/officeDocument/2006/relationships/tags" Target="../tags/tag4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.xml"/><Relationship Id="rId12" Type="http://schemas.openxmlformats.org/officeDocument/2006/relationships/tags" Target="../tags/tag13.xml"/><Relationship Id="rId11" Type="http://schemas.openxmlformats.org/officeDocument/2006/relationships/tags" Target="../tags/tag12.xml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image" Target="file:///C:\Users\1V994W2\PycharmProjects\PPT_Background_Generation/pic_temp/pic_half_top.png" TargetMode="External"/><Relationship Id="rId3" Type="http://schemas.openxmlformats.org/officeDocument/2006/relationships/image" Target="../media/image4.png"/><Relationship Id="rId2" Type="http://schemas.openxmlformats.org/officeDocument/2006/relationships/tags" Target="../tags/tag1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0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19.xml"/><Relationship Id="rId13" Type="http://schemas.openxmlformats.org/officeDocument/2006/relationships/tags" Target="../tags/tag26.xml"/><Relationship Id="rId12" Type="http://schemas.openxmlformats.org/officeDocument/2006/relationships/tags" Target="../tags/tag25.xml"/><Relationship Id="rId11" Type="http://schemas.openxmlformats.org/officeDocument/2006/relationships/tags" Target="../tags/tag24.xml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30.xml"/><Relationship Id="rId8" Type="http://schemas.openxmlformats.org/officeDocument/2006/relationships/tags" Target="../tags/tag29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28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27.xml"/><Relationship Id="rId15" Type="http://schemas.openxmlformats.org/officeDocument/2006/relationships/tags" Target="../tags/tag36.xml"/><Relationship Id="rId14" Type="http://schemas.openxmlformats.org/officeDocument/2006/relationships/tags" Target="../tags/tag35.xml"/><Relationship Id="rId13" Type="http://schemas.openxmlformats.org/officeDocument/2006/relationships/tags" Target="../tags/tag34.xml"/><Relationship Id="rId12" Type="http://schemas.openxmlformats.org/officeDocument/2006/relationships/tags" Target="../tags/tag33.xml"/><Relationship Id="rId11" Type="http://schemas.openxmlformats.org/officeDocument/2006/relationships/tags" Target="../tags/tag32.xml"/><Relationship Id="rId10" Type="http://schemas.openxmlformats.org/officeDocument/2006/relationships/tags" Target="../tags/tag31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2.xml"/><Relationship Id="rId8" Type="http://schemas.openxmlformats.org/officeDocument/2006/relationships/tags" Target="../tags/tag41.xml"/><Relationship Id="rId7" Type="http://schemas.openxmlformats.org/officeDocument/2006/relationships/tags" Target="../tags/tag40.xml"/><Relationship Id="rId6" Type="http://schemas.openxmlformats.org/officeDocument/2006/relationships/tags" Target="../tags/tag39.xml"/><Relationship Id="rId5" Type="http://schemas.openxmlformats.org/officeDocument/2006/relationships/tags" Target="../tags/tag38.xml"/><Relationship Id="rId4" Type="http://schemas.openxmlformats.org/officeDocument/2006/relationships/image" Target="file:///C:\Users\1V994W2\Documents\Tencent%20Files\574576071\FileRecv\&#25340;&#35013;&#32032;&#26448;\formiddle1\\15\subject_holdleft_111,134,161_0_staid_full_0.png" TargetMode="External"/><Relationship Id="rId3" Type="http://schemas.openxmlformats.org/officeDocument/2006/relationships/image" Target="../media/image5.png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9" Type="http://schemas.openxmlformats.org/officeDocument/2006/relationships/tags" Target="../tags/tag49.xml"/><Relationship Id="rId8" Type="http://schemas.openxmlformats.org/officeDocument/2006/relationships/tags" Target="../tags/tag48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47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46.xml"/><Relationship Id="rId13" Type="http://schemas.openxmlformats.org/officeDocument/2006/relationships/tags" Target="../tags/tag53.xml"/><Relationship Id="rId12" Type="http://schemas.openxmlformats.org/officeDocument/2006/relationships/tags" Target="../tags/tag52.xml"/><Relationship Id="rId11" Type="http://schemas.openxmlformats.org/officeDocument/2006/relationships/tags" Target="../tags/tag51.xml"/><Relationship Id="rId10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5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54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9" Type="http://schemas.openxmlformats.org/officeDocument/2006/relationships/tags" Target="../tags/tag64.xml"/><Relationship Id="rId8" Type="http://schemas.openxmlformats.org/officeDocument/2006/relationships/tags" Target="../tags/tag63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62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61.xml"/><Relationship Id="rId11" Type="http://schemas.openxmlformats.org/officeDocument/2006/relationships/tags" Target="../tags/tag66.xml"/><Relationship Id="rId10" Type="http://schemas.openxmlformats.org/officeDocument/2006/relationships/tags" Target="../tags/tag65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72.xml"/><Relationship Id="rId8" Type="http://schemas.openxmlformats.org/officeDocument/2006/relationships/tags" Target="../tags/tag71.xml"/><Relationship Id="rId7" Type="http://schemas.openxmlformats.org/officeDocument/2006/relationships/tags" Target="../tags/tag70.xml"/><Relationship Id="rId6" Type="http://schemas.openxmlformats.org/officeDocument/2006/relationships/tags" Target="../tags/tag69.xml"/><Relationship Id="rId5" Type="http://schemas.openxmlformats.org/officeDocument/2006/relationships/tags" Target="../tags/tag68.xml"/><Relationship Id="rId4" Type="http://schemas.openxmlformats.org/officeDocument/2006/relationships/image" Target="file:///C:\Users\1V994W2\PycharmProjects\PPT_Background_Generation/pic_temp/pic_sup.png" TargetMode="External"/><Relationship Id="rId3" Type="http://schemas.openxmlformats.org/officeDocument/2006/relationships/image" Target="../media/image1.png"/><Relationship Id="rId2" Type="http://schemas.openxmlformats.org/officeDocument/2006/relationships/tags" Target="../tags/tag67.xml"/><Relationship Id="rId10" Type="http://schemas.openxmlformats.org/officeDocument/2006/relationships/tags" Target="../tags/tag73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77.xml"/><Relationship Id="rId8" Type="http://schemas.openxmlformats.org/officeDocument/2006/relationships/tags" Target="../tags/tag76.xml"/><Relationship Id="rId7" Type="http://schemas.openxmlformats.org/officeDocument/2006/relationships/image" Target="file:///C:\Users\1V994W2\PycharmProjects\PPT_Background_Generation/pic_temp/1_pic_quater_right_up.png" TargetMode="External"/><Relationship Id="rId6" Type="http://schemas.openxmlformats.org/officeDocument/2006/relationships/image" Target="../media/image3.png"/><Relationship Id="rId5" Type="http://schemas.openxmlformats.org/officeDocument/2006/relationships/tags" Target="../tags/tag75.xml"/><Relationship Id="rId4" Type="http://schemas.openxmlformats.org/officeDocument/2006/relationships/image" Target="file:///C:\Users\1V994W2\PycharmProjects\PPT_Background_Generation/pic_temp/0_pic_quater_left_up.png" TargetMode="External"/><Relationship Id="rId3" Type="http://schemas.openxmlformats.org/officeDocument/2006/relationships/image" Target="../media/image2.png"/><Relationship Id="rId2" Type="http://schemas.openxmlformats.org/officeDocument/2006/relationships/tags" Target="../tags/tag74.xml"/><Relationship Id="rId11" Type="http://schemas.openxmlformats.org/officeDocument/2006/relationships/tags" Target="../tags/tag79.xml"/><Relationship Id="rId10" Type="http://schemas.openxmlformats.org/officeDocument/2006/relationships/tags" Target="../tags/tag78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82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3" Type="http://schemas.openxmlformats.org/officeDocument/2006/relationships/tags" Target="../tags/tag87.xml"/><Relationship Id="rId12" Type="http://schemas.openxmlformats.org/officeDocument/2006/relationships/tags" Target="../tags/tag8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89.xml"/><Relationship Id="rId2" Type="http://schemas.openxmlformats.org/officeDocument/2006/relationships/tags" Target="../tags/tag88.xml"/><Relationship Id="rId11" Type="http://schemas.openxmlformats.org/officeDocument/2006/relationships/tags" Target="../tags/tag95.xml"/><Relationship Id="rId10" Type="http://schemas.openxmlformats.org/officeDocument/2006/relationships/tags" Target="../tags/tag9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99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98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97.xml"/><Relationship Id="rId2" Type="http://schemas.openxmlformats.org/officeDocument/2006/relationships/tags" Target="../tags/tag96.xml"/><Relationship Id="rId14" Type="http://schemas.openxmlformats.org/officeDocument/2006/relationships/tags" Target="../tags/tag104.xml"/><Relationship Id="rId13" Type="http://schemas.openxmlformats.org/officeDocument/2006/relationships/tags" Target="../tags/tag103.xml"/><Relationship Id="rId12" Type="http://schemas.openxmlformats.org/officeDocument/2006/relationships/tags" Target="../tags/tag102.xml"/><Relationship Id="rId11" Type="http://schemas.openxmlformats.org/officeDocument/2006/relationships/tags" Target="../tags/tag101.xml"/><Relationship Id="rId10" Type="http://schemas.openxmlformats.org/officeDocument/2006/relationships/tags" Target="../tags/tag100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0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0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06.xml"/><Relationship Id="rId2" Type="http://schemas.openxmlformats.org/officeDocument/2006/relationships/tags" Target="../tags/tag105.xml"/><Relationship Id="rId14" Type="http://schemas.openxmlformats.org/officeDocument/2006/relationships/tags" Target="../tags/tag113.xml"/><Relationship Id="rId13" Type="http://schemas.openxmlformats.org/officeDocument/2006/relationships/tags" Target="../tags/tag112.xml"/><Relationship Id="rId12" Type="http://schemas.openxmlformats.org/officeDocument/2006/relationships/tags" Target="../tags/tag111.xml"/><Relationship Id="rId11" Type="http://schemas.openxmlformats.org/officeDocument/2006/relationships/tags" Target="../tags/tag110.xml"/><Relationship Id="rId10" Type="http://schemas.openxmlformats.org/officeDocument/2006/relationships/tags" Target="../tags/tag109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17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16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15.xml"/><Relationship Id="rId2" Type="http://schemas.openxmlformats.org/officeDocument/2006/relationships/tags" Target="../tags/tag114.xml"/><Relationship Id="rId16" Type="http://schemas.openxmlformats.org/officeDocument/2006/relationships/tags" Target="../tags/tag124.xml"/><Relationship Id="rId15" Type="http://schemas.openxmlformats.org/officeDocument/2006/relationships/tags" Target="../tags/tag123.xml"/><Relationship Id="rId14" Type="http://schemas.openxmlformats.org/officeDocument/2006/relationships/tags" Target="../tags/tag122.xml"/><Relationship Id="rId13" Type="http://schemas.openxmlformats.org/officeDocument/2006/relationships/tags" Target="../tags/tag121.xml"/><Relationship Id="rId12" Type="http://schemas.openxmlformats.org/officeDocument/2006/relationships/tags" Target="../tags/tag120.xml"/><Relationship Id="rId11" Type="http://schemas.openxmlformats.org/officeDocument/2006/relationships/tags" Target="../tags/tag119.xml"/><Relationship Id="rId10" Type="http://schemas.openxmlformats.org/officeDocument/2006/relationships/tags" Target="../tags/tag118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28.xml"/><Relationship Id="rId8" Type="http://schemas.openxmlformats.org/officeDocument/2006/relationships/image" Target="file:///C:\Users\1V994W2\PycharmProjects\PPT_Background_Generation/pic_temp/1_pic_quater_right_up.png" TargetMode="External"/><Relationship Id="rId7" Type="http://schemas.openxmlformats.org/officeDocument/2006/relationships/image" Target="../media/image3.png"/><Relationship Id="rId6" Type="http://schemas.openxmlformats.org/officeDocument/2006/relationships/tags" Target="../tags/tag127.xml"/><Relationship Id="rId5" Type="http://schemas.openxmlformats.org/officeDocument/2006/relationships/image" Target="file:///C:\Users\1V994W2\PycharmProjects\PPT_Background_Generation/pic_temp/0_pic_quater_left_up.png" TargetMode="External"/><Relationship Id="rId4" Type="http://schemas.openxmlformats.org/officeDocument/2006/relationships/image" Target="../media/image2.png"/><Relationship Id="rId3" Type="http://schemas.openxmlformats.org/officeDocument/2006/relationships/tags" Target="../tags/tag126.xml"/><Relationship Id="rId2" Type="http://schemas.openxmlformats.org/officeDocument/2006/relationships/tags" Target="../tags/tag125.xml"/><Relationship Id="rId13" Type="http://schemas.openxmlformats.org/officeDocument/2006/relationships/tags" Target="../tags/tag132.xml"/><Relationship Id="rId12" Type="http://schemas.openxmlformats.org/officeDocument/2006/relationships/tags" Target="../tags/tag131.xml"/><Relationship Id="rId11" Type="http://schemas.openxmlformats.org/officeDocument/2006/relationships/tags" Target="../tags/tag130.xml"/><Relationship Id="rId10" Type="http://schemas.openxmlformats.org/officeDocument/2006/relationships/tags" Target="../tags/tag12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" name="标题 2"/>
          <p:cNvSpPr>
            <a:spLocks noGrp="1"/>
          </p:cNvSpPr>
          <p:nvPr>
            <p:ph type="ctrTitle" idx="14" hasCustomPrompt="1"/>
            <p:custDataLst>
              <p:tags r:id="rId8"/>
            </p:custDataLst>
          </p:nvPr>
        </p:nvSpPr>
        <p:spPr>
          <a:xfrm>
            <a:off x="2376729" y="2653386"/>
            <a:ext cx="4762500" cy="1330960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7200"/>
              <a:buFont typeface="Arial" panose="020B0604020202020204" pitchFamily="34" charset="0"/>
              <a:buNone/>
              <a:defRPr sz="5400" b="0" spc="-2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  <p:sp>
        <p:nvSpPr>
          <p:cNvPr id="2" name="副标题 1"/>
          <p:cNvSpPr>
            <a:spLocks noGrp="1"/>
          </p:cNvSpPr>
          <p:nvPr>
            <p:ph type="subTitle" idx="13" hasCustomPrompt="1"/>
            <p:custDataLst>
              <p:tags r:id="rId9"/>
            </p:custDataLst>
          </p:nvPr>
        </p:nvSpPr>
        <p:spPr>
          <a:xfrm>
            <a:off x="2376729" y="4227376"/>
            <a:ext cx="4762500" cy="764868"/>
          </a:xfrm>
        </p:spPr>
        <p:txBody>
          <a:bodyPr vert="horz" wrap="square" lIns="0" tIns="0" rIns="0" bIns="0" anchor="t" anchorCtr="0">
            <a:normAutofit/>
          </a:bodyPr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8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 algn="ctr">
              <a:buNone/>
            </a:lvl2pPr>
            <a:lvl3pPr marL="685800" indent="0" algn="ctr">
              <a:buNone/>
            </a:lvl3pPr>
            <a:lvl4pPr marL="1028700" indent="0" algn="ctr">
              <a:buNone/>
            </a:lvl4pPr>
            <a:lvl5pPr marL="1371600" indent="0" algn="ctr">
              <a:buNone/>
            </a:lvl5pPr>
            <a:lvl6pPr marL="1714500" indent="0" algn="ctr">
              <a:buNone/>
            </a:lvl6pPr>
            <a:lvl7pPr marL="2057400" indent="0" algn="ctr">
              <a:buNone/>
            </a:lvl7pPr>
            <a:lvl8pPr marL="2400300" indent="0" algn="ctr">
              <a:buNone/>
            </a:lvl8pPr>
            <a:lvl9pPr marL="2743200" indent="0" algn="ctr">
              <a:buNone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9"/>
            </p:custDataLst>
          </p:nvPr>
        </p:nvSpPr>
        <p:spPr>
          <a:xfrm>
            <a:off x="502412" y="952508"/>
            <a:ext cx="8139178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5716016"/>
            <a:ext cx="3048000" cy="1141984"/>
          </a:xfrm>
          <a:prstGeom prst="rect">
            <a:avLst/>
          </a:prstGeom>
        </p:spPr>
      </p:pic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2350495" y="3429000"/>
            <a:ext cx="4443011" cy="918537"/>
          </a:xfrm>
        </p:spPr>
        <p:txBody>
          <a:bodyPr>
            <a:normAutofit/>
          </a:bodyPr>
          <a:lstStyle>
            <a:lvl1pPr algn="ctr">
              <a:defRPr sz="27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9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4679158" y="952508"/>
            <a:ext cx="3962432" cy="5388907"/>
          </a:xfrm>
        </p:spPr>
        <p:txBody>
          <a:bodyPr wrap="square" lIns="90170" tIns="46990" rIns="90170" bIns="46990">
            <a:normAutofit/>
          </a:bodyPr>
          <a:lstStyle>
            <a:lvl1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eaLnBrk="1" fontAlgn="auto" latinLnBrk="0" hangingPunct="1">
              <a:defRPr sz="120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图片 10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9"/>
            </p:custDataLst>
          </p:nvPr>
        </p:nvSpPr>
        <p:spPr>
          <a:xfrm>
            <a:off x="502448" y="952508"/>
            <a:ext cx="3962432" cy="381003"/>
          </a:xfrm>
        </p:spPr>
        <p:txBody>
          <a:bodyPr wrap="square" lIns="90170" tIns="46990" rIns="90170" bIns="46990" anchor="ctr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1500" b="0" u="none" strike="noStrike" kern="1200" cap="none" spc="200" normalizeH="0" baseline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10"/>
            </p:custDataLst>
          </p:nvPr>
        </p:nvSpPr>
        <p:spPr>
          <a:xfrm>
            <a:off x="502444" y="1406525"/>
            <a:ext cx="3962400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11"/>
            </p:custDataLst>
          </p:nvPr>
        </p:nvSpPr>
        <p:spPr>
          <a:xfrm>
            <a:off x="4676813" y="952508"/>
            <a:ext cx="3962432" cy="381003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1500" b="0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12"/>
            </p:custDataLst>
          </p:nvPr>
        </p:nvSpPr>
        <p:spPr>
          <a:xfrm>
            <a:off x="4676813" y="1406525"/>
            <a:ext cx="3962432" cy="4934752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13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14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15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3560" y="2194560"/>
            <a:ext cx="3291840" cy="2468880"/>
          </a:xfrm>
          <a:prstGeom prst="rect">
            <a:avLst/>
          </a:prstGeom>
        </p:spPr>
      </p:pic>
      <p:sp>
        <p:nvSpPr>
          <p:cNvPr id="6" name="任意多边形 6"/>
          <p:cNvSpPr/>
          <p:nvPr>
            <p:custDataLst>
              <p:tags r:id="rId5"/>
            </p:custDataLst>
          </p:nvPr>
        </p:nvSpPr>
        <p:spPr>
          <a:xfrm flipH="1">
            <a:off x="0" y="0"/>
            <a:ext cx="5484971" cy="6858000"/>
          </a:xfrm>
          <a:custGeom>
            <a:avLst/>
            <a:gdLst>
              <a:gd name="connsiteX0" fmla="*/ 1714500 w 7314000"/>
              <a:gd name="connsiteY0" fmla="*/ 0 h 6858000"/>
              <a:gd name="connsiteX1" fmla="*/ 7314000 w 7314000"/>
              <a:gd name="connsiteY1" fmla="*/ 0 h 6858000"/>
              <a:gd name="connsiteX2" fmla="*/ 7314000 w 7314000"/>
              <a:gd name="connsiteY2" fmla="*/ 6858000 h 6858000"/>
              <a:gd name="connsiteX3" fmla="*/ 0 w 7314000"/>
              <a:gd name="connsiteY3" fmla="*/ 6858000 h 6858000"/>
              <a:gd name="connsiteX4" fmla="*/ 1714500 w 7314000"/>
              <a:gd name="connsiteY4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314000" h="6858000">
                <a:moveTo>
                  <a:pt x="1714500" y="0"/>
                </a:moveTo>
                <a:lnTo>
                  <a:pt x="7314000" y="0"/>
                </a:lnTo>
                <a:lnTo>
                  <a:pt x="7314000" y="6858000"/>
                </a:lnTo>
                <a:lnTo>
                  <a:pt x="0" y="6858000"/>
                </a:lnTo>
                <a:lnTo>
                  <a:pt x="1714500" y="0"/>
                </a:lnTo>
                <a:close/>
              </a:path>
            </a:pathLst>
          </a:cu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>
            <a:defPPr>
              <a:defRPr lang="zh-CN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1350"/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502412" y="443230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48" y="443234"/>
            <a:ext cx="8139178" cy="441964"/>
          </a:xfrm>
        </p:spPr>
        <p:txBody>
          <a:bodyPr vert="horz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9"/>
            </p:custDataLst>
          </p:nvPr>
        </p:nvSpPr>
        <p:spPr>
          <a:xfrm>
            <a:off x="502448" y="952508"/>
            <a:ext cx="3962432" cy="5388907"/>
          </a:xfrm>
        </p:spPr>
        <p:txBody>
          <a:bodyPr vert="horz" lIns="90170" tIns="46990" rIns="90170" bIns="4699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514350" marR="0" lvl="1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857250" marR="0" lvl="2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200150" marR="0" lvl="3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1543050" marR="0" lvl="4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10"/>
            </p:custDataLst>
          </p:nvPr>
        </p:nvSpPr>
        <p:spPr>
          <a:xfrm>
            <a:off x="4679194" y="952508"/>
            <a:ext cx="3962432" cy="5388907"/>
          </a:xfrm>
        </p:spPr>
        <p:txBody>
          <a:bodyPr vert="horz" wrap="square" lIns="90170" tIns="46990" rIns="90170" bIns="46990" rtlCol="0">
            <a:normAutofit/>
          </a:bodyPr>
          <a:lstStyle>
            <a:lvl1pPr marL="171450" marR="0" lvl="0" indent="-1714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20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7" name="图片 6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8"/>
            </p:custDataLst>
          </p:nvPr>
        </p:nvSpPr>
        <p:spPr>
          <a:xfrm>
            <a:off x="7928351" y="952508"/>
            <a:ext cx="713238" cy="5388907"/>
          </a:xfrm>
        </p:spPr>
        <p:txBody>
          <a:bodyPr vert="eaVert" wrap="square" lIns="90170" tIns="46990" rIns="90170" bIns="4699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1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9"/>
            </p:custDataLst>
          </p:nvPr>
        </p:nvSpPr>
        <p:spPr>
          <a:xfrm>
            <a:off x="502444" y="952500"/>
            <a:ext cx="7371076" cy="5388907"/>
          </a:xfrm>
        </p:spPr>
        <p:txBody>
          <a:bodyPr vert="eaVert" wrap="square">
            <a:normAutofit/>
          </a:bodyPr>
          <a:lstStyle>
            <a:lvl1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1"/>
            </p:custDataLst>
          </p:nvPr>
        </p:nvSpPr>
        <p:spPr>
          <a:xfrm>
            <a:off x="502448" y="952508"/>
            <a:ext cx="8139178" cy="5388907"/>
          </a:xfrm>
        </p:spPr>
        <p:txBody>
          <a:bodyPr wrap="squar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/>
          <p:nvPr>
            <p:custDataLst>
              <p:tags r:id="rId2"/>
            </p:custDataLst>
          </p:nvPr>
        </p:nvPicPr>
        <p:blipFill>
          <a:blip r:embed="rId3" r:link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/>
          <p:cNvCxnSpPr/>
          <p:nvPr>
            <p:custDataLst>
              <p:tags r:id="rId8"/>
            </p:custDataLst>
          </p:nvPr>
        </p:nvCxnSpPr>
        <p:spPr>
          <a:xfrm>
            <a:off x="2516981" y="3913822"/>
            <a:ext cx="4110038" cy="0"/>
          </a:xfrm>
          <a:prstGeom prst="line">
            <a:avLst/>
          </a:prstGeom>
          <a:ln>
            <a:solidFill>
              <a:schemeClr val="tx1">
                <a:lumMod val="75000"/>
                <a:lumOff val="25000"/>
              </a:schemeClr>
            </a:solidFill>
            <a:headEnd type="oval"/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文本占位符 6"/>
          <p:cNvSpPr>
            <a:spLocks noGrp="1"/>
          </p:cNvSpPr>
          <p:nvPr>
            <p:ph type="body" idx="14" hasCustomPrompt="1"/>
            <p:custDataLst>
              <p:tags r:id="rId9"/>
            </p:custDataLst>
          </p:nvPr>
        </p:nvSpPr>
        <p:spPr>
          <a:xfrm>
            <a:off x="2560320" y="4117022"/>
            <a:ext cx="4023836" cy="764943"/>
          </a:xfrm>
        </p:spPr>
        <p:txBody>
          <a:bodyPr vert="horz" wrap="square" lIns="0" tIns="0" rIns="0" bIns="0" anchor="t" anchorCtr="0">
            <a:normAutofit/>
          </a:bodyPr>
          <a:lstStyle>
            <a:lvl1pPr marL="342900" marR="0" indent="-342900" algn="ctr" rtl="0" eaLnBrk="1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ts val="2000"/>
              <a:buFont typeface="Arial" panose="020B0604020202020204" pitchFamily="34" charset="0"/>
              <a:buNone/>
              <a:defRPr sz="1800" b="0" spc="200">
                <a:solidFill>
                  <a:schemeClr val="bg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1">
                  <a:lumMod val="65000"/>
                  <a:lumOff val="35000"/>
                </a:schemeClr>
              </a:buClr>
              <a:buSzPts val="2000"/>
              <a:buFont typeface="Arial" panose="020B0604020202020204" pitchFamily="34" charset="0"/>
              <a:buNone/>
            </a:pPr>
            <a:r>
              <a:rPr lang="zh-CN" altLang="en-US"/>
              <a:t>单击此处编辑副标题</a:t>
            </a:r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idx="13" hasCustomPrompt="1"/>
            <p:custDataLst>
              <p:tags r:id="rId10"/>
            </p:custDataLst>
          </p:nvPr>
        </p:nvSpPr>
        <p:spPr>
          <a:xfrm>
            <a:off x="2559844" y="2379663"/>
            <a:ext cx="4024313" cy="1398905"/>
          </a:xfrm>
        </p:spPr>
        <p:txBody>
          <a:bodyPr vert="horz" wrap="square" lIns="0" tIns="0" rIns="0" bIns="0" anchor="ctr" anchorCtr="0">
            <a:normAutofit/>
          </a:bodyPr>
          <a:lstStyle>
            <a:lvl1pPr marL="0" marR="0" indent="0" algn="dist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Pts val="8000"/>
              <a:buNone/>
              <a:defRPr sz="6000" b="0" spc="1000">
                <a:solidFill>
                  <a:schemeClr val="bg1"/>
                </a:solidFill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/>
              <a:t>编辑标题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/>
          <p:nvPr>
            <p:custDataLst>
              <p:tags r:id="rId2"/>
            </p:custDataLst>
          </p:nvPr>
        </p:nvPicPr>
        <p:blipFill>
          <a:blip r:embed="rId3" r:link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6" name="图片 5"/>
          <p:cNvPicPr/>
          <p:nvPr>
            <p:custDataLst>
              <p:tags r:id="rId5"/>
            </p:custDataLst>
          </p:nvPr>
        </p:nvPicPr>
        <p:blipFill>
          <a:blip r:embed="rId6" r:link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8"/>
            </p:custDataLst>
          </p:nvPr>
        </p:nvSpPr>
        <p:spPr>
          <a:xfrm>
            <a:off x="502412" y="443230"/>
            <a:ext cx="8139178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219056" y="303809"/>
            <a:ext cx="8705888" cy="6250382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961200" y="1249200"/>
            <a:ext cx="7219800" cy="723600"/>
          </a:xfrm>
        </p:spPr>
        <p:txBody>
          <a:bodyPr wrap="square" anchor="ctr">
            <a:normAutofit/>
          </a:bodyPr>
          <a:lstStyle>
            <a:lvl1pPr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960835" y="2163600"/>
            <a:ext cx="7219950" cy="3445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0"/>
            <a:ext cx="3618452" cy="68580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8" name="图片 7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437400" y="770400"/>
            <a:ext cx="2970000" cy="882000"/>
          </a:xfrm>
        </p:spPr>
        <p:txBody>
          <a:bodyPr wrap="square" anchor="ctr" anchorCtr="0">
            <a:normAutofit/>
          </a:bodyPr>
          <a:lstStyle>
            <a:lvl1pPr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440100" y="1764000"/>
            <a:ext cx="2967300" cy="4093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3825900" y="769938"/>
            <a:ext cx="4860000" cy="5087937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2664333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0" name="图片 9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9000" y="781200"/>
            <a:ext cx="8232300" cy="626400"/>
          </a:xfrm>
        </p:spPr>
        <p:txBody>
          <a:bodyPr wrap="square" anchor="ctr">
            <a:normAutofit/>
          </a:bodyPr>
          <a:lstStyle>
            <a:lvl1pPr algn="ctr">
              <a:defRPr sz="27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459000" y="1659600"/>
            <a:ext cx="8231981" cy="828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459581" y="2808000"/>
            <a:ext cx="8224200" cy="34308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>
            <p:custDataLst>
              <p:tags r:id="rId2"/>
            </p:custDataLst>
          </p:nvPr>
        </p:nvSpPr>
        <p:spPr>
          <a:xfrm>
            <a:off x="0" y="5028971"/>
            <a:ext cx="9144000" cy="1829029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0" name="图片 9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540068" cy="514350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53600" y="669600"/>
            <a:ext cx="8232300" cy="565200"/>
          </a:xfrm>
        </p:spPr>
        <p:txBody>
          <a:bodyPr wrap="square" anchor="ctr" anchorCtr="0">
            <a:normAutofit/>
          </a:bodyPr>
          <a:lstStyle>
            <a:lvl1pPr algn="ctr">
              <a:defRPr sz="24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53628" y="1681200"/>
            <a:ext cx="8243100" cy="321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4"/>
            </p:custDataLst>
          </p:nvPr>
        </p:nvSpPr>
        <p:spPr>
          <a:xfrm>
            <a:off x="445500" y="5180400"/>
            <a:ext cx="8251200" cy="10116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>
            <p:custDataLst>
              <p:tags r:id="rId2"/>
            </p:custDataLst>
          </p:nvPr>
        </p:nvSpPr>
        <p:spPr>
          <a:xfrm>
            <a:off x="0" y="0"/>
            <a:ext cx="9144000" cy="914400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12" name="图片 11"/>
          <p:cNvPicPr/>
          <p:nvPr>
            <p:custDataLst>
              <p:tags r:id="rId3"/>
            </p:custDataLst>
          </p:nvPr>
        </p:nvPicPr>
        <p:blipFill>
          <a:blip r:embed="rId4" r:link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3933" y="6343650"/>
            <a:ext cx="540068" cy="514350"/>
          </a:xfrm>
          <a:prstGeom prst="rect">
            <a:avLst/>
          </a:prstGeom>
        </p:spPr>
      </p:pic>
      <p:pic>
        <p:nvPicPr>
          <p:cNvPr id="10" name="图片 9"/>
          <p:cNvPicPr/>
          <p:nvPr>
            <p:custDataLst>
              <p:tags r:id="rId6"/>
            </p:custDataLst>
          </p:nvPr>
        </p:nvPicPr>
        <p:blipFill>
          <a:blip r:embed="rId7" r:link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6343650"/>
            <a:ext cx="540068" cy="514350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>
          <a:xfrm>
            <a:off x="434700" y="237600"/>
            <a:ext cx="8278200" cy="441964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3"/>
            </p:custDataLst>
          </p:nvPr>
        </p:nvSpPr>
        <p:spPr>
          <a:xfrm>
            <a:off x="434700" y="1663200"/>
            <a:ext cx="40068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4"/>
            </p:custDataLst>
          </p:nvPr>
        </p:nvSpPr>
        <p:spPr>
          <a:xfrm>
            <a:off x="4681800" y="1663200"/>
            <a:ext cx="4025700" cy="28944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15"/>
            </p:custDataLst>
          </p:nvPr>
        </p:nvSpPr>
        <p:spPr>
          <a:xfrm>
            <a:off x="429300" y="4816800"/>
            <a:ext cx="40068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6"/>
            </p:custDataLst>
          </p:nvPr>
        </p:nvSpPr>
        <p:spPr>
          <a:xfrm>
            <a:off x="4689900" y="4813200"/>
            <a:ext cx="4025700" cy="781200"/>
          </a:xfrm>
        </p:spPr>
        <p:txBody>
          <a:bodyPr wrap="square">
            <a:normAutofit/>
          </a:bodyPr>
          <a:lstStyle>
            <a:lvl1pPr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>
            <p:custDataLst>
              <p:tags r:id="rId2"/>
            </p:custDataLst>
          </p:nvPr>
        </p:nvSpPr>
        <p:spPr>
          <a:xfrm>
            <a:off x="0" y="953691"/>
            <a:ext cx="9144000" cy="4950618"/>
          </a:xfrm>
          <a:prstGeom prst="rect">
            <a:avLst/>
          </a:prstGeom>
          <a:solidFill>
            <a:schemeClr val="tx2"/>
          </a:solidFill>
          <a:ln w="12700" cap="flat" cmpd="sng" algn="ctr">
            <a:solidFill>
              <a:schemeClr val="accent1">
                <a:shade val="50000"/>
                <a:alpha val="0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endParaRPr lang="zh-CN" altLang="en-US" sz="1350"/>
          </a:p>
        </p:txBody>
      </p:sp>
      <p:pic>
        <p:nvPicPr>
          <p:cNvPr id="9" name="图片 8"/>
          <p:cNvPicPr/>
          <p:nvPr>
            <p:custDataLst>
              <p:tags r:id="rId3"/>
            </p:custDataLst>
          </p:nvPr>
        </p:nvPicPr>
        <p:blipFill>
          <a:blip r:embed="rId4" r:link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28848" y="5700713"/>
            <a:ext cx="1215152" cy="1157288"/>
          </a:xfrm>
          <a:prstGeom prst="rect">
            <a:avLst/>
          </a:prstGeom>
        </p:spPr>
      </p:pic>
      <p:pic>
        <p:nvPicPr>
          <p:cNvPr id="8" name="图片 7"/>
          <p:cNvPicPr/>
          <p:nvPr>
            <p:custDataLst>
              <p:tags r:id="rId6"/>
            </p:custDataLst>
          </p:nvPr>
        </p:nvPicPr>
        <p:blipFill>
          <a:blip r:embed="rId7" r:link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700713"/>
            <a:ext cx="1215152" cy="1157288"/>
          </a:xfrm>
          <a:prstGeom prst="rect">
            <a:avLst/>
          </a:prstGeom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9"/>
            </p:custDataLst>
          </p:nvPr>
        </p:nvSpPr>
        <p:spPr>
          <a:xfrm>
            <a:off x="1142100" y="1339200"/>
            <a:ext cx="6858000" cy="2386800"/>
          </a:xfrm>
        </p:spPr>
        <p:txBody>
          <a:bodyPr wrap="square" anchor="b">
            <a:normAutofit/>
          </a:bodyPr>
          <a:lstStyle>
            <a:lvl1pPr algn="ctr">
              <a:defRPr sz="4500"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0"/>
            </p:custDataLst>
          </p:nvPr>
        </p:nvSpPr>
        <p:spPr>
          <a:xfrm>
            <a:off x="659807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1"/>
            </p:custDataLst>
          </p:nvPr>
        </p:nvSpPr>
        <p:spPr>
          <a:xfrm>
            <a:off x="3087000" y="6349833"/>
            <a:ext cx="2970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2"/>
            </p:custDataLst>
          </p:nvPr>
        </p:nvSpPr>
        <p:spPr>
          <a:xfrm>
            <a:off x="6457950" y="6349833"/>
            <a:ext cx="2025000" cy="316800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3"/>
            </p:custDataLst>
          </p:nvPr>
        </p:nvSpPr>
        <p:spPr>
          <a:xfrm>
            <a:off x="1141810" y="3862800"/>
            <a:ext cx="6858000" cy="1656000"/>
          </a:xfrm>
        </p:spPr>
        <p:txBody>
          <a:bodyPr wrap="square">
            <a:normAutofit/>
          </a:bodyPr>
          <a:lstStyle>
            <a:lvl1pPr algn="ctr">
              <a:defRPr baseline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cent Project Inf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0"/>
          <p:cNvSpPr>
            <a:spLocks noGrp="1"/>
          </p:cNvSpPr>
          <p:nvPr>
            <p:ph type="pic" sz="quarter" idx="10"/>
          </p:nvPr>
        </p:nvSpPr>
        <p:spPr>
          <a:xfrm>
            <a:off x="2001441" y="2019300"/>
            <a:ext cx="2209800" cy="381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  <p:sp>
        <p:nvSpPr>
          <p:cNvPr id="12" name="Picture Placeholder 10"/>
          <p:cNvSpPr>
            <a:spLocks noGrp="1"/>
          </p:cNvSpPr>
          <p:nvPr>
            <p:ph type="pic" sz="quarter" idx="11"/>
          </p:nvPr>
        </p:nvSpPr>
        <p:spPr>
          <a:xfrm>
            <a:off x="6220809" y="2019300"/>
            <a:ext cx="2209800" cy="3810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6" Type="http://schemas.openxmlformats.org/officeDocument/2006/relationships/theme" Target="../theme/theme1.xml"/><Relationship Id="rId25" Type="http://schemas.openxmlformats.org/officeDocument/2006/relationships/tags" Target="../tags/tag138.xml"/><Relationship Id="rId24" Type="http://schemas.openxmlformats.org/officeDocument/2006/relationships/tags" Target="../tags/tag137.xml"/><Relationship Id="rId23" Type="http://schemas.openxmlformats.org/officeDocument/2006/relationships/tags" Target="../tags/tag136.xml"/><Relationship Id="rId22" Type="http://schemas.openxmlformats.org/officeDocument/2006/relationships/tags" Target="../tags/tag135.xml"/><Relationship Id="rId21" Type="http://schemas.openxmlformats.org/officeDocument/2006/relationships/tags" Target="../tags/tag134.xml"/><Relationship Id="rId20" Type="http://schemas.openxmlformats.org/officeDocument/2006/relationships/tags" Target="../tags/tag133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0"/>
            </p:custDataLst>
          </p:nvPr>
        </p:nvSpPr>
        <p:spPr>
          <a:xfrm>
            <a:off x="502412" y="443230"/>
            <a:ext cx="8139178" cy="441964"/>
          </a:xfrm>
          <a:prstGeom prst="rect">
            <a:avLst/>
          </a:prstGeom>
        </p:spPr>
        <p:txBody>
          <a:bodyPr vert="horz" wrap="square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1"/>
            </p:custDataLst>
          </p:nvPr>
        </p:nvSpPr>
        <p:spPr>
          <a:xfrm>
            <a:off x="502412" y="961398"/>
            <a:ext cx="8139178" cy="5388907"/>
          </a:xfrm>
          <a:prstGeom prst="rect">
            <a:avLst/>
          </a:prstGeom>
        </p:spPr>
        <p:txBody>
          <a:bodyPr vert="horz" wrap="square" lIns="90170" tIns="46990" rIns="90170" bIns="4699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2"/>
            </p:custDataLst>
          </p:nvPr>
        </p:nvSpPr>
        <p:spPr>
          <a:xfrm>
            <a:off x="659807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3"/>
            </p:custDataLst>
          </p:nvPr>
        </p:nvSpPr>
        <p:spPr>
          <a:xfrm>
            <a:off x="3087000" y="6349833"/>
            <a:ext cx="2970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4"/>
            </p:custDataLst>
          </p:nvPr>
        </p:nvSpPr>
        <p:spPr>
          <a:xfrm>
            <a:off x="6457950" y="6349833"/>
            <a:ext cx="2025000" cy="316800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>
            <p:custDataLst>
              <p:tags r:id="rId25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</p:sldLayoutIdLst>
  <p:txStyles>
    <p:titleStyle>
      <a:lvl1pPr algn="l" defTabSz="685800" rtl="0" eaLnBrk="1" fontAlgn="auto" latinLnBrk="0" hangingPunct="1">
        <a:lnSpc>
          <a:spcPct val="100000"/>
        </a:lnSpc>
        <a:spcBef>
          <a:spcPct val="0"/>
        </a:spcBef>
        <a:buNone/>
        <a:defRPr sz="1800" b="1" u="none" strike="noStrike" kern="1200" cap="none" spc="200" normalizeH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1714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5143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207135" algn="l"/>
        </a:tabLst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8572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12001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1543050" indent="-171450" algn="l" defTabSz="6858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200" u="none" strike="noStrike" kern="1200" cap="none" spc="150" normalizeH="0" baseline="0">
          <a:solidFill>
            <a:schemeClr val="tx1"/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6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3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4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6.xml"/></Relationships>
</file>

<file path=ppt/slides/_rels/slide10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147.xml"/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148.xml"/><Relationship Id="rId1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占位符 3"/>
          <p:cNvPicPr>
            <a:picLocks noGrp="1" noChangeAspect="1"/>
          </p:cNvPicPr>
          <p:nvPr>
            <p:ph type="pic" idx="4294967295"/>
          </p:nvPr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923" b="28923"/>
          <a:stretch>
            <a:fillRect/>
          </a:stretch>
        </p:blipFill>
        <p:spPr>
          <a:xfrm>
            <a:off x="0" y="857250"/>
            <a:ext cx="9144000" cy="2227898"/>
          </a:xfrm>
          <a:prstGeom prst="rect">
            <a:avLst/>
          </a:prstGeom>
          <a:solidFill>
            <a:schemeClr val="bg1">
              <a:lumMod val="65000"/>
            </a:schemeClr>
          </a:solidFill>
        </p:spPr>
      </p:pic>
      <p:sp>
        <p:nvSpPr>
          <p:cNvPr id="5" name="TextBox 1"/>
          <p:cNvSpPr txBox="1"/>
          <p:nvPr/>
        </p:nvSpPr>
        <p:spPr>
          <a:xfrm>
            <a:off x="2196749" y="3480582"/>
            <a:ext cx="4751070" cy="16497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8625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ea"/>
              </a:rPr>
              <a:t> 现代</a:t>
            </a:r>
            <a:r>
              <a:rPr lang="en-US" altLang="zh-CN" sz="8625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cs typeface="+mn-ea"/>
                <a:sym typeface="+mn-ea"/>
              </a:rPr>
              <a:t>C++</a:t>
            </a:r>
            <a:endParaRPr lang="en-US" altLang="zh-CN" sz="2700" b="1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altLang="zh-CN" sz="750" dirty="0" smtClean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  <a:p>
            <a:pPr algn="ctr"/>
            <a:endParaRPr lang="en-US" sz="750" dirty="0">
              <a:solidFill>
                <a:schemeClr val="tx1">
                  <a:lumMod val="50000"/>
                  <a:lumOff val="50000"/>
                </a:schemeClr>
              </a:solidFill>
              <a:cs typeface="+mn-ea"/>
              <a:sym typeface="+mn-lt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1022796" y="3162185"/>
            <a:ext cx="4462145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接地气的使用</a:t>
            </a:r>
            <a:r>
              <a:rPr lang="en-US" altLang="zh-CN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C++</a:t>
            </a:r>
            <a:endParaRPr lang="en-US" altLang="zh-CN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/>
        </p:nvSpPr>
        <p:spPr bwMode="auto">
          <a:xfrm>
            <a:off x="4348291" y="2649895"/>
            <a:ext cx="1071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现代</a:t>
            </a: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C++</a:t>
            </a:r>
            <a:endParaRPr lang="en-US" altLang="zh-CN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/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5549520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01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0">
    <p:pull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066130"/>
          </a:xfrm>
        </p:spPr>
        <p:txBody>
          <a:bodyPr/>
          <a:lstStyle/>
          <a:p>
            <a:r>
              <a:rPr lang="en-US" altLang="zh-CN" sz="2700" spc="150" dirty="0" err="1">
                <a:latin typeface="微软雅黑" panose="020B0503020204020204" charset="-122"/>
                <a:cs typeface="微软雅黑" panose="020B0503020204020204" charset="-122"/>
              </a:rPr>
              <a:t>C++</a:t>
            </a:r>
            <a:r>
              <a:rPr sz="2700" spc="150" dirty="0" err="1">
                <a:latin typeface="微软雅黑" panose="020B0503020204020204" charset="-122"/>
                <a:cs typeface="微软雅黑" panose="020B0503020204020204" charset="-122"/>
              </a:rPr>
              <a:t>的运用领域</a:t>
            </a:r>
            <a:endParaRPr sz="2700" spc="150" dirty="0" err="1">
              <a:latin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528" y="1340768"/>
            <a:ext cx="8363272" cy="4824536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zh-CN" altLang="en-US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运用领域广泛度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=语言+标准库+第三方库，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擅长的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领域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系统开发，依赖于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OS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的特性及接口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数据库，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http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服务器，浏览器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高并发服务器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属于实现接入的高并发，区别与业务系统的高并发）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网络协议开发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标准协议，私有协议的实现，比如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rtmp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协议栈，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sip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协议栈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实时音视频系统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(webrtc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流媒体系统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(SRS)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音视频图像应用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包括编解码器，播放器，剪辑软件，设计软件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）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游戏引擎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桌面应用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完全是托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QT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的福）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嵌入式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托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语言的福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3215" y="499110"/>
            <a:ext cx="8564245" cy="5061585"/>
          </a:xfrm>
        </p:spPr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不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擅长的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领域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企业业务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(java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的强势领域）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web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应用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(PHP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java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的强势领域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运维工具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(python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的强势领域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桌面应用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(C#/.NET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的强势领域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)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移动开发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(java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的强势领域）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游戏开发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(C#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的强势领域）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语言没有好坏之分，只有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“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专长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”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之分，构建一个产品，不可能只通过某一个语言及其生态实现。是取各自的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“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专长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”</a:t>
            </a:r>
            <a:r>
              <a:rPr sz="1600" b="1" spc="0">
                <a:solidFill>
                  <a:srgbClr val="FF0000"/>
                </a:solidFill>
                <a:sym typeface="+mn-ea"/>
              </a:rPr>
              <a:t>更快更好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的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来实现产品。所以了解它们的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”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专长</a:t>
            </a:r>
            <a:r>
              <a:rPr lang="en-US" altLang="zh-CN"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“</a:t>
            </a:r>
            <a:r>
              <a:rPr sz="1600" spc="0">
                <a:solidFill>
                  <a:schemeClr val="tx1">
                    <a:lumMod val="65000"/>
                    <a:lumOff val="35000"/>
                  </a:schemeClr>
                </a:solidFill>
                <a:sym typeface="+mn-ea"/>
              </a:rPr>
              <a:t>很重要。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13410"/>
            <a:ext cx="8229600" cy="5512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C++</a:t>
            </a:r>
            <a:r>
              <a:rPr sz="2400" b="1" dirty="0" err="1">
                <a:latin typeface="微软雅黑" panose="020B0503020204020204" charset="-122"/>
                <a:cs typeface="微软雅黑" panose="020B0503020204020204" charset="-122"/>
                <a:sym typeface="+mn-ea"/>
              </a:rPr>
              <a:t>的难点</a:t>
            </a:r>
            <a:endParaRPr lang="en-US" altLang="zh-CN" sz="2400" b="1" dirty="0" err="1"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复杂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提到C++，几乎所有的第一反应就是难学且难用。的确如此，因为它实在是太复杂了，在语法层面有诸多特性和细节。随着标准版本的演进，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里面包含的东西也越来越多。最早的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C++ 98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只有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60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来个关键字，到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C++ 11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变成了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70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多个，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C++20 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则达到了近百个。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lnSpc>
                <a:spcPct val="150000"/>
              </a:lnSpc>
            </a:pPr>
            <a:r>
              <a:rPr sz="18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cs typeface="微软雅黑" panose="020B0503020204020204" charset="-122"/>
                <a:sym typeface="+mn-ea"/>
              </a:rPr>
              <a:t>运用难</a:t>
            </a:r>
            <a:endParaRPr sz="1800" spc="0" dirty="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语法复杂，细节繁多，虽然市面上C++的书籍也非常多，但是纸面上的知识离实际的开发还有一定的距离，总会有这样的感觉，语法我都懂，但是用起来感觉还是无从下手。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marL="0" indent="0">
              <a:lnSpc>
                <a:spcPct val="150000"/>
              </a:lnSpc>
              <a:buNone/>
            </a:pPr>
            <a:r>
              <a:rPr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从语言知识到工程运用到产品化，其实还是有很长的一段路要走的。对于</a:t>
            </a:r>
            <a:r>
              <a:rPr lang="en-US" altLang="zh-CN"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这种语法复杂，标准库功能弱</a:t>
            </a:r>
            <a:r>
              <a:rPr lang="en-US" altLang="zh-CN"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(</a:t>
            </a:r>
            <a:r>
              <a:rPr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相比</a:t>
            </a:r>
            <a:r>
              <a:rPr lang="en-US" altLang="zh-CN"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java</a:t>
            </a:r>
            <a:r>
              <a:rPr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python</a:t>
            </a:r>
            <a:r>
              <a:rPr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）的语言，更是如此。自己摸索是要趟过很多坑，如果有一个</a:t>
            </a:r>
            <a:r>
              <a:rPr lang="en-US" altLang="zh-CN"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导师</a:t>
            </a:r>
            <a:r>
              <a:rPr lang="en-US" altLang="zh-CN"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“</a:t>
            </a:r>
            <a:r>
              <a:rPr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能引用你前进，避过坑，成长则快很多。</a:t>
            </a:r>
            <a:endParaRPr sz="1600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13410"/>
            <a:ext cx="8229600" cy="551243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zh-CN" sz="24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C++</a:t>
            </a:r>
            <a:r>
              <a:rPr sz="2400" b="1" dirty="0">
                <a:latin typeface="微软雅黑" panose="020B0503020204020204" charset="-122"/>
                <a:cs typeface="微软雅黑" panose="020B0503020204020204" charset="-122"/>
                <a:sym typeface="+mn-ea"/>
              </a:rPr>
              <a:t>标准</a:t>
            </a:r>
            <a:endParaRPr lang="en-US" altLang="zh-CN" sz="1600" dirty="0"/>
          </a:p>
          <a:p>
            <a:pPr marL="0" indent="0"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标准到目前为止，已经包括了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C++98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C++11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C++14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C++17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C++20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。从名字上就可以看到，从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C++11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开始，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语言就进入了发展的快车道，是每三年就发布了一版标准。多个标准的发布也使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的语法，标准库开始膨胀。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buNone/>
            </a:pP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C++ 11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0" indent="0"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C++ 11 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是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语言的一个分水岭，标志着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语言开始向现代化语言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(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更简单，更易用，开发效率更高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)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迈进。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C++ 11 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之前的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C++ 98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可以说等于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语言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基本的面向对象元素，并且它的标准库非常弱，也涌现出了大量的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轮子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“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。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C++11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对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语言的可以说是脱胎换骨的改造，搭起了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骨骼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“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，后面几个标准是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赋之皮肉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“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13410"/>
            <a:ext cx="8229600" cy="5512435"/>
          </a:xfrm>
        </p:spPr>
        <p:txBody>
          <a:bodyPr>
            <a:normAutofit/>
          </a:bodyPr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700" b="1" dirty="0" err="1">
                <a:latin typeface="微软雅黑" panose="020B0503020204020204" charset="-122"/>
                <a:cs typeface="微软雅黑" panose="020B0503020204020204" charset="-122"/>
              </a:rPr>
              <a:t>接地气的使用C++</a:t>
            </a:r>
            <a:endParaRPr lang="en-US" altLang="zh-CN" sz="2700" b="1" dirty="0" err="1">
              <a:latin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虽然在C++的标准已经到了C++ 20，但是在实际的工程化，产品化的开发中并不会这么激进去使用最新的标准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。毕竟稳定是第一要素，特别是老的产品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/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业务。实际开发中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C++11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标准是使用的最广泛的现场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标准，毕竟从它的发布到现在已经有十几年的时间了，这期间做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第一个吃螃蟹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的系统想毕也经过了时间的考验。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所以，学习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，无论是从标准的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“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分量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“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还是实际开发中使用的广度，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C++11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都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是一个必须要掌握的标准。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所谓的接地气使用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，就是应用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现代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C++“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自然，直观的思维方式提高开发效率和系统设计能力。不要陷入语法和实现细节。也不要去炫技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(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毕竟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中的泛型是非适合装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13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)</a:t>
            </a:r>
            <a:endParaRPr sz="1600" b="1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本门课程选取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C++11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中使用最广泛的语法及标准库组件进行讲解，并且是着重于讲它们的应用场景，不会讲解它们的实现。从而促使你更多的应用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现代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C++“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自然，直观的思维方式</a:t>
            </a:r>
            <a:r>
              <a:rPr sz="1600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。</a:t>
            </a:r>
            <a:endParaRPr sz="1600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Text Box 3"/>
          <p:cNvSpPr>
            <a:spLocks noChangeArrowheads="1"/>
          </p:cNvSpPr>
          <p:nvPr/>
        </p:nvSpPr>
        <p:spPr bwMode="auto">
          <a:xfrm>
            <a:off x="2048321" y="3162185"/>
            <a:ext cx="3436620" cy="7480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pPr algn="r"/>
            <a:r>
              <a:rPr lang="zh-CN" altLang="en-US" sz="427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+mn-ea"/>
              </a:rPr>
              <a:t>关于本门课程</a:t>
            </a:r>
            <a:endParaRPr lang="zh-CN" altLang="en-US" sz="4270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+mn-ea"/>
            </a:endParaRPr>
          </a:p>
        </p:txBody>
      </p:sp>
      <p:sp>
        <p:nvSpPr>
          <p:cNvPr id="5124" name="淘宝网chenying0907出品 10"/>
          <p:cNvSpPr>
            <a:spLocks noChangeArrowheads="1"/>
          </p:cNvSpPr>
          <p:nvPr/>
        </p:nvSpPr>
        <p:spPr bwMode="auto">
          <a:xfrm>
            <a:off x="4348291" y="2649895"/>
            <a:ext cx="107188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/>
          <a:p>
            <a:pPr algn="r"/>
            <a:r>
              <a:rPr lang="zh-CN" altLang="en-US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现代</a:t>
            </a:r>
            <a:r>
              <a:rPr lang="en-US" altLang="zh-CN" dirty="0">
                <a:solidFill>
                  <a:schemeClr val="accent1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C++</a:t>
            </a:r>
            <a:endParaRPr lang="en-US" altLang="zh-CN" dirty="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5125" name="淘宝网chenying0907出品 11"/>
          <p:cNvSpPr>
            <a:spLocks noChangeShapeType="1"/>
          </p:cNvSpPr>
          <p:nvPr/>
        </p:nvSpPr>
        <p:spPr bwMode="auto">
          <a:xfrm>
            <a:off x="1505825" y="2960613"/>
            <a:ext cx="3914345" cy="1191"/>
          </a:xfrm>
          <a:prstGeom prst="line">
            <a:avLst/>
          </a:prstGeom>
          <a:noFill/>
          <a:ln w="6350" cap="flat" cmpd="sng">
            <a:solidFill>
              <a:schemeClr val="accent1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sz="1420">
              <a:solidFill>
                <a:schemeClr val="accent1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Text Box 3"/>
          <p:cNvSpPr>
            <a:spLocks noChangeArrowheads="1"/>
          </p:cNvSpPr>
          <p:nvPr/>
        </p:nvSpPr>
        <p:spPr bwMode="auto">
          <a:xfrm>
            <a:off x="5549520" y="2294165"/>
            <a:ext cx="2183130" cy="227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bevel/>
              </a14:hiddenLine>
            </a:ext>
          </a:extLst>
        </p:spPr>
        <p:txBody>
          <a:bodyPr wrap="none" anchor="ctr">
            <a:spAutoFit/>
          </a:bodyPr>
          <a:lstStyle/>
          <a:p>
            <a:r>
              <a:rPr lang="en-US" sz="14155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</a:t>
            </a:r>
            <a:endParaRPr lang="en-US" altLang="en-US" sz="14155" b="1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med" advTm="0">
    <p:pull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613410"/>
            <a:ext cx="8229600" cy="5512435"/>
          </a:xfrm>
        </p:spPr>
        <p:txBody>
          <a:bodyPr>
            <a:normAutofit lnSpcReduction="20000"/>
          </a:bodyPr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r>
              <a:rPr lang="en-US" altLang="zh-CN" sz="27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关于本门课程</a:t>
            </a:r>
            <a:endParaRPr lang="en-US" altLang="zh-CN" sz="2700" b="1" dirty="0" err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  语言没有好坏之分，只有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适不适合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。不同场景选择的语言生态，达到的目的都是为提高开发效率，提高系统的稳定性及可维护性。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  C++ 偏向底层应用，再加上语法复杂，很多时候都让人望而却步。但是在一些场景(领域)它无可替代。对C++我们应该是专注于能提高开发效率及可维护性的核心语言机制，而非大而全的去掌握所有的C++语法及语言机制，这样就像是用大炮打蚊子。C++ 11标准发布后，相较以往，开发效率得到了大大的提升。C++11引入的语言新特性理应成为C++的核心语言机制。</a:t>
            </a:r>
            <a:endParaRPr lang="en-US" altLang="zh-CN"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endParaRPr sz="1600" b="1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  <a:p>
            <a:pPr marL="0" algn="l">
              <a:lnSpc>
                <a:spcPct val="150000"/>
              </a:lnSpc>
              <a:buClrTx/>
              <a:buSzTx/>
              <a:buFontTx/>
              <a:buNone/>
            </a:pP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  本门课程选取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C++11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中使用最广泛的语法及标准库组件进行讲解，并且是着重于讲它们的应用场景，不会讲解它们的实现。从而促使你更多的应用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”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现代</a:t>
            </a:r>
            <a:r>
              <a:rPr lang="en-US" altLang="zh-CN"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C++“</a:t>
            </a:r>
            <a:r>
              <a:rPr sz="1600" b="1" spc="0" dirty="0">
                <a:solidFill>
                  <a:srgbClr val="FF0000"/>
                </a:solidFill>
                <a:ea typeface="微软雅黑" panose="020B0503020204020204" charset="-122"/>
                <a:sym typeface="+mn-ea"/>
              </a:rPr>
              <a:t>自然，直观的思维方式，而不是陷入语法及实现的细节中。</a:t>
            </a:r>
            <a:endParaRPr sz="1600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8780" y="1066165"/>
            <a:ext cx="8288020" cy="5059680"/>
          </a:xfrm>
        </p:spPr>
        <p:txBody>
          <a:bodyPr>
            <a:normAutofit lnSpcReduction="20000"/>
          </a:bodyPr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700" b="1" dirty="0" err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endParaRPr sz="1600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026400" cy="842010"/>
          </a:xfrm>
        </p:spPr>
        <p:txBody>
          <a:bodyPr/>
          <a:p>
            <a:r>
              <a:rPr sz="2700" spc="150" dirty="0" err="1">
                <a:latin typeface="微软雅黑" panose="020B0503020204020204" charset="-122"/>
                <a:cs typeface="微软雅黑" panose="020B0503020204020204" charset="-122"/>
              </a:rPr>
              <a:t>课程目录</a:t>
            </a:r>
            <a:endParaRPr sz="2700" spc="150" dirty="0" err="1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" name="图片 6" descr="课程总目录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960" y="1035685"/>
            <a:ext cx="2039620" cy="1341120"/>
          </a:xfrm>
          <a:prstGeom prst="rect">
            <a:avLst/>
          </a:prstGeom>
        </p:spPr>
      </p:pic>
      <p:pic>
        <p:nvPicPr>
          <p:cNvPr id="8" name="图片 7" descr="课程目录-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640" y="1036320"/>
            <a:ext cx="2811145" cy="5403850"/>
          </a:xfrm>
          <a:prstGeom prst="rect">
            <a:avLst/>
          </a:prstGeom>
        </p:spPr>
      </p:pic>
      <p:pic>
        <p:nvPicPr>
          <p:cNvPr id="9" name="图片 8" descr="课程目录-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110" y="1069340"/>
            <a:ext cx="2436495" cy="552259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98780" y="1066165"/>
            <a:ext cx="8288020" cy="5059680"/>
          </a:xfrm>
        </p:spPr>
        <p:txBody>
          <a:bodyPr>
            <a:normAutofit lnSpcReduction="20000"/>
          </a:bodyPr>
          <a:lstStyle/>
          <a:p>
            <a:pPr marL="0" algn="l">
              <a:lnSpc>
                <a:spcPct val="100000"/>
              </a:lnSpc>
              <a:buClrTx/>
              <a:buSzTx/>
              <a:buFontTx/>
              <a:buNone/>
            </a:pPr>
            <a:endParaRPr lang="en-US" altLang="zh-CN" sz="2700" b="1" dirty="0" err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endParaRPr sz="1600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955"/>
            <a:ext cx="8026400" cy="842010"/>
          </a:xfrm>
        </p:spPr>
        <p:txBody>
          <a:bodyPr/>
          <a:p>
            <a:r>
              <a:rPr sz="2700" spc="150" dirty="0" err="1">
                <a:latin typeface="微软雅黑" panose="020B0503020204020204" charset="-122"/>
                <a:cs typeface="微软雅黑" panose="020B0503020204020204" charset="-122"/>
              </a:rPr>
              <a:t>课程目录</a:t>
            </a:r>
            <a:endParaRPr sz="2700" spc="150" dirty="0" err="1">
              <a:latin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4" name="图片 3" descr="课程目录-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5" y="993775"/>
            <a:ext cx="2551430" cy="5492750"/>
          </a:xfrm>
          <a:prstGeom prst="rect">
            <a:avLst/>
          </a:prstGeom>
        </p:spPr>
      </p:pic>
    </p:spTree>
    <p:custDataLst>
      <p:tags r:id="rId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02920" y="513715"/>
            <a:ext cx="8229600" cy="5512435"/>
          </a:xfrm>
        </p:spPr>
        <p:txBody>
          <a:bodyPr>
            <a:normAutofit lnSpcReduction="20000"/>
          </a:bodyPr>
          <a:lstStyle/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r>
              <a:rPr sz="2700" b="1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编译器</a:t>
            </a:r>
            <a:endParaRPr sz="2700" b="1" dirty="0" err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algn="l">
              <a:lnSpc>
                <a:spcPct val="130000"/>
              </a:lnSpc>
              <a:buClrTx/>
              <a:buSzTx/>
              <a:buFontTx/>
              <a:buNone/>
            </a:pP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114300" indent="-285750" algn="l">
              <a:lnSpc>
                <a:spcPct val="15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课程使用的编译器是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VS 2017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，它已经支持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C++17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标准，相比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C++11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，标准也已经有了很多改进的地方，但是在本门课中，语法及用法都是针对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C++11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的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0" indent="0" algn="l">
              <a:lnSpc>
                <a:spcPct val="150000"/>
              </a:lnSpc>
              <a:buClrTx/>
              <a:buSzTx/>
              <a:buNone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 </a:t>
            </a:r>
            <a:endParaRPr sz="1600" spc="0" dirty="0">
              <a:solidFill>
                <a:schemeClr val="tx1">
                  <a:lumMod val="65000"/>
                  <a:lumOff val="35000"/>
                </a:schemeClr>
              </a:solidFill>
              <a:ea typeface="微软雅黑" panose="020B0503020204020204" charset="-122"/>
              <a:sym typeface="+mn-ea"/>
            </a:endParaRPr>
          </a:p>
          <a:p>
            <a:pPr marL="114300" indent="-285750" algn="l">
              <a:lnSpc>
                <a:spcPct val="150000"/>
              </a:lnSpc>
              <a:buClrTx/>
              <a:buSzTx/>
            </a:pP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如果使用只支持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C++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的编译器，可以选择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VS 2010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gcc 4.8</a:t>
            </a:r>
            <a:r>
              <a:rPr sz="1600" spc="0" dirty="0">
                <a:solidFill>
                  <a:schemeClr val="tx1">
                    <a:lumMod val="65000"/>
                    <a:lumOff val="35000"/>
                  </a:schemeClr>
                </a:solidFill>
                <a:ea typeface="微软雅黑" panose="020B0503020204020204" charset="-122"/>
                <a:sym typeface="+mn-ea"/>
              </a:rPr>
              <a:t> </a:t>
            </a:r>
            <a:endParaRPr sz="1600" spc="0" dirty="0">
              <a:solidFill>
                <a:srgbClr val="FF0000"/>
              </a:solidFill>
              <a:ea typeface="微软雅黑" panose="020B0503020204020204" charset="-122"/>
              <a:sym typeface="+mn-ea"/>
            </a:endParaRP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SLIDE_BACKGROUND_MASK_FLAG" val="1"/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3*i*0"/>
  <p:tag name="KSO_WM_UNIT_BK_DARK_LIGHT" val="2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SLIDE_BACKGROUND_TYPE" val="frame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4*i*0"/>
  <p:tag name="KSO_WM_UNIT_BK_DARK_LIGHT" val="2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SLIDE_BACKGROUND_TYPE" val="leftRigh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5*i*0"/>
  <p:tag name="KSO_WM_UNIT_BK_DARK_LIGHT" val="2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6*i*0"/>
  <p:tag name="KSO_WM_UNIT_BK_DARK_LIGHT" val="2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7*i*0"/>
  <p:tag name="KSO_WM_UNIT_BK_DARK_LIGHT" val="2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8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19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0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1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2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3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4.xml><?xml version="1.0" encoding="utf-8"?>
<p:tagLst xmlns:p="http://schemas.openxmlformats.org/presentationml/2006/main">
  <p:tag name="KSO_WM_SLIDE_BACKGROUND_TYPE" val="navigation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</p:tagLst>
</file>

<file path=ppt/tags/tag125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SUBTYPE" val="h"/>
  <p:tag name="KSO_WM_UNIT_TYPE" val="i"/>
  <p:tag name="KSO_WM_UNIT_INDEX" val="0"/>
  <p:tag name="KSO_WM_UNIT_ID" val="_18*i*0"/>
  <p:tag name="KSO_WM_UNIT_BK_DARK_LIGHT" val="2"/>
  <p:tag name="KSO_WM_UNIT_LAYERLEVEL" val="1"/>
  <p:tag name="KSO_WM_TAG_VERSION" val="1.0"/>
  <p:tag name="KSO_WM_BEAUTIFY_FLAG" val="#wm#"/>
</p:tagLst>
</file>

<file path=ppt/tags/tag12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7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8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29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0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1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78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478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8.xml><?xml version="1.0" encoding="utf-8"?>
<p:tagLst xmlns:p="http://schemas.openxmlformats.org/presentationml/2006/main">
  <p:tag name="KSO_WM_TEMPLATE_SUBCATEGORY" val="0"/>
  <p:tag name="KSO_WM_TEMPLATE_COLOR_TYPE" val="1"/>
  <p:tag name="KSO_WM_TEMPLATE_MASTER_THUMB_INDEX" val="12"/>
  <p:tag name="KSO_WM_TAG_VERSION" val="1.0"/>
  <p:tag name="KSO_WM_BEAUTIFY_FLAG" val="#wm#"/>
  <p:tag name="KSO_WM_TEMPLATE_CATEGORY" val="custom"/>
  <p:tag name="KSO_WM_TEMPLATE_INDEX" val="20204478"/>
  <p:tag name="KSO_WM_TEMPLATE_MASTER_TYPE" val="1"/>
  <p:tag name="KSO_WM_TEMPLATE_THUMBS_INDEX" val="1、4、7、12、15、16、20、23、24、25、30、35、39、40、41、42"/>
</p:tagLst>
</file>

<file path=ppt/tags/tag139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0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1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2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3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4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5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6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7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8.xml><?xml version="1.0" encoding="utf-8"?>
<p:tagLst xmlns:p="http://schemas.openxmlformats.org/presentationml/2006/main">
  <p:tag name="KSO_WM_TEMPLATE_CATEGORY" val="custom"/>
  <p:tag name="KSO_WM_TEMPLATE_INDEX" val="20204478"/>
</p:tagLst>
</file>

<file path=ppt/tags/tag149.xml><?xml version="1.0" encoding="utf-8"?>
<p:tagLst xmlns:p="http://schemas.openxmlformats.org/presentationml/2006/main">
  <p:tag name="KSO_WM_TEMPLATE_CATEGORY" val="custom"/>
  <p:tag name="KSO_WM_TEMPLATE_INDEX" val="20204478"/>
</p:tagLst>
</file>

<file path=ppt/theme/theme1.xml><?xml version="1.0" encoding="utf-8"?>
<a:theme xmlns:a="http://schemas.openxmlformats.org/drawingml/2006/main" name="2_Office 主题​​">
  <a:themeElements>
    <a:clrScheme name="自定义 199">
      <a:dk1>
        <a:srgbClr val="000000"/>
      </a:dk1>
      <a:lt1>
        <a:srgbClr val="FFFFFF"/>
      </a:lt1>
      <a:dk2>
        <a:srgbClr val="EEF6FC"/>
      </a:dk2>
      <a:lt2>
        <a:srgbClr val="FCFCFD"/>
      </a:lt2>
      <a:accent1>
        <a:srgbClr val="6F86A0"/>
      </a:accent1>
      <a:accent2>
        <a:srgbClr val="2F9BC1"/>
      </a:accent2>
      <a:accent3>
        <a:srgbClr val="20ADB0"/>
      </a:accent3>
      <a:accent4>
        <a:srgbClr val="35A550"/>
      </a:accent4>
      <a:accent5>
        <a:srgbClr val="7A9F3F"/>
      </a:accent5>
      <a:accent6>
        <a:srgbClr val="E5CA29"/>
      </a:accent6>
      <a:hlink>
        <a:srgbClr val="0563C1"/>
      </a:hlink>
      <a:folHlink>
        <a:srgbClr val="954F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1899</Words>
  <Application>WPS 演示</Application>
  <PresentationFormat>全屏显示(4:3)</PresentationFormat>
  <Paragraphs>79</Paragraphs>
  <Slides>12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1" baseType="lpstr">
      <vt:lpstr>Arial</vt:lpstr>
      <vt:lpstr>宋体</vt:lpstr>
      <vt:lpstr>Wingdings</vt:lpstr>
      <vt:lpstr>微软雅黑</vt:lpstr>
      <vt:lpstr>汉仪旗黑-85S</vt:lpstr>
      <vt:lpstr>黑体</vt:lpstr>
      <vt:lpstr>Arial Unicode MS</vt:lpstr>
      <vt:lpstr>等线</vt:lpstr>
      <vt:lpstr>2_Office 主题​​</vt:lpstr>
      <vt:lpstr>PowerPoint 演示文稿</vt:lpstr>
      <vt:lpstr>PowerPoint 演示文稿</vt:lpstr>
      <vt:lpstr>C++的运用领域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课程目录</vt:lpstr>
      <vt:lpstr>课程目录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智能指针</dc:title>
  <dc:creator>lenovo</dc:creator>
  <cp:lastModifiedBy>Rock</cp:lastModifiedBy>
  <cp:revision>286</cp:revision>
  <dcterms:created xsi:type="dcterms:W3CDTF">2020-03-12T12:46:00Z</dcterms:created>
  <dcterms:modified xsi:type="dcterms:W3CDTF">2021-10-25T00:37:17Z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2052-11.1.0.10132</vt:lpwstr>
  </property>
</Properties>
</file>