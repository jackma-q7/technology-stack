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75" r:id="rId3"/>
    <p:sldId id="276" r:id="rId4"/>
    <p:sldId id="277" r:id="rId6"/>
    <p:sldId id="280" r:id="rId7"/>
    <p:sldId id="263" r:id="rId8"/>
    <p:sldId id="268" r:id="rId9"/>
    <p:sldId id="297" r:id="rId10"/>
    <p:sldId id="308" r:id="rId11"/>
    <p:sldId id="309" r:id="rId12"/>
    <p:sldId id="312" r:id="rId13"/>
    <p:sldId id="313" r:id="rId14"/>
    <p:sldId id="314" r:id="rId15"/>
    <p:sldId id="315" r:id="rId16"/>
    <p:sldId id="316" r:id="rId17"/>
    <p:sldId id="317" r:id="rId1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mpleSmart" initials="S"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7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68" autoAdjust="0"/>
    <p:restoredTop sz="94660"/>
  </p:normalViewPr>
  <p:slideViewPr>
    <p:cSldViewPr>
      <p:cViewPr varScale="1">
        <p:scale>
          <a:sx n="110" d="100"/>
          <a:sy n="110" d="100"/>
        </p:scale>
        <p:origin x="1968" y="78"/>
      </p:cViewPr>
      <p:guideLst>
        <p:guide orient="horz" pos="2360"/>
        <p:guide pos="283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20:48"/>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1169 437,'4'2,"-1"-1,0 0,1-1,-1 0,1 0,0 0,-1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20:48"/>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115 882,'3'0,"1"0,0 2,-1-2,1 0,2 0,-2 0,0 0,-1 0,0 0,1 0,-1-1,1 0,-1 1,0 0,0-1,3 1,-1 1,-1 0,1-1,-2 2,0-1,1 1,-1-1,0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20:48"/>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82 915,'-1'3,"1"1,1-1,0 0,0 0,-1 0,0 1,2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20:48"/>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100 308,'2'-3,"2"3,0 0,0 0,1 0,0 0,0 0,-1 0,1 0,-1 0,-1 0,0 0,1 0,-1 0,0 0,1 0,0 0,2 0,-1 0,0 0,2 0,-3 0,0 0,1 0,-2 0,0 0,0 0,2 0,-2 0,0 0,1 0,0 0,-1 0,0 0,0 0,0 0,1 0,-1 0,0 0,0 0,0 0,0 0,0 0,1 1,-1-1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0-27T08:20:48"/>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137 744,'3'0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54DF8C-4C82-4E1D-ACFB-E2E2D3E135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A4FEF-681B-40E5-A232-6D056FB2C7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8.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7.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image" Target="file:///C:\Users\1V994W2\PycharmProjects\PPT_Background_Generation/pic_temp/pic_half_top.png" TargetMode="External"/><Relationship Id="rId3" Type="http://schemas.openxmlformats.org/officeDocument/2006/relationships/image" Target="../media/image4.png"/><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20.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19.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28.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2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image" Target="file:///C:\Users\1V994W2\Documents\Tencent%20Files\574576071\FileRecv\&#25340;&#35013;&#32032;&#26448;\formiddle1\\15\subject_holdleft_111,134,161_0_staid_full_0.png" TargetMode="External"/><Relationship Id="rId3" Type="http://schemas.openxmlformats.org/officeDocument/2006/relationships/image" Target="../media/image5.png"/><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47.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46.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55.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54.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62.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61.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67.xml"/><Relationship Id="rId10" Type="http://schemas.openxmlformats.org/officeDocument/2006/relationships/tags" Target="../tags/tag73.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75.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74.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82.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81.xml"/><Relationship Id="rId2" Type="http://schemas.openxmlformats.org/officeDocument/2006/relationships/tags" Target="../tags/tag80.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89.xml"/><Relationship Id="rId2" Type="http://schemas.openxmlformats.org/officeDocument/2006/relationships/tags" Target="../tags/tag88.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98.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97.xml"/><Relationship Id="rId2" Type="http://schemas.openxmlformats.org/officeDocument/2006/relationships/tags" Target="../tags/tag96.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07.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16.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15.xml"/><Relationship Id="rId2" Type="http://schemas.openxmlformats.org/officeDocument/2006/relationships/tags" Target="../tags/tag114.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27.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26.xml"/><Relationship Id="rId2" Type="http://schemas.openxmlformats.org/officeDocument/2006/relationships/tags" Target="../tags/tag125.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日期占位符 15"/>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3" name="标题 2"/>
          <p:cNvSpPr>
            <a:spLocks noGrp="1"/>
          </p:cNvSpPr>
          <p:nvPr>
            <p:ph type="ctrTitle" idx="14" hasCustomPrompt="1"/>
            <p:custDataLst>
              <p:tags r:id="rId8"/>
            </p:custDataLst>
          </p:nvPr>
        </p:nvSpPr>
        <p:spPr>
          <a:xfrm>
            <a:off x="2376729" y="2653386"/>
            <a:ext cx="4762500" cy="1330960"/>
          </a:xfrm>
        </p:spPr>
        <p:txBody>
          <a:bodyPr vert="horz" wrap="square" lIns="0" tIns="0" rIns="0" bIns="0" anchor="ctr" anchorCtr="0">
            <a:normAutofit/>
          </a:bodyPr>
          <a:lstStyle>
            <a:lvl1pPr marL="0" marR="0" indent="0" algn="dist" defTabSz="914400" rtl="0" eaLnBrk="1" fontAlgn="auto" latinLnBrk="0" hangingPunct="1">
              <a:lnSpc>
                <a:spcPct val="100000"/>
              </a:lnSpc>
              <a:spcBef>
                <a:spcPct val="0"/>
              </a:spcBef>
              <a:spcAft>
                <a:spcPts val="0"/>
              </a:spcAft>
              <a:buClrTx/>
              <a:buSzPts val="7200"/>
              <a:buFont typeface="Arial" panose="020B0604020202020204" pitchFamily="34" charset="0"/>
              <a:buNone/>
              <a:defRPr sz="5400" b="0" spc="-200">
                <a:solidFill>
                  <a:schemeClr val="bg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
        <p:nvSpPr>
          <p:cNvPr id="2" name="副标题 1"/>
          <p:cNvSpPr>
            <a:spLocks noGrp="1"/>
          </p:cNvSpPr>
          <p:nvPr>
            <p:ph type="subTitle" idx="13" hasCustomPrompt="1"/>
            <p:custDataLst>
              <p:tags r:id="rId9"/>
            </p:custDataLst>
          </p:nvPr>
        </p:nvSpPr>
        <p:spPr>
          <a:xfrm>
            <a:off x="2376729" y="4227376"/>
            <a:ext cx="4762500" cy="764868"/>
          </a:xfrm>
        </p:spPr>
        <p:txBody>
          <a:bodyPr vert="horz" wrap="square" lIns="0" tIns="0" rIns="0" bIns="0" anchor="t" anchorCtr="0">
            <a:normAutofit/>
          </a:bodyPr>
          <a:lstStyle>
            <a:lvl1pPr marL="0" marR="0" indent="0" algn="ctr" defTabSz="914400" rtl="0" eaLnBrk="1" fontAlgn="auto" latinLnBrk="0" hangingPunct="1">
              <a:lnSpc>
                <a:spcPct val="100000"/>
              </a:lnSpc>
              <a:spcBef>
                <a:spcPts val="0"/>
              </a:spcBef>
              <a:spcAft>
                <a:spcPts val="0"/>
              </a:spcAft>
              <a:buClrTx/>
              <a:buSzPts val="2000"/>
              <a:buFont typeface="Arial" panose="020B0604020202020204" pitchFamily="34" charset="0"/>
              <a:buNone/>
              <a:defRPr sz="1800" b="0" spc="200">
                <a:solidFill>
                  <a:schemeClr val="bg1"/>
                </a:solidFill>
                <a:latin typeface="Arial" panose="020B0604020202020204" pitchFamily="34" charset="0"/>
                <a:ea typeface="微软雅黑" panose="020B0503020204020204" charset="-122"/>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dirty="0"/>
              <a:t>单击此处编辑副标题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7" name="图片 6"/>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502412" y="952508"/>
            <a:ext cx="8139178"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tx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3048000" y="5716016"/>
            <a:ext cx="3048000" cy="1141984"/>
          </a:xfrm>
          <a:prstGeom prst="rect">
            <a:avLst/>
          </a:prstGeom>
        </p:spPr>
      </p:pic>
      <p:sp>
        <p:nvSpPr>
          <p:cNvPr id="4" name="日期占位符 3"/>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3" name="标题 2"/>
          <p:cNvSpPr>
            <a:spLocks noGrp="1"/>
          </p:cNvSpPr>
          <p:nvPr>
            <p:ph type="title" hasCustomPrompt="1"/>
            <p:custDataLst>
              <p:tags r:id="rId8"/>
            </p:custDataLst>
          </p:nvPr>
        </p:nvSpPr>
        <p:spPr>
          <a:xfrm>
            <a:off x="2350495" y="3429000"/>
            <a:ext cx="4443011" cy="918537"/>
          </a:xfrm>
        </p:spPr>
        <p:txBody>
          <a:bodyPr>
            <a:normAutofit/>
          </a:bodyPr>
          <a:lstStyle>
            <a:lvl1pPr algn="ctr">
              <a:defRPr sz="2700"/>
            </a:lvl1pPr>
          </a:lstStyle>
          <a:p>
            <a:r>
              <a:rPr lang="zh-CN" altLang="en-US" dirty="0"/>
              <a:t>单击此处编辑标题</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502448" y="952508"/>
            <a:ext cx="396243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4679158" y="952508"/>
            <a:ext cx="3962432" cy="5388907"/>
          </a:xfrm>
        </p:spPr>
        <p:txBody>
          <a:bodyPr wrap="square" lIns="90170" tIns="46990" rIns="90170" bIns="46990">
            <a:normAutofit/>
          </a:bodyPr>
          <a:lstStyle>
            <a:lvl1pPr eaLnBrk="1" fontAlgn="auto" latinLnBrk="0" hangingPunct="1">
              <a:defRPr sz="1200">
                <a:solidFill>
                  <a:schemeClr val="tx1"/>
                </a:solidFill>
                <a:latin typeface="Arial" panose="020B0604020202020204" pitchFamily="34" charset="0"/>
                <a:ea typeface="微软雅黑" panose="020B0503020204020204" charset="-122"/>
              </a:defRPr>
            </a:lvl1pPr>
            <a:lvl2pPr eaLnBrk="1" fontAlgn="auto" latinLnBrk="0" hangingPunct="1">
              <a:defRPr sz="1200">
                <a:solidFill>
                  <a:schemeClr val="tx1"/>
                </a:solidFill>
                <a:latin typeface="Arial" panose="020B0604020202020204" pitchFamily="34" charset="0"/>
                <a:ea typeface="微软雅黑" panose="020B0503020204020204" charset="-122"/>
              </a:defRPr>
            </a:lvl2pPr>
            <a:lvl3pPr eaLnBrk="1" fontAlgn="auto" latinLnBrk="0" hangingPunct="1">
              <a:defRPr sz="1200">
                <a:solidFill>
                  <a:schemeClr val="tx1"/>
                </a:solidFill>
                <a:latin typeface="Arial" panose="020B0604020202020204" pitchFamily="34" charset="0"/>
                <a:ea typeface="微软雅黑" panose="020B0503020204020204" charset="-122"/>
              </a:defRPr>
            </a:lvl3pPr>
            <a:lvl4pPr eaLnBrk="1" fontAlgn="auto" latinLnBrk="0" hangingPunct="1">
              <a:defRPr sz="1200">
                <a:solidFill>
                  <a:schemeClr val="tx1"/>
                </a:solidFill>
                <a:latin typeface="Arial" panose="020B0604020202020204" pitchFamily="34" charset="0"/>
                <a:ea typeface="微软雅黑" panose="020B0503020204020204" charset="-122"/>
              </a:defRPr>
            </a:lvl4pPr>
            <a:lvl5pPr eaLnBrk="1" fontAlgn="auto" latinLnBrk="0" hangingPunct="1">
              <a:defRPr sz="12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10" name="图片 9"/>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502448" y="952508"/>
            <a:ext cx="396243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502444" y="1406525"/>
            <a:ext cx="3962400"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4676813" y="952508"/>
            <a:ext cx="396243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4676813" y="1406525"/>
            <a:ext cx="3962432"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5"/>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5623560" y="2194560"/>
            <a:ext cx="3291840" cy="2468880"/>
          </a:xfrm>
          <a:prstGeom prst="rect">
            <a:avLst/>
          </a:prstGeom>
        </p:spPr>
      </p:pic>
      <p:sp>
        <p:nvSpPr>
          <p:cNvPr id="6" name="任意多边形 6"/>
          <p:cNvSpPr/>
          <p:nvPr>
            <p:custDataLst>
              <p:tags r:id="rId5"/>
            </p:custDataLst>
          </p:nvPr>
        </p:nvSpPr>
        <p:spPr>
          <a:xfrm flipH="1">
            <a:off x="0" y="0"/>
            <a:ext cx="5484971"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sp>
        <p:nvSpPr>
          <p:cNvPr id="2" name="标题 1"/>
          <p:cNvSpPr>
            <a:spLocks noGrp="1"/>
          </p:cNvSpPr>
          <p:nvPr>
            <p:ph type="title"/>
            <p:custDataLst>
              <p:tags r:id="rId6"/>
            </p:custDataLst>
          </p:nvPr>
        </p:nvSpPr>
        <p:spPr>
          <a:xfrm>
            <a:off x="502412" y="443230"/>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7"/>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9"/>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48"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502448" y="952508"/>
            <a:ext cx="396243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4679194" y="952508"/>
            <a:ext cx="396243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7" name="图片 6"/>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竖排标题 1"/>
          <p:cNvSpPr>
            <a:spLocks noGrp="1"/>
          </p:cNvSpPr>
          <p:nvPr>
            <p:ph type="title" orient="vert"/>
            <p:custDataLst>
              <p:tags r:id="rId8"/>
            </p:custDataLst>
          </p:nvPr>
        </p:nvSpPr>
        <p:spPr>
          <a:xfrm>
            <a:off x="7928351" y="952508"/>
            <a:ext cx="713238"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502444" y="952500"/>
            <a:ext cx="7371076"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6" name="图片 5"/>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3" name="日期占位符 2"/>
          <p:cNvSpPr>
            <a:spLocks noGrp="1"/>
          </p:cNvSpPr>
          <p:nvPr>
            <p:ph type="dt" sz="half" idx="10"/>
            <p:custDataLst>
              <p:tags r:id="rId8"/>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502448" y="952508"/>
            <a:ext cx="8139178"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日期占位符 2"/>
          <p:cNvSpPr>
            <a:spLocks noGrp="1"/>
          </p:cNvSpPr>
          <p:nvPr>
            <p:ph type="dt" sz="half" idx="10"/>
            <p:custDataLst>
              <p:tags r:id="rId5"/>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cxnSp>
        <p:nvCxnSpPr>
          <p:cNvPr id="8" name="直接连接符 7"/>
          <p:cNvCxnSpPr/>
          <p:nvPr>
            <p:custDataLst>
              <p:tags r:id="rId8"/>
            </p:custDataLst>
          </p:nvPr>
        </p:nvCxnSpPr>
        <p:spPr>
          <a:xfrm>
            <a:off x="2516981" y="3913822"/>
            <a:ext cx="4110038" cy="0"/>
          </a:xfrm>
          <a:prstGeom prst="line">
            <a:avLst/>
          </a:prstGeom>
          <a:ln>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 name="文本占位符 6"/>
          <p:cNvSpPr>
            <a:spLocks noGrp="1"/>
          </p:cNvSpPr>
          <p:nvPr>
            <p:ph type="body" idx="14" hasCustomPrompt="1"/>
            <p:custDataLst>
              <p:tags r:id="rId9"/>
            </p:custDataLst>
          </p:nvPr>
        </p:nvSpPr>
        <p:spPr>
          <a:xfrm>
            <a:off x="2560320" y="4117022"/>
            <a:ext cx="4023836" cy="764943"/>
          </a:xfrm>
        </p:spPr>
        <p:txBody>
          <a:bodyPr vert="horz" wrap="square" lIns="0" tIns="0" rIns="0" bIns="0" anchor="t" anchorCtr="0">
            <a:normAutofit/>
          </a:bodyPr>
          <a:lstStyle>
            <a:lvl1pPr marL="342900" marR="0" indent="-342900" algn="ctr" rtl="0" eaLnBrk="1" fontAlgn="auto">
              <a:lnSpc>
                <a:spcPct val="100000"/>
              </a:lnSpc>
              <a:spcBef>
                <a:spcPts val="0"/>
              </a:spcBef>
              <a:spcAft>
                <a:spcPts val="0"/>
              </a:spcAft>
              <a:buClrTx/>
              <a:buSzPts val="2000"/>
              <a:buFont typeface="Arial" panose="020B0604020202020204" pitchFamily="34" charset="0"/>
              <a:buNone/>
              <a:defRPr sz="1800" b="0" spc="200">
                <a:solidFill>
                  <a:schemeClr val="bg1"/>
                </a:solidFill>
                <a:latin typeface="Arial" panose="020B0604020202020204" pitchFamily="34" charset="0"/>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a:t>单击此处编辑副标题</a:t>
            </a:r>
            <a:endParaRPr lang="zh-CN" altLang="en-US"/>
          </a:p>
        </p:txBody>
      </p:sp>
      <p:sp>
        <p:nvSpPr>
          <p:cNvPr id="2" name="标题 1"/>
          <p:cNvSpPr>
            <a:spLocks noGrp="1"/>
          </p:cNvSpPr>
          <p:nvPr>
            <p:ph type="title" idx="13" hasCustomPrompt="1"/>
            <p:custDataLst>
              <p:tags r:id="rId10"/>
            </p:custDataLst>
          </p:nvPr>
        </p:nvSpPr>
        <p:spPr>
          <a:xfrm>
            <a:off x="2559844" y="2379663"/>
            <a:ext cx="4024313" cy="1398905"/>
          </a:xfrm>
        </p:spPr>
        <p:txBody>
          <a:bodyPr vert="horz" wrap="square" lIns="0" tIns="0" rIns="0" bIns="0" anchor="ctr" anchorCtr="0">
            <a:normAutofit/>
          </a:bodyPr>
          <a:lstStyle>
            <a:lvl1pPr marL="0" marR="0" indent="0" algn="dist" defTabSz="914400" rtl="0" eaLnBrk="1" fontAlgn="auto" latinLnBrk="0" hangingPunct="1">
              <a:lnSpc>
                <a:spcPct val="100000"/>
              </a:lnSpc>
              <a:spcBef>
                <a:spcPct val="0"/>
              </a:spcBef>
              <a:spcAft>
                <a:spcPts val="0"/>
              </a:spcAft>
              <a:buClrTx/>
              <a:buSzPts val="8000"/>
              <a:buNone/>
              <a:defRPr sz="6000" b="0" spc="1000">
                <a:solidFill>
                  <a:schemeClr val="bg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6" name="图片 5"/>
          <p:cNvPicPr/>
          <p:nvPr>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8"/>
            </p:custDataLst>
          </p:nvPr>
        </p:nvSpPr>
        <p:spPr>
          <a:xfrm>
            <a:off x="502412" y="443230"/>
            <a:ext cx="8139178"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8"/>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hasCustomPrompt="1"/>
            <p:custDataLst>
              <p:tags r:id="rId9"/>
            </p:custDataLst>
          </p:nvPr>
        </p:nvSpPr>
        <p:spPr>
          <a:xfrm>
            <a:off x="961200" y="1249200"/>
            <a:ext cx="7219800" cy="723600"/>
          </a:xfrm>
        </p:spPr>
        <p:txBody>
          <a:bodyPr wrap="square" anchor="ctr">
            <a:normAutofit/>
          </a:bodyPr>
          <a:lstStyle>
            <a:lvl1pP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960835" y="2163600"/>
            <a:ext cx="721995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7"/>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hasCustomPrompt="1"/>
            <p:custDataLst>
              <p:tags r:id="rId6"/>
            </p:custDataLst>
          </p:nvPr>
        </p:nvSpPr>
        <p:spPr>
          <a:xfrm>
            <a:off x="437400" y="770400"/>
            <a:ext cx="2970000" cy="8820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440100" y="1764000"/>
            <a:ext cx="29673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3825900" y="769938"/>
            <a:ext cx="486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9"/>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9"/>
            </p:custDataLst>
          </p:nvPr>
        </p:nvSpPr>
        <p:spPr>
          <a:xfrm>
            <a:off x="459000" y="781200"/>
            <a:ext cx="8232300" cy="626400"/>
          </a:xfrm>
        </p:spPr>
        <p:txBody>
          <a:bodyPr wrap="square" anchor="ctr">
            <a:normAutofit/>
          </a:bodyPr>
          <a:lstStyle>
            <a:lvl1pPr algn="ctr">
              <a:defRPr sz="27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459000" y="1659600"/>
            <a:ext cx="8231981"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459581" y="2808000"/>
            <a:ext cx="82242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0" y="5028971"/>
            <a:ext cx="9144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9"/>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540068" cy="514350"/>
          </a:xfrm>
          <a:prstGeom prst="rect">
            <a:avLst/>
          </a:prstGeom>
        </p:spPr>
      </p:pic>
      <p:pic>
        <p:nvPicPr>
          <p:cNvPr id="8" name="图片 7"/>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603933" y="0"/>
            <a:ext cx="540068" cy="514350"/>
          </a:xfrm>
          <a:prstGeom prst="rect">
            <a:avLst/>
          </a:prstGeom>
        </p:spPr>
      </p:pic>
      <p:sp>
        <p:nvSpPr>
          <p:cNvPr id="2" name="标题 1"/>
          <p:cNvSpPr>
            <a:spLocks noGrp="1"/>
          </p:cNvSpPr>
          <p:nvPr>
            <p:ph type="title"/>
            <p:custDataLst>
              <p:tags r:id="rId9"/>
            </p:custDataLst>
          </p:nvPr>
        </p:nvSpPr>
        <p:spPr>
          <a:xfrm>
            <a:off x="453600" y="669600"/>
            <a:ext cx="8232300" cy="565200"/>
          </a:xfrm>
        </p:spPr>
        <p:txBody>
          <a:bodyPr wrap="square" anchor="ctr" anchorCtr="0">
            <a:normAutofit/>
          </a:bodyPr>
          <a:lstStyle>
            <a:lvl1pPr algn="ct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453628" y="1681200"/>
            <a:ext cx="82431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445500" y="5180400"/>
            <a:ext cx="82512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p:custDataLst>
              <p:tags r:id="rId2"/>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11"/>
          <p:cNvPicPr/>
          <p:nvPr>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8603933" y="6343650"/>
            <a:ext cx="540068" cy="514350"/>
          </a:xfrm>
          <a:prstGeom prst="rect">
            <a:avLst/>
          </a:prstGeom>
        </p:spPr>
      </p:pic>
      <p:pic>
        <p:nvPicPr>
          <p:cNvPr id="10" name="图片 9"/>
          <p:cNvPicPr/>
          <p:nvPr>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343650"/>
            <a:ext cx="540068" cy="514350"/>
          </a:xfrm>
          <a:prstGeom prst="rect">
            <a:avLst/>
          </a:prstGeom>
        </p:spPr>
      </p:pic>
      <p:sp>
        <p:nvSpPr>
          <p:cNvPr id="2" name="标题 1"/>
          <p:cNvSpPr>
            <a:spLocks noGrp="1"/>
          </p:cNvSpPr>
          <p:nvPr>
            <p:ph type="title"/>
            <p:custDataLst>
              <p:tags r:id="rId9"/>
            </p:custDataLst>
          </p:nvPr>
        </p:nvSpPr>
        <p:spPr>
          <a:xfrm>
            <a:off x="434700" y="237600"/>
            <a:ext cx="82782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434700" y="1663200"/>
            <a:ext cx="40068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4681800" y="1663200"/>
            <a:ext cx="40257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429300" y="4816800"/>
            <a:ext cx="40068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4689900" y="4813200"/>
            <a:ext cx="40257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953691"/>
            <a:ext cx="9144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8"/>
          <p:cNvPicPr/>
          <p:nvPr>
            <p:custDataLst>
              <p:tags r:id="rId3"/>
            </p:custDataLst>
          </p:nvPr>
        </p:nvPicPr>
        <p:blipFill>
          <a:blip r:embed="rId4" r:link="rId5">
            <a:extLst>
              <a:ext uri="{28A0092B-C50C-407E-A947-70E740481C1C}">
                <a14:useLocalDpi xmlns:a14="http://schemas.microsoft.com/office/drawing/2010/main" val="0"/>
              </a:ext>
            </a:extLst>
          </a:blip>
          <a:stretch>
            <a:fillRect/>
          </a:stretch>
        </p:blipFill>
        <p:spPr>
          <a:xfrm>
            <a:off x="7928848" y="5700713"/>
            <a:ext cx="1215152" cy="1157288"/>
          </a:xfrm>
          <a:prstGeom prst="rect">
            <a:avLst/>
          </a:prstGeom>
        </p:spPr>
      </p:pic>
      <p:pic>
        <p:nvPicPr>
          <p:cNvPr id="8" name="图片 7"/>
          <p:cNvPicPr/>
          <p:nvPr>
            <p:custDataLst>
              <p:tags r:id="rId6"/>
            </p:custDataLst>
          </p:nvPr>
        </p:nvPicPr>
        <p:blipFill>
          <a:blip r:embed="rId7" r:link="rId8">
            <a:extLst>
              <a:ext uri="{28A0092B-C50C-407E-A947-70E740481C1C}">
                <a14:useLocalDpi xmlns:a14="http://schemas.microsoft.com/office/drawing/2010/main" val="0"/>
              </a:ext>
            </a:extLst>
          </a:blip>
          <a:stretch>
            <a:fillRect/>
          </a:stretch>
        </p:blipFill>
        <p:spPr>
          <a:xfrm>
            <a:off x="0" y="5700713"/>
            <a:ext cx="1215152" cy="1157288"/>
          </a:xfrm>
          <a:prstGeom prst="rect">
            <a:avLst/>
          </a:prstGeom>
        </p:spPr>
      </p:pic>
      <p:sp>
        <p:nvSpPr>
          <p:cNvPr id="2" name="标题 1"/>
          <p:cNvSpPr>
            <a:spLocks noGrp="1"/>
          </p:cNvSpPr>
          <p:nvPr>
            <p:ph type="title" hasCustomPrompt="1"/>
            <p:custDataLst>
              <p:tags r:id="rId9"/>
            </p:custDataLst>
          </p:nvPr>
        </p:nvSpPr>
        <p:spPr>
          <a:xfrm>
            <a:off x="1142100" y="1339200"/>
            <a:ext cx="6858000" cy="23868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a:xfrm>
            <a:off x="659807"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49833"/>
            <a:ext cx="297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49833"/>
            <a:ext cx="2025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141810" y="3862800"/>
            <a:ext cx="6858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cent Project Info">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2001441" y="2019300"/>
            <a:ext cx="2209800" cy="3810000"/>
          </a:xfrm>
          <a:prstGeom prst="rect">
            <a:avLst/>
          </a:prstGeom>
          <a:solidFill>
            <a:schemeClr val="bg1">
              <a:lumMod val="85000"/>
            </a:schemeClr>
          </a:solidFill>
        </p:spPr>
        <p:txBody>
          <a:bodyPr/>
          <a:lstStyle/>
          <a:p>
            <a:endParaRPr lang="en-US"/>
          </a:p>
        </p:txBody>
      </p:sp>
      <p:sp>
        <p:nvSpPr>
          <p:cNvPr id="12" name="Picture Placeholder 10"/>
          <p:cNvSpPr>
            <a:spLocks noGrp="1"/>
          </p:cNvSpPr>
          <p:nvPr>
            <p:ph type="pic" sz="quarter" idx="11"/>
          </p:nvPr>
        </p:nvSpPr>
        <p:spPr>
          <a:xfrm>
            <a:off x="6220809" y="2019300"/>
            <a:ext cx="2209800" cy="3810000"/>
          </a:xfrm>
          <a:prstGeom prst="rect">
            <a:avLst/>
          </a:prstGeom>
          <a:solidFill>
            <a:schemeClr val="bg1">
              <a:lumMod val="85000"/>
            </a:schemeClr>
          </a:solidFill>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443230"/>
            <a:ext cx="8139178"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02412" y="961398"/>
            <a:ext cx="8139178"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659807" y="6349833"/>
            <a:ext cx="2025000" cy="316800"/>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087000" y="6349833"/>
            <a:ext cx="2970000" cy="3168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6349833"/>
            <a:ext cx="2025000" cy="3168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685800" rtl="0" eaLnBrk="1" fontAlgn="auto" latinLnBrk="0" hangingPunct="1">
        <a:lnSpc>
          <a:spcPct val="100000"/>
        </a:lnSpc>
        <a:spcBef>
          <a:spcPct val="0"/>
        </a:spcBef>
        <a:buNone/>
        <a:defRPr sz="18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themeOverride" Target="../theme/themeOverride1.xml"/><Relationship Id="rId1" Type="http://schemas.openxmlformats.org/officeDocument/2006/relationships/tags" Target="../tags/tag13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1.xml"/><Relationship Id="rId2" Type="http://schemas.openxmlformats.org/officeDocument/2006/relationships/image" Target="../media/image7.png"/><Relationship Id="rId1"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4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3.xml"/><Relationship Id="rId2" Type="http://schemas.openxmlformats.org/officeDocument/2006/relationships/image" Target="../media/image8.png"/><Relationship Id="rId1" Type="http://schemas.openxmlformats.org/officeDocument/2006/relationships/customXml" Target="../ink/ink2.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4.xml"/><Relationship Id="rId2" Type="http://schemas.openxmlformats.org/officeDocument/2006/relationships/image" Target="../media/image9.png"/><Relationship Id="rId1" Type="http://schemas.openxmlformats.org/officeDocument/2006/relationships/customXml" Target="../ink/ink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4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9.xml"/><Relationship Id="rId2" Type="http://schemas.openxmlformats.org/officeDocument/2006/relationships/image" Target="../media/image10.png"/><Relationship Id="rId1" Type="http://schemas.openxmlformats.org/officeDocument/2006/relationships/customXml" Target="../ink/ink4.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0.xml"/><Relationship Id="rId2" Type="http://schemas.openxmlformats.org/officeDocument/2006/relationships/image" Target="../media/image11.png"/><Relationship Id="rId1" Type="http://schemas.openxmlformats.org/officeDocument/2006/relationships/customXml" Target="../ink/ink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p:cNvPicPr>
            <a:picLocks noGrp="1" noChangeAspect="1"/>
          </p:cNvPicPr>
          <p:nvPr>
            <p:ph type="pic" idx="4294967295"/>
          </p:nvPr>
        </p:nvPicPr>
        <p:blipFill>
          <a:blip r:embed="rId1">
            <a:extLst>
              <a:ext uri="{28A0092B-C50C-407E-A947-70E740481C1C}">
                <a14:useLocalDpi xmlns:a14="http://schemas.microsoft.com/office/drawing/2010/main" val="0"/>
              </a:ext>
            </a:extLst>
          </a:blip>
          <a:srcRect t="28923" b="28923"/>
          <a:stretch>
            <a:fillRect/>
          </a:stretch>
        </p:blipFill>
        <p:spPr>
          <a:xfrm>
            <a:off x="0" y="857250"/>
            <a:ext cx="9144000" cy="2227898"/>
          </a:xfrm>
          <a:prstGeom prst="rect">
            <a:avLst/>
          </a:prstGeom>
          <a:solidFill>
            <a:schemeClr val="bg1">
              <a:lumMod val="65000"/>
            </a:schemeClr>
          </a:solidFill>
        </p:spPr>
      </p:pic>
      <p:sp>
        <p:nvSpPr>
          <p:cNvPr id="5" name="TextBox 1"/>
          <p:cNvSpPr txBox="1"/>
          <p:nvPr/>
        </p:nvSpPr>
        <p:spPr>
          <a:xfrm>
            <a:off x="2288825" y="3480582"/>
            <a:ext cx="4566920" cy="1649730"/>
          </a:xfrm>
          <a:prstGeom prst="rect">
            <a:avLst/>
          </a:prstGeom>
          <a:noFill/>
        </p:spPr>
        <p:txBody>
          <a:bodyPr wrap="none" rtlCol="0">
            <a:spAutoFit/>
          </a:bodyPr>
          <a:lstStyle/>
          <a:p>
            <a:pPr algn="ctr"/>
            <a:r>
              <a:rPr lang="zh-CN" altLang="en-US" sz="8625" b="1" dirty="0">
                <a:solidFill>
                  <a:schemeClr val="accent5">
                    <a:lumMod val="75000"/>
                  </a:schemeClr>
                </a:solidFill>
                <a:effectLst>
                  <a:outerShdw blurRad="38100" dist="25400" dir="5400000" algn="ctr" rotWithShape="0">
                    <a:srgbClr val="6E747A">
                      <a:alpha val="43000"/>
                    </a:srgbClr>
                  </a:outerShdw>
                </a:effectLst>
                <a:cs typeface="+mn-ea"/>
                <a:sym typeface="+mn-ea"/>
              </a:rPr>
              <a:t>移动语义</a:t>
            </a:r>
            <a:endParaRPr lang="en-US" altLang="zh-CN" sz="2700" b="1" dirty="0">
              <a:solidFill>
                <a:schemeClr val="tx1">
                  <a:lumMod val="50000"/>
                  <a:lumOff val="50000"/>
                </a:schemeClr>
              </a:solidFill>
              <a:cs typeface="+mn-ea"/>
              <a:sym typeface="+mn-lt"/>
            </a:endParaRPr>
          </a:p>
          <a:p>
            <a:pPr algn="ctr"/>
            <a:endParaRPr lang="en-US" altLang="zh-CN" sz="750" dirty="0" smtClean="0">
              <a:solidFill>
                <a:schemeClr val="tx1">
                  <a:lumMod val="50000"/>
                  <a:lumOff val="50000"/>
                </a:schemeClr>
              </a:solidFill>
              <a:cs typeface="+mn-ea"/>
              <a:sym typeface="+mn-lt"/>
            </a:endParaRPr>
          </a:p>
          <a:p>
            <a:pPr algn="ctr"/>
            <a:endParaRPr lang="en-US" sz="750" dirty="0">
              <a:solidFill>
                <a:schemeClr val="tx1">
                  <a:lumMod val="50000"/>
                  <a:lumOff val="50000"/>
                </a:schemeClr>
              </a:solidFill>
              <a:cs typeface="+mn-ea"/>
              <a:sym typeface="+mn-lt"/>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23" name="Text Box 3"/>
          <p:cNvSpPr>
            <a:spLocks noChangeArrowheads="1"/>
          </p:cNvSpPr>
          <p:nvPr/>
        </p:nvSpPr>
        <p:spPr bwMode="auto">
          <a:xfrm>
            <a:off x="4217481" y="3162185"/>
            <a:ext cx="126746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拷贝</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nvSpPr>
        <p:spPr bwMode="auto">
          <a:xfrm>
            <a:off x="4322891" y="2649895"/>
            <a:ext cx="10972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移动语义</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nvSpPr>
        <p:spPr bwMode="auto">
          <a:xfrm>
            <a:off x="5545075"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01</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50" advTm="0">
        <p:pull/>
      </p:transition>
    </mc:Choice>
    <mc:Fallback>
      <p:transition spd="med" advTm="0">
        <p:pull/>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13410"/>
            <a:ext cx="8229600" cy="5512435"/>
          </a:xfrm>
        </p:spPr>
        <p:txBody>
          <a:bodyPr>
            <a:normAutofit/>
          </a:bodyPr>
          <a:lstStyle/>
          <a:p>
            <a:pPr marL="0" indent="0">
              <a:buNone/>
            </a:pPr>
            <a:r>
              <a:rPr sz="2400" b="1" dirty="0" err="1">
                <a:latin typeface="微软雅黑" panose="020B0503020204020204" charset="-122"/>
                <a:cs typeface="微软雅黑" panose="020B0503020204020204" charset="-122"/>
                <a:sym typeface="+mn-ea"/>
              </a:rPr>
              <a:t>一个形象的比喻</a:t>
            </a:r>
            <a:endParaRPr sz="2400" b="1" dirty="0" err="1">
              <a:latin typeface="微软雅黑" panose="020B0503020204020204" charset="-122"/>
              <a:cs typeface="微软雅黑" panose="020B0503020204020204" charset="-122"/>
              <a:sym typeface="+mn-ea"/>
            </a:endParaRPr>
          </a:p>
          <a:p>
            <a:pPr marL="0" indent="0">
              <a:buNone/>
            </a:pPr>
            <a:endParaRPr sz="1600" b="1" spc="0" dirty="0">
              <a:solidFill>
                <a:srgbClr val="FF0000"/>
              </a:solidFill>
              <a:sym typeface="+mn-ea"/>
            </a:endParaRPr>
          </a:p>
          <a:p>
            <a:pPr marL="0" indent="0">
              <a:buNone/>
            </a:pPr>
            <a:r>
              <a:rPr sz="1600" b="1" spc="0" dirty="0">
                <a:solidFill>
                  <a:srgbClr val="FF0000"/>
                </a:solidFill>
                <a:sym typeface="+mn-ea"/>
              </a:rPr>
              <a:t>如何把一个冰箱里的大象放到另一个冰箱中?</a:t>
            </a:r>
            <a:endParaRPr sz="1600" b="1" spc="0" dirty="0">
              <a:solidFill>
                <a:srgbClr val="FF0000"/>
              </a:solidFill>
              <a:sym typeface="+mn-ea"/>
            </a:endParaRPr>
          </a:p>
          <a:p>
            <a:pPr marL="0" indent="0">
              <a:lnSpc>
                <a:spcPct val="150000"/>
              </a:lnSpc>
              <a:buNone/>
            </a:pPr>
            <a:endParaRPr sz="1600" spc="0" dirty="0">
              <a:solidFill>
                <a:schemeClr val="tx1">
                  <a:lumMod val="65000"/>
                  <a:lumOff val="35000"/>
                </a:schemeClr>
              </a:solidFill>
              <a:sym typeface="+mn-ea"/>
            </a:endParaRPr>
          </a:p>
          <a:p>
            <a:pPr>
              <a:lnSpc>
                <a:spcPct val="150000"/>
              </a:lnSpc>
            </a:pPr>
            <a:r>
              <a:rPr sz="1600" spc="0" dirty="0">
                <a:solidFill>
                  <a:schemeClr val="tx1">
                    <a:lumMod val="65000"/>
                    <a:lumOff val="35000"/>
                  </a:schemeClr>
                </a:solidFill>
                <a:sym typeface="+mn-ea"/>
              </a:rPr>
              <a:t>打开冰箱1的门，打开冰箱2的门，将冰箱1里的大象移动冰箱2中，关上冰箱门</a:t>
            </a:r>
            <a:endParaRPr sz="1600" spc="0" dirty="0">
              <a:solidFill>
                <a:schemeClr val="tx1">
                  <a:lumMod val="65000"/>
                  <a:lumOff val="35000"/>
                </a:schemeClr>
              </a:solidFill>
              <a:sym typeface="+mn-ea"/>
            </a:endParaRPr>
          </a:p>
          <a:p>
            <a:pPr>
              <a:lnSpc>
                <a:spcPct val="150000"/>
              </a:lnSpc>
            </a:pPr>
            <a:r>
              <a:rPr sz="1600" spc="0" dirty="0">
                <a:solidFill>
                  <a:schemeClr val="tx1">
                    <a:lumMod val="65000"/>
                    <a:lumOff val="35000"/>
                  </a:schemeClr>
                </a:solidFill>
                <a:sym typeface="+mn-ea"/>
              </a:rPr>
              <a:t>将冰箱</a:t>
            </a:r>
            <a:r>
              <a:rPr lang="en-US" altLang="zh-CN" sz="1600" spc="0" dirty="0">
                <a:solidFill>
                  <a:schemeClr val="tx1">
                    <a:lumMod val="65000"/>
                    <a:lumOff val="35000"/>
                  </a:schemeClr>
                </a:solidFill>
                <a:sym typeface="+mn-ea"/>
              </a:rPr>
              <a:t>1</a:t>
            </a:r>
            <a:r>
              <a:rPr sz="1600" spc="0" dirty="0">
                <a:solidFill>
                  <a:schemeClr val="tx1">
                    <a:lumMod val="65000"/>
                    <a:lumOff val="35000"/>
                  </a:schemeClr>
                </a:solidFill>
                <a:sym typeface="+mn-ea"/>
              </a:rPr>
              <a:t>里的大象复制一头，将复制的大象放到冰箱</a:t>
            </a:r>
            <a:r>
              <a:rPr lang="en-US" altLang="zh-CN" sz="1600" spc="0" dirty="0">
                <a:solidFill>
                  <a:schemeClr val="tx1">
                    <a:lumMod val="65000"/>
                    <a:lumOff val="35000"/>
                  </a:schemeClr>
                </a:solidFill>
                <a:sym typeface="+mn-ea"/>
              </a:rPr>
              <a:t>2</a:t>
            </a:r>
            <a:r>
              <a:rPr sz="1600" spc="0" dirty="0">
                <a:solidFill>
                  <a:schemeClr val="tx1">
                    <a:lumMod val="65000"/>
                    <a:lumOff val="35000"/>
                  </a:schemeClr>
                </a:solidFill>
                <a:sym typeface="+mn-ea"/>
              </a:rPr>
              <a:t>中，再让冰箱</a:t>
            </a:r>
            <a:r>
              <a:rPr lang="en-US" altLang="zh-CN" sz="1600" spc="0" dirty="0">
                <a:solidFill>
                  <a:schemeClr val="tx1">
                    <a:lumMod val="65000"/>
                    <a:lumOff val="35000"/>
                  </a:schemeClr>
                </a:solidFill>
                <a:sym typeface="+mn-ea"/>
              </a:rPr>
              <a:t>1</a:t>
            </a:r>
            <a:r>
              <a:rPr sz="1600" spc="0" dirty="0">
                <a:solidFill>
                  <a:schemeClr val="tx1">
                    <a:lumMod val="65000"/>
                    <a:lumOff val="35000"/>
                  </a:schemeClr>
                </a:solidFill>
                <a:sym typeface="+mn-ea"/>
              </a:rPr>
              <a:t>里的大象消失掉。这种方法是不是感觉似曾相识，这个就是C ++中拷贝复制的概念。 一种很自然的方法结果在C ++中表现的如此纠结</a:t>
            </a:r>
            <a:endParaRPr sz="1600" spc="0" dirty="0">
              <a:solidFill>
                <a:schemeClr val="tx1">
                  <a:lumMod val="65000"/>
                  <a:lumOff val="35000"/>
                </a:schemeClr>
              </a:solidFill>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sz="2700" dirty="0" err="1" smtClean="0">
                <a:latin typeface="微软雅黑" panose="020B0503020204020204" charset="-122"/>
                <a:cs typeface="微软雅黑" panose="020B0503020204020204" charset="-122"/>
              </a:rPr>
              <a:t>复制语义</a:t>
            </a:r>
            <a:endParaRPr sz="2700" dirty="0" err="1" smtClean="0">
              <a:latin typeface="微软雅黑" panose="020B0503020204020204" charset="-122"/>
              <a:cs typeface="微软雅黑" panose="020B0503020204020204" charset="-122"/>
            </a:endParaRPr>
          </a:p>
        </p:txBody>
      </p:sp>
      <p:sp>
        <p:nvSpPr>
          <p:cNvPr id="3" name="内容占位符 2"/>
          <p:cNvSpPr>
            <a:spLocks noGrp="1"/>
          </p:cNvSpPr>
          <p:nvPr>
            <p:ph idx="1"/>
          </p:nvPr>
        </p:nvSpPr>
        <p:spPr>
          <a:xfrm>
            <a:off x="410845" y="1184910"/>
            <a:ext cx="8512175" cy="5396230"/>
          </a:xfrm>
        </p:spPr>
        <p:txBody>
          <a:bodyPr/>
          <a:lstStyle/>
          <a:p>
            <a:pPr marL="0" indent="0">
              <a:lnSpc>
                <a:spcPct val="150000"/>
              </a:lnSpc>
              <a:buNone/>
            </a:pPr>
            <a:endParaRPr sz="1600" spc="0">
              <a:solidFill>
                <a:schemeClr val="tx1">
                  <a:lumMod val="65000"/>
                  <a:lumOff val="35000"/>
                </a:schemeClr>
              </a:solidFill>
              <a:latin typeface="+mn-ea"/>
              <a:ea typeface="+mn-ea"/>
            </a:endParaRPr>
          </a:p>
          <a:p>
            <a:pPr marL="0" indent="0">
              <a:lnSpc>
                <a:spcPct val="150000"/>
              </a:lnSpc>
              <a:buNone/>
            </a:pPr>
            <a:r>
              <a:rPr sz="1600" spc="0">
                <a:solidFill>
                  <a:schemeClr val="tx1">
                    <a:lumMod val="65000"/>
                    <a:lumOff val="35000"/>
                  </a:schemeClr>
                </a:solidFill>
                <a:latin typeface="+mn-ea"/>
                <a:ea typeface="+mn-ea"/>
              </a:rPr>
              <a:t>C++11 之前只有复制</a:t>
            </a:r>
            <a:r>
              <a:rPr lang="en-US" altLang="zh-CN" sz="1600" spc="0">
                <a:solidFill>
                  <a:schemeClr val="tx1">
                    <a:lumMod val="65000"/>
                    <a:lumOff val="35000"/>
                  </a:schemeClr>
                </a:solidFill>
                <a:latin typeface="+mn-ea"/>
                <a:ea typeface="+mn-ea"/>
              </a:rPr>
              <a:t>(</a:t>
            </a:r>
            <a:r>
              <a:rPr sz="1600" spc="0">
                <a:solidFill>
                  <a:schemeClr val="tx1">
                    <a:lumMod val="65000"/>
                    <a:lumOff val="35000"/>
                  </a:schemeClr>
                </a:solidFill>
                <a:latin typeface="+mn-ea"/>
                <a:ea typeface="+mn-ea"/>
              </a:rPr>
              <a:t>拷贝</a:t>
            </a:r>
            <a:r>
              <a:rPr lang="en-US" altLang="zh-CN" sz="1600" spc="0">
                <a:solidFill>
                  <a:schemeClr val="tx1">
                    <a:lumMod val="65000"/>
                    <a:lumOff val="35000"/>
                  </a:schemeClr>
                </a:solidFill>
                <a:latin typeface="+mn-ea"/>
                <a:ea typeface="+mn-ea"/>
              </a:rPr>
              <a:t>)</a:t>
            </a:r>
            <a:r>
              <a:rPr sz="1600" spc="0">
                <a:solidFill>
                  <a:schemeClr val="tx1">
                    <a:lumMod val="65000"/>
                    <a:lumOff val="35000"/>
                  </a:schemeClr>
                </a:solidFill>
                <a:latin typeface="+mn-ea"/>
                <a:ea typeface="+mn-ea"/>
              </a:rPr>
              <a:t>语义，定义了</a:t>
            </a:r>
            <a:r>
              <a:rPr sz="1600" b="1" spc="0">
                <a:solidFill>
                  <a:schemeClr val="tx1">
                    <a:lumMod val="65000"/>
                    <a:lumOff val="35000"/>
                  </a:schemeClr>
                </a:solidFill>
                <a:latin typeface="+mn-ea"/>
                <a:ea typeface="+mn-ea"/>
              </a:rPr>
              <a:t>析构函数</a:t>
            </a:r>
            <a:r>
              <a:rPr sz="1600" spc="0">
                <a:solidFill>
                  <a:schemeClr val="tx1">
                    <a:lumMod val="65000"/>
                    <a:lumOff val="35000"/>
                  </a:schemeClr>
                </a:solidFill>
                <a:latin typeface="+mn-ea"/>
                <a:ea typeface="+mn-ea"/>
              </a:rPr>
              <a:t>，</a:t>
            </a:r>
            <a:r>
              <a:rPr sz="1600" b="1" spc="0">
                <a:solidFill>
                  <a:schemeClr val="tx1">
                    <a:lumMod val="65000"/>
                    <a:lumOff val="35000"/>
                  </a:schemeClr>
                </a:solidFill>
                <a:latin typeface="+mn-ea"/>
                <a:ea typeface="+mn-ea"/>
              </a:rPr>
              <a:t>复制构造函数</a:t>
            </a:r>
            <a:r>
              <a:rPr sz="1600" spc="0">
                <a:solidFill>
                  <a:schemeClr val="tx1">
                    <a:lumMod val="65000"/>
                    <a:lumOff val="35000"/>
                  </a:schemeClr>
                </a:solidFill>
                <a:latin typeface="+mn-ea"/>
                <a:ea typeface="+mn-ea"/>
              </a:rPr>
              <a:t>，</a:t>
            </a:r>
            <a:r>
              <a:rPr sz="1600" b="1" spc="0">
                <a:solidFill>
                  <a:schemeClr val="tx1">
                    <a:lumMod val="65000"/>
                    <a:lumOff val="35000"/>
                  </a:schemeClr>
                </a:solidFill>
                <a:latin typeface="+mn-ea"/>
                <a:ea typeface="+mn-ea"/>
              </a:rPr>
              <a:t>赋值函数</a:t>
            </a:r>
            <a:r>
              <a:rPr sz="1600" spc="0">
                <a:solidFill>
                  <a:schemeClr val="tx1">
                    <a:lumMod val="65000"/>
                    <a:lumOff val="35000"/>
                  </a:schemeClr>
                </a:solidFill>
                <a:latin typeface="+mn-ea"/>
                <a:ea typeface="+mn-ea"/>
              </a:rPr>
              <a:t>就称有了拷贝控制。对对象的非指针，非引用的行为都会使用复制语义。在拥有内存资源对象中，都会定义这三个函数以实现</a:t>
            </a:r>
            <a:r>
              <a:rPr sz="1600" b="1" spc="0">
                <a:solidFill>
                  <a:schemeClr val="tx1">
                    <a:lumMod val="65000"/>
                    <a:lumOff val="35000"/>
                  </a:schemeClr>
                </a:solidFill>
                <a:latin typeface="+mn-ea"/>
                <a:ea typeface="+mn-ea"/>
              </a:rPr>
              <a:t>深拷贝</a:t>
            </a:r>
            <a:r>
              <a:rPr sz="1600" spc="0">
                <a:solidFill>
                  <a:schemeClr val="tx1">
                    <a:lumMod val="65000"/>
                    <a:lumOff val="35000"/>
                  </a:schemeClr>
                </a:solidFill>
                <a:latin typeface="+mn-ea"/>
                <a:ea typeface="+mn-ea"/>
              </a:rPr>
              <a:t>，但是在某些场景中，对象拷贝后就立即被销毁了，在这些情况下，如果只是移动而非拷贝对象会大幅度提升性能</a:t>
            </a:r>
            <a:endParaRPr sz="1600" spc="0">
              <a:solidFill>
                <a:schemeClr val="tx1">
                  <a:lumMod val="65000"/>
                  <a:lumOff val="35000"/>
                </a:schemeClr>
              </a:solidFill>
              <a:latin typeface="+mn-ea"/>
              <a:ea typeface="+mn-ea"/>
            </a:endParaRPr>
          </a:p>
          <a:p>
            <a:pPr marL="0" indent="0">
              <a:lnSpc>
                <a:spcPct val="150000"/>
              </a:lnSpc>
              <a:buNone/>
            </a:pPr>
            <a:endParaRPr sz="1600" spc="0">
              <a:solidFill>
                <a:schemeClr val="tx1">
                  <a:lumMod val="65000"/>
                  <a:lumOff val="35000"/>
                </a:schemeClr>
              </a:solidFill>
              <a:latin typeface="+mn-ea"/>
              <a:ea typeface="+mn-ea"/>
            </a:endParaRPr>
          </a:p>
          <a:p>
            <a:pPr marL="0" indent="0">
              <a:lnSpc>
                <a:spcPct val="150000"/>
              </a:lnSpc>
              <a:buNone/>
            </a:pPr>
            <a:endParaRPr sz="1600" b="1" spc="0">
              <a:solidFill>
                <a:srgbClr val="FF0000"/>
              </a:solidFill>
              <a:latin typeface="+mn-ea"/>
              <a:ea typeface="+mn-ea"/>
            </a:endParaRPr>
          </a:p>
        </p:txBody>
      </p:sp>
      <mc:AlternateContent xmlns:mc="http://schemas.openxmlformats.org/markup-compatibility/2006" xmlns:p14="http://schemas.microsoft.com/office/powerpoint/2010/main">
        <mc:Choice Requires="p14">
          <p:contentPart r:id="rId1" p14:bwMode="auto">
            <p14:nvContentPartPr>
              <p14:cNvPr id="14" name="墨迹 13"/>
              <p14:cNvContentPartPr/>
              <p14:nvPr/>
            </p14:nvContentPartPr>
            <p14:xfrm>
              <a:off x="7423150" y="2774950"/>
              <a:ext cx="177800" cy="25400"/>
            </p14:xfrm>
          </p:contentPart>
        </mc:Choice>
        <mc:Fallback xmlns="">
          <p:pic>
            <p:nvPicPr>
              <p:cNvPr id="14" name="墨迹 13"/>
            </p:nvPicPr>
            <p:blipFill>
              <a:blip r:embed="rId2"/>
            </p:blipFill>
            <p:spPr>
              <a:xfrm>
                <a:off x="7423150" y="2774950"/>
                <a:ext cx="177800" cy="25400"/>
              </a:xfrm>
              <a:prstGeom prst="rect"/>
            </p:spPr>
          </p:pic>
        </mc:Fallback>
      </mc:AlternateContent>
    </p:spTree>
    <p:custDataLst>
      <p:tags r:id="rId3"/>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421451" y="3162185"/>
            <a:ext cx="506349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左值引用和右值引用</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nvSpPr>
        <p:spPr bwMode="auto">
          <a:xfrm>
            <a:off x="4322891" y="2649895"/>
            <a:ext cx="10972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移动语义</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nvSpPr>
        <p:spPr bwMode="auto">
          <a:xfrm>
            <a:off x="5545075"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02</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50" advTm="0">
        <p:pull/>
      </p:transition>
    </mc:Choice>
    <mc:Fallback>
      <p:transition spd="med" advTm="0">
        <p:pull/>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1810" y="1208405"/>
            <a:ext cx="8276590" cy="5310505"/>
          </a:xfrm>
        </p:spPr>
        <p:txBody>
          <a:bodyPr>
            <a:normAutofit/>
          </a:bodyPr>
          <a:lstStyle/>
          <a:p>
            <a:pPr marL="0" indent="0">
              <a:lnSpc>
                <a:spcPct val="160000"/>
              </a:lnSpc>
              <a:buNone/>
            </a:pPr>
            <a:r>
              <a:rPr sz="1600" spc="0" dirty="0">
                <a:solidFill>
                  <a:schemeClr val="tx1">
                    <a:lumMod val="65000"/>
                    <a:lumOff val="35000"/>
                  </a:schemeClr>
                </a:solidFill>
                <a:ea typeface="微软雅黑" panose="020B0503020204020204" charset="-122"/>
              </a:rPr>
              <a:t>在赋值操作符的左边即为左值，在赋值操作符的右边即为右值</a:t>
            </a:r>
            <a:endParaRPr sz="1600" spc="0" dirty="0">
              <a:solidFill>
                <a:schemeClr val="tx1">
                  <a:lumMod val="65000"/>
                  <a:lumOff val="35000"/>
                </a:schemeClr>
              </a:solidFill>
              <a:ea typeface="微软雅黑" panose="020B0503020204020204" charset="-122"/>
            </a:endParaRPr>
          </a:p>
          <a:p>
            <a:pPr marL="0" indent="0">
              <a:lnSpc>
                <a:spcPct val="160000"/>
              </a:lnSpc>
              <a:buNone/>
            </a:pPr>
            <a:r>
              <a:rPr sz="1600" spc="0" dirty="0">
                <a:solidFill>
                  <a:schemeClr val="tx1">
                    <a:lumMod val="65000"/>
                    <a:lumOff val="35000"/>
                  </a:schemeClr>
                </a:solidFill>
                <a:ea typeface="微软雅黑" panose="020B0503020204020204" charset="-122"/>
              </a:rPr>
              <a:t>也可以这样理解左值和右值：</a:t>
            </a:r>
            <a:endParaRPr sz="1600" spc="0" dirty="0">
              <a:solidFill>
                <a:schemeClr val="tx1">
                  <a:lumMod val="65000"/>
                  <a:lumOff val="35000"/>
                </a:schemeClr>
              </a:solidFill>
              <a:ea typeface="微软雅黑" panose="020B0503020204020204" charset="-122"/>
            </a:endParaRPr>
          </a:p>
          <a:p>
            <a:pPr>
              <a:lnSpc>
                <a:spcPct val="160000"/>
              </a:lnSpc>
            </a:pPr>
            <a:r>
              <a:rPr sz="1600" spc="0" dirty="0">
                <a:solidFill>
                  <a:schemeClr val="tx1">
                    <a:lumMod val="65000"/>
                    <a:lumOff val="35000"/>
                  </a:schemeClr>
                </a:solidFill>
                <a:ea typeface="微软雅黑" panose="020B0503020204020204" charset="-122"/>
              </a:rPr>
              <a:t>左值是有名字，可以取地址的值</a:t>
            </a:r>
            <a:endParaRPr sz="1600" spc="0" dirty="0">
              <a:solidFill>
                <a:schemeClr val="tx1">
                  <a:lumMod val="65000"/>
                  <a:lumOff val="35000"/>
                </a:schemeClr>
              </a:solidFill>
              <a:ea typeface="微软雅黑" panose="020B0503020204020204" charset="-122"/>
            </a:endParaRPr>
          </a:p>
          <a:p>
            <a:pPr>
              <a:lnSpc>
                <a:spcPct val="160000"/>
              </a:lnSpc>
            </a:pPr>
            <a:r>
              <a:rPr sz="1600" spc="0" dirty="0">
                <a:solidFill>
                  <a:schemeClr val="tx1">
                    <a:lumMod val="65000"/>
                    <a:lumOff val="35000"/>
                  </a:schemeClr>
                </a:solidFill>
                <a:ea typeface="微软雅黑" panose="020B0503020204020204" charset="-122"/>
              </a:rPr>
              <a:t>右值是字面量等取不了地址值，没有名字的值</a:t>
            </a:r>
            <a:endParaRPr sz="1600" spc="0" dirty="0">
              <a:solidFill>
                <a:schemeClr val="tx1">
                  <a:lumMod val="65000"/>
                  <a:lumOff val="35000"/>
                </a:schemeClr>
              </a:solidFill>
              <a:ea typeface="微软雅黑" panose="020B0503020204020204" charset="-122"/>
            </a:endParaRPr>
          </a:p>
          <a:p>
            <a:pPr marL="0" indent="0">
              <a:lnSpc>
                <a:spcPct val="160000"/>
              </a:lnSpc>
              <a:buNone/>
            </a:pPr>
            <a:r>
              <a:rPr sz="1400" b="1" spc="0" dirty="0">
                <a:solidFill>
                  <a:srgbClr val="FF0000"/>
                </a:solidFill>
                <a:ea typeface="微软雅黑" panose="020B0503020204020204" charset="-122"/>
              </a:rPr>
              <a:t>int i = 18；//i即为左值，18 字面量即为右值，可以对i取地址，但是不能对18取地址</a:t>
            </a:r>
            <a:endParaRPr sz="1400" b="1" spc="0" dirty="0">
              <a:solidFill>
                <a:srgbClr val="FF0000"/>
              </a:solidFill>
              <a:ea typeface="微软雅黑" panose="020B0503020204020204" charset="-122"/>
            </a:endParaRPr>
          </a:p>
          <a:p>
            <a:pPr marL="0" indent="0">
              <a:lnSpc>
                <a:spcPct val="160000"/>
              </a:lnSpc>
              <a:buNone/>
            </a:pPr>
            <a:r>
              <a:rPr sz="1400" b="1" spc="0" dirty="0">
                <a:solidFill>
                  <a:srgbClr val="FF0000"/>
                </a:solidFill>
                <a:ea typeface="微软雅黑" panose="020B0503020204020204" charset="-122"/>
              </a:rPr>
              <a:t>int &amp;r = i; //&amp;r为左值引用</a:t>
            </a:r>
            <a:endParaRPr sz="1400" b="1" spc="0" dirty="0">
              <a:solidFill>
                <a:srgbClr val="FF0000"/>
              </a:solidFill>
              <a:ea typeface="微软雅黑" panose="020B0503020204020204" charset="-122"/>
            </a:endParaRPr>
          </a:p>
          <a:p>
            <a:pPr marL="0" indent="0">
              <a:lnSpc>
                <a:spcPct val="160000"/>
              </a:lnSpc>
              <a:buNone/>
            </a:pPr>
            <a:r>
              <a:rPr sz="1400" b="1" spc="0" dirty="0">
                <a:solidFill>
                  <a:srgbClr val="FF0000"/>
                </a:solidFill>
                <a:ea typeface="微软雅黑" panose="020B0503020204020204" charset="-122"/>
              </a:rPr>
              <a:t>int &amp;r3 = 18*i; //&amp;r3不能引用一个右值</a:t>
            </a:r>
            <a:endParaRPr sz="1400" b="1" spc="0" dirty="0">
              <a:solidFill>
                <a:srgbClr val="FF0000"/>
              </a:solidFill>
              <a:ea typeface="微软雅黑" panose="020B0503020204020204" charset="-122"/>
            </a:endParaRPr>
          </a:p>
          <a:p>
            <a:pPr>
              <a:lnSpc>
                <a:spcPct val="160000"/>
              </a:lnSpc>
            </a:pPr>
            <a:r>
              <a:rPr sz="1600" spc="0" dirty="0">
                <a:solidFill>
                  <a:schemeClr val="tx1">
                    <a:lumMod val="65000"/>
                    <a:lumOff val="35000"/>
                  </a:schemeClr>
                </a:solidFill>
                <a:ea typeface="微软雅黑" panose="020B0503020204020204" charset="-122"/>
              </a:rPr>
              <a:t>在C++11中，右值是又包括两个概念：</a:t>
            </a:r>
            <a:endParaRPr sz="1600" spc="0" dirty="0">
              <a:solidFill>
                <a:schemeClr val="tx1">
                  <a:lumMod val="65000"/>
                  <a:lumOff val="35000"/>
                </a:schemeClr>
              </a:solidFill>
              <a:ea typeface="微软雅黑" panose="020B0503020204020204" charset="-122"/>
            </a:endParaRPr>
          </a:p>
          <a:p>
            <a:pPr marL="0" indent="0">
              <a:lnSpc>
                <a:spcPct val="160000"/>
              </a:lnSpc>
              <a:buNone/>
            </a:pPr>
            <a:r>
              <a:rPr sz="1400" b="1" spc="0" dirty="0">
                <a:solidFill>
                  <a:srgbClr val="FF0000"/>
                </a:solidFill>
                <a:ea typeface="微软雅黑" panose="020B0503020204020204" charset="-122"/>
              </a:rPr>
              <a:t>纯右值，上面的例子中， 18，18*i就是纯右值</a:t>
            </a:r>
            <a:endParaRPr sz="1400" b="1" spc="0" dirty="0">
              <a:solidFill>
                <a:srgbClr val="FF0000"/>
              </a:solidFill>
              <a:ea typeface="微软雅黑" panose="020B0503020204020204" charset="-122"/>
            </a:endParaRPr>
          </a:p>
          <a:p>
            <a:pPr marL="0" indent="0">
              <a:lnSpc>
                <a:spcPct val="160000"/>
              </a:lnSpc>
              <a:buNone/>
            </a:pPr>
            <a:r>
              <a:rPr sz="1400" b="1" spc="0" dirty="0">
                <a:solidFill>
                  <a:srgbClr val="FF0000"/>
                </a:solidFill>
                <a:ea typeface="微软雅黑" panose="020B0503020204020204" charset="-122"/>
              </a:rPr>
              <a:t>将亡值，比如函数返回时的临时对象；将要被移动的对象</a:t>
            </a:r>
            <a:endParaRPr sz="1400" b="1" spc="0" dirty="0">
              <a:solidFill>
                <a:srgbClr val="FF0000"/>
              </a:solidFill>
              <a:ea typeface="微软雅黑" panose="020B0503020204020204" charset="-122"/>
            </a:endParaRPr>
          </a:p>
        </p:txBody>
      </p:sp>
      <p:sp>
        <p:nvSpPr>
          <p:cNvPr id="2" name="文本框 1"/>
          <p:cNvSpPr txBox="1"/>
          <p:nvPr/>
        </p:nvSpPr>
        <p:spPr>
          <a:xfrm>
            <a:off x="453390" y="500380"/>
            <a:ext cx="8061325" cy="506730"/>
          </a:xfrm>
          <a:prstGeom prst="rect">
            <a:avLst/>
          </a:prstGeom>
          <a:noFill/>
        </p:spPr>
        <p:txBody>
          <a:bodyPr wrap="square" rtlCol="0">
            <a:spAutoFit/>
          </a:bodyPr>
          <a:p>
            <a:pPr marL="0" indent="0">
              <a:buNone/>
            </a:pPr>
            <a:r>
              <a:rPr lang="zh-CN" altLang="en-US" sz="2700" b="1" dirty="0" err="1">
                <a:latin typeface="微软雅黑" panose="020B0503020204020204" charset="-122"/>
                <a:cs typeface="微软雅黑" panose="020B0503020204020204" charset="-122"/>
                <a:sym typeface="+mn-ea"/>
              </a:rPr>
              <a:t>左值与右值</a:t>
            </a:r>
            <a:endParaRPr lang="zh-CN" altLang="en-US" sz="2700" b="1" dirty="0" err="1">
              <a:latin typeface="微软雅黑" panose="020B0503020204020204" charset="-122"/>
              <a:cs typeface="微软雅黑" panose="020B0503020204020204" charset="-122"/>
              <a:sym typeface="+mn-ea"/>
            </a:endParaRPr>
          </a:p>
        </p:txBody>
      </p:sp>
      <mc:AlternateContent xmlns:mc="http://schemas.openxmlformats.org/markup-compatibility/2006" xmlns:p14="http://schemas.microsoft.com/office/powerpoint/2010/main">
        <mc:Choice Requires="p14">
          <p:contentPart r:id="rId1" p14:bwMode="auto">
            <p14:nvContentPartPr>
              <p14:cNvPr id="18" name="墨迹 17"/>
              <p14:cNvContentPartPr/>
              <p14:nvPr/>
            </p14:nvContentPartPr>
            <p14:xfrm>
              <a:off x="730250" y="5594350"/>
              <a:ext cx="596900" cy="57150"/>
            </p14:xfrm>
          </p:contentPart>
        </mc:Choice>
        <mc:Fallback xmlns="">
          <p:pic>
            <p:nvPicPr>
              <p:cNvPr id="18" name="墨迹 17"/>
            </p:nvPicPr>
            <p:blipFill>
              <a:blip r:embed="rId2"/>
            </p:blipFill>
            <p:spPr>
              <a:xfrm>
                <a:off x="730250" y="5594350"/>
                <a:ext cx="596900" cy="57150"/>
              </a:xfrm>
              <a:prstGeom prst="rect"/>
            </p:spPr>
          </p:pic>
        </mc:Fallback>
      </mc:AlternateContent>
    </p:spTree>
    <p:custDataLst>
      <p:tags r:id="rId3"/>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44270"/>
            <a:ext cx="8122285" cy="5180965"/>
          </a:xfrm>
        </p:spPr>
        <p:txBody>
          <a:bodyPr>
            <a:normAutofit/>
          </a:bodyPr>
          <a:lstStyle/>
          <a:p>
            <a:pPr marL="0" indent="0">
              <a:lnSpc>
                <a:spcPct val="150000"/>
              </a:lnSpc>
              <a:buNone/>
            </a:pPr>
            <a:r>
              <a:rPr sz="1600" spc="0" dirty="0">
                <a:solidFill>
                  <a:schemeClr val="tx1">
                    <a:lumMod val="65000"/>
                    <a:lumOff val="35000"/>
                  </a:schemeClr>
                </a:solidFill>
                <a:sym typeface="+mn-ea"/>
              </a:rPr>
              <a:t>在旧的</a:t>
            </a:r>
            <a:r>
              <a:rPr lang="en-US" altLang="zh-CN" sz="1600" spc="0" dirty="0">
                <a:solidFill>
                  <a:schemeClr val="tx1">
                    <a:lumMod val="65000"/>
                    <a:lumOff val="35000"/>
                  </a:schemeClr>
                </a:solidFill>
                <a:sym typeface="+mn-ea"/>
              </a:rPr>
              <a:t>C++</a:t>
            </a:r>
            <a:r>
              <a:rPr sz="1600" spc="0" dirty="0">
                <a:solidFill>
                  <a:schemeClr val="tx1">
                    <a:lumMod val="65000"/>
                    <a:lumOff val="35000"/>
                  </a:schemeClr>
                </a:solidFill>
                <a:sym typeface="+mn-ea"/>
              </a:rPr>
              <a:t>标准中</a:t>
            </a:r>
            <a:r>
              <a:rPr sz="1600" spc="0" dirty="0">
                <a:solidFill>
                  <a:schemeClr val="tx1">
                    <a:lumMod val="65000"/>
                    <a:lumOff val="35000"/>
                  </a:schemeClr>
                </a:solidFill>
                <a:sym typeface="+mn-ea"/>
              </a:rPr>
              <a:t>我们说的引用指的是</a:t>
            </a:r>
            <a:r>
              <a:rPr sz="1600" b="1" spc="0" dirty="0">
                <a:solidFill>
                  <a:schemeClr val="tx1">
                    <a:lumMod val="65000"/>
                    <a:lumOff val="35000"/>
                  </a:schemeClr>
                </a:solidFill>
                <a:sym typeface="+mn-ea"/>
              </a:rPr>
              <a:t>左值引用(对左值的引用)</a:t>
            </a:r>
            <a:r>
              <a:rPr sz="1600" spc="0" dirty="0">
                <a:solidFill>
                  <a:schemeClr val="tx1">
                    <a:lumMod val="65000"/>
                    <a:lumOff val="35000"/>
                  </a:schemeClr>
                </a:solidFill>
                <a:sym typeface="+mn-ea"/>
              </a:rPr>
              <a:t>，在C++ 11新标准中引入了右值引用，指的就是对右值的引用</a:t>
            </a:r>
            <a:endParaRPr sz="1600" spc="0" dirty="0">
              <a:solidFill>
                <a:schemeClr val="tx1">
                  <a:lumMod val="65000"/>
                  <a:lumOff val="35000"/>
                </a:schemeClr>
              </a:solidFill>
              <a:sym typeface="+mn-ea"/>
            </a:endParaRPr>
          </a:p>
          <a:p>
            <a:pPr>
              <a:lnSpc>
                <a:spcPct val="150000"/>
              </a:lnSpc>
            </a:pPr>
            <a:r>
              <a:rPr sz="1600" spc="0" dirty="0">
                <a:solidFill>
                  <a:schemeClr val="tx1">
                    <a:lumMod val="65000"/>
                    <a:lumOff val="35000"/>
                  </a:schemeClr>
                </a:solidFill>
                <a:sym typeface="+mn-ea"/>
              </a:rPr>
              <a:t>左值引用只能引用左值，右值引用只能引用右值</a:t>
            </a:r>
            <a:endParaRPr sz="1600" spc="0" dirty="0">
              <a:solidFill>
                <a:schemeClr val="tx1">
                  <a:lumMod val="65000"/>
                  <a:lumOff val="35000"/>
                </a:schemeClr>
              </a:solidFill>
              <a:sym typeface="+mn-ea"/>
            </a:endParaRPr>
          </a:p>
          <a:p>
            <a:pPr marL="0" indent="0">
              <a:lnSpc>
                <a:spcPct val="110000"/>
              </a:lnSpc>
              <a:buNone/>
            </a:pPr>
            <a:r>
              <a:rPr sz="1400" b="1" spc="0" dirty="0">
                <a:solidFill>
                  <a:srgbClr val="FF0000"/>
                </a:solidFill>
                <a:sym typeface="+mn-ea"/>
              </a:rPr>
              <a:t>int i = 42 //i是左值</a:t>
            </a:r>
            <a:endParaRPr sz="1400" b="1" spc="0" dirty="0">
              <a:solidFill>
                <a:srgbClr val="FF0000"/>
              </a:solidFill>
              <a:sym typeface="+mn-ea"/>
            </a:endParaRPr>
          </a:p>
          <a:p>
            <a:pPr marL="0" indent="0">
              <a:lnSpc>
                <a:spcPct val="110000"/>
              </a:lnSpc>
              <a:buNone/>
            </a:pPr>
            <a:r>
              <a:rPr sz="1400" b="1" spc="0" dirty="0">
                <a:solidFill>
                  <a:srgbClr val="FF0000"/>
                </a:solidFill>
                <a:sym typeface="+mn-ea"/>
              </a:rPr>
              <a:t>int &amp;r = i //&amp;r为左值引用</a:t>
            </a:r>
            <a:endParaRPr sz="1400" b="1" spc="0" dirty="0">
              <a:solidFill>
                <a:srgbClr val="FF0000"/>
              </a:solidFill>
              <a:sym typeface="+mn-ea"/>
            </a:endParaRPr>
          </a:p>
          <a:p>
            <a:pPr marL="0" indent="0">
              <a:lnSpc>
                <a:spcPct val="110000"/>
              </a:lnSpc>
              <a:buNone/>
            </a:pPr>
            <a:r>
              <a:rPr sz="1400" b="1" spc="0" dirty="0">
                <a:solidFill>
                  <a:srgbClr val="FF0000"/>
                </a:solidFill>
                <a:sym typeface="+mn-ea"/>
              </a:rPr>
              <a:t>int &amp;&amp;r = i //&amp;&amp;r是右值引用，不能将左值给右值引用</a:t>
            </a:r>
            <a:endParaRPr sz="1400" b="1" spc="0" dirty="0">
              <a:solidFill>
                <a:srgbClr val="FF0000"/>
              </a:solidFill>
              <a:sym typeface="+mn-ea"/>
            </a:endParaRPr>
          </a:p>
          <a:p>
            <a:pPr marL="0" indent="0">
              <a:lnSpc>
                <a:spcPct val="110000"/>
              </a:lnSpc>
              <a:buNone/>
            </a:pPr>
            <a:r>
              <a:rPr sz="1400" b="1" spc="0" dirty="0">
                <a:solidFill>
                  <a:srgbClr val="FF0000"/>
                </a:solidFill>
                <a:sym typeface="+mn-ea"/>
              </a:rPr>
              <a:t>int &amp;r = 42; //42是字面量，是右值，右值不能给左值引用</a:t>
            </a:r>
            <a:endParaRPr sz="1400" b="1" spc="0" dirty="0">
              <a:solidFill>
                <a:srgbClr val="FF0000"/>
              </a:solidFill>
              <a:sym typeface="+mn-ea"/>
            </a:endParaRPr>
          </a:p>
          <a:p>
            <a:pPr marL="114300" indent="-285750" algn="l">
              <a:lnSpc>
                <a:spcPct val="150000"/>
              </a:lnSpc>
              <a:buClrTx/>
              <a:buSzTx/>
            </a:pPr>
            <a:r>
              <a:rPr sz="1600" spc="0" dirty="0">
                <a:solidFill>
                  <a:schemeClr val="tx1">
                    <a:lumMod val="65000"/>
                    <a:lumOff val="35000"/>
                  </a:schemeClr>
                </a:solidFill>
                <a:sym typeface="+mn-ea"/>
              </a:rPr>
              <a:t>返回左值引用(引用)的函数，连同赋值，下标，解引用和前置递增/递减运算符，都是返回左值</a:t>
            </a:r>
            <a:endParaRPr sz="1600" spc="0" dirty="0">
              <a:solidFill>
                <a:schemeClr val="tx1">
                  <a:lumMod val="65000"/>
                  <a:lumOff val="35000"/>
                </a:schemeClr>
              </a:solidFill>
              <a:sym typeface="+mn-ea"/>
            </a:endParaRPr>
          </a:p>
          <a:p>
            <a:pPr marL="114300" indent="-285750" algn="l">
              <a:lnSpc>
                <a:spcPct val="150000"/>
              </a:lnSpc>
              <a:buClrTx/>
              <a:buSzTx/>
            </a:pPr>
            <a:r>
              <a:rPr sz="1600" spc="0" dirty="0">
                <a:solidFill>
                  <a:schemeClr val="tx1">
                    <a:lumMod val="65000"/>
                    <a:lumOff val="35000"/>
                  </a:schemeClr>
                </a:solidFill>
                <a:sym typeface="+mn-ea"/>
              </a:rPr>
              <a:t>返回非引用类型的函数，连同算术，关系，位及后置递增/递减运算符，都是返回右值(很显然这些操作运算符都会产生临时变量)，这样值的引用就是右值引用</a:t>
            </a:r>
            <a:endParaRPr sz="1600" spc="0" dirty="0">
              <a:solidFill>
                <a:schemeClr val="tx1">
                  <a:lumMod val="65000"/>
                  <a:lumOff val="35000"/>
                </a:schemeClr>
              </a:solidFill>
              <a:sym typeface="+mn-ea"/>
            </a:endParaRPr>
          </a:p>
          <a:p>
            <a:pPr marL="114300" indent="-285750" algn="l">
              <a:lnSpc>
                <a:spcPct val="150000"/>
              </a:lnSpc>
              <a:buClrTx/>
              <a:buSzTx/>
            </a:pPr>
            <a:r>
              <a:rPr sz="1600" b="1" spc="0" dirty="0">
                <a:solidFill>
                  <a:srgbClr val="FF0000"/>
                </a:solidFill>
                <a:sym typeface="+mn-ea"/>
              </a:rPr>
              <a:t>const左值引用</a:t>
            </a:r>
            <a:r>
              <a:rPr sz="1600" spc="0" dirty="0">
                <a:solidFill>
                  <a:schemeClr val="tx1">
                    <a:lumMod val="65000"/>
                    <a:lumOff val="35000"/>
                  </a:schemeClr>
                </a:solidFill>
                <a:sym typeface="+mn-ea"/>
              </a:rPr>
              <a:t>是可以指向右值</a:t>
            </a:r>
            <a:endParaRPr sz="1600" spc="0" dirty="0">
              <a:solidFill>
                <a:schemeClr val="tx1">
                  <a:lumMod val="65000"/>
                  <a:lumOff val="35000"/>
                </a:schemeClr>
              </a:solidFill>
              <a:sym typeface="+mn-ea"/>
            </a:endParaRPr>
          </a:p>
        </p:txBody>
      </p:sp>
      <p:sp>
        <p:nvSpPr>
          <p:cNvPr id="2" name="文本框 1"/>
          <p:cNvSpPr txBox="1"/>
          <p:nvPr/>
        </p:nvSpPr>
        <p:spPr>
          <a:xfrm>
            <a:off x="457200" y="496570"/>
            <a:ext cx="8061325" cy="506730"/>
          </a:xfrm>
          <a:prstGeom prst="rect">
            <a:avLst/>
          </a:prstGeom>
          <a:noFill/>
        </p:spPr>
        <p:txBody>
          <a:bodyPr wrap="square" rtlCol="0">
            <a:spAutoFit/>
          </a:bodyPr>
          <a:p>
            <a:pPr marL="0" indent="0">
              <a:buNone/>
            </a:pPr>
            <a:r>
              <a:rPr sz="2700" b="1" dirty="0" err="1">
                <a:latin typeface="微软雅黑" panose="020B0503020204020204" charset="-122"/>
                <a:cs typeface="微软雅黑" panose="020B0503020204020204" charset="-122"/>
                <a:sym typeface="+mn-ea"/>
              </a:rPr>
              <a:t>左值引用和右值引用</a:t>
            </a:r>
            <a:endParaRPr sz="2700" b="1" dirty="0" err="1">
              <a:latin typeface="微软雅黑" panose="020B0503020204020204" charset="-122"/>
              <a:cs typeface="微软雅黑" panose="020B0503020204020204" charset="-122"/>
              <a:sym typeface="+mn-ea"/>
            </a:endParaRPr>
          </a:p>
        </p:txBody>
      </p:sp>
      <mc:AlternateContent xmlns:mc="http://schemas.openxmlformats.org/markup-compatibility/2006" xmlns:p14="http://schemas.microsoft.com/office/powerpoint/2010/main">
        <mc:Choice Requires="p14">
          <p:contentPart r:id="rId1" p14:bwMode="auto">
            <p14:nvContentPartPr>
              <p14:cNvPr id="29" name="墨迹 28"/>
              <p14:cNvContentPartPr/>
              <p14:nvPr/>
            </p14:nvContentPartPr>
            <p14:xfrm>
              <a:off x="514350" y="5810250"/>
              <a:ext cx="31750" cy="171450"/>
            </p14:xfrm>
          </p:contentPart>
        </mc:Choice>
        <mc:Fallback xmlns="">
          <p:pic>
            <p:nvPicPr>
              <p:cNvPr id="29" name="墨迹 28"/>
            </p:nvPicPr>
            <p:blipFill>
              <a:blip r:embed="rId2"/>
            </p:blipFill>
            <p:spPr>
              <a:xfrm>
                <a:off x="514350" y="5810250"/>
                <a:ext cx="31750" cy="171450"/>
              </a:xfrm>
              <a:prstGeom prst="rect"/>
            </p:spPr>
          </p:pic>
        </mc:Fallback>
      </mc:AlternateContent>
    </p:spTree>
    <p:custDataLst>
      <p:tags r:id="rId3"/>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3132901" y="3162185"/>
            <a:ext cx="235204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pPr algn="r"/>
            <a:r>
              <a:rPr lang="zh-CN" altLang="en-US" sz="4270" b="1" dirty="0">
                <a:solidFill>
                  <a:schemeClr val="accent5">
                    <a:lumMod val="75000"/>
                  </a:schemeClr>
                </a:solidFill>
                <a:latin typeface="Arial" panose="020B0604020202020204" pitchFamily="34" charset="0"/>
                <a:ea typeface="微软雅黑" panose="020B0503020204020204" charset="-122"/>
                <a:sym typeface="+mn-ea"/>
              </a:rPr>
              <a:t>移动语义</a:t>
            </a:r>
            <a:endParaRPr lang="zh-CN" altLang="en-US" sz="4270" b="1" dirty="0">
              <a:solidFill>
                <a:schemeClr val="accent5">
                  <a:lumMod val="75000"/>
                </a:schemeClr>
              </a:solidFill>
              <a:latin typeface="Arial" panose="020B0604020202020204" pitchFamily="34" charset="0"/>
              <a:ea typeface="微软雅黑" panose="020B0503020204020204" charset="-122"/>
              <a:sym typeface="+mn-ea"/>
            </a:endParaRPr>
          </a:p>
        </p:txBody>
      </p:sp>
      <p:sp>
        <p:nvSpPr>
          <p:cNvPr id="5124" name="淘宝网chenying0907出品 10"/>
          <p:cNvSpPr>
            <a:spLocks noChangeArrowheads="1"/>
          </p:cNvSpPr>
          <p:nvPr/>
        </p:nvSpPr>
        <p:spPr bwMode="auto">
          <a:xfrm>
            <a:off x="4322891" y="2649895"/>
            <a:ext cx="10972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rPr>
              <a:t>移动语义</a:t>
            </a:r>
            <a:endParaRPr lang="zh-CN" altLang="en-US"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5125" name="淘宝网chenying0907出品 11"/>
          <p:cNvSpPr>
            <a:spLocks noChangeShapeType="1"/>
          </p:cNvSpPr>
          <p:nvPr/>
        </p:nvSpPr>
        <p:spPr bwMode="auto">
          <a:xfrm>
            <a:off x="1505825" y="2960613"/>
            <a:ext cx="3914345" cy="1191"/>
          </a:xfrm>
          <a:prstGeom prst="line">
            <a:avLst/>
          </a:prstGeom>
          <a:noFill/>
          <a:ln w="635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sz="142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ext Box 3"/>
          <p:cNvSpPr>
            <a:spLocks noChangeArrowheads="1"/>
          </p:cNvSpPr>
          <p:nvPr/>
        </p:nvSpPr>
        <p:spPr bwMode="auto">
          <a:xfrm>
            <a:off x="5545075" y="2294165"/>
            <a:ext cx="218313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nchor="ctr">
            <a:spAutoFit/>
          </a:bodyPr>
          <a:lstStyle/>
          <a:p>
            <a:r>
              <a:rPr lang="en-US" sz="14155"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03</a:t>
            </a:r>
            <a:endParaRPr lang="en-US" altLang="en-US" sz="14155" b="1"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50" advTm="0">
        <p:pull/>
      </p:transition>
    </mc:Choice>
    <mc:Fallback>
      <p:transition spd="med" advTm="0">
        <p:pull/>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44270"/>
            <a:ext cx="8122285" cy="5180965"/>
          </a:xfrm>
        </p:spPr>
        <p:txBody>
          <a:bodyPr>
            <a:normAutofit lnSpcReduction="10000"/>
          </a:bodyPr>
          <a:lstStyle/>
          <a:p>
            <a:pPr marL="0" indent="0">
              <a:lnSpc>
                <a:spcPct val="160000"/>
              </a:lnSpc>
              <a:buNone/>
            </a:pPr>
            <a:r>
              <a:rPr sz="1600" b="1" spc="0" dirty="0">
                <a:solidFill>
                  <a:srgbClr val="FF0000"/>
                </a:solidFill>
                <a:sym typeface="+mn-ea"/>
              </a:rPr>
              <a:t>移动语义就是从给定对象</a:t>
            </a:r>
            <a:r>
              <a:rPr lang="en-US" altLang="zh-CN" sz="1600" b="1" spc="0" dirty="0">
                <a:solidFill>
                  <a:srgbClr val="FF0000"/>
                </a:solidFill>
                <a:sym typeface="+mn-ea"/>
              </a:rPr>
              <a:t>”</a:t>
            </a:r>
            <a:r>
              <a:rPr sz="1600" b="1" spc="0" dirty="0">
                <a:solidFill>
                  <a:srgbClr val="FF0000"/>
                </a:solidFill>
                <a:sym typeface="+mn-ea"/>
              </a:rPr>
              <a:t>窃取</a:t>
            </a:r>
            <a:r>
              <a:rPr lang="en-US" altLang="zh-CN" sz="1600" b="1" spc="0" dirty="0">
                <a:solidFill>
                  <a:srgbClr val="FF0000"/>
                </a:solidFill>
                <a:sym typeface="+mn-ea"/>
              </a:rPr>
              <a:t>”</a:t>
            </a:r>
            <a:r>
              <a:rPr sz="1600" b="1" spc="0" dirty="0">
                <a:solidFill>
                  <a:srgbClr val="FF0000"/>
                </a:solidFill>
                <a:sym typeface="+mn-ea"/>
              </a:rPr>
              <a:t>资源而不是拷贝资源，源对象不再拥有资源，资源的所有权已经归属新创建的对象</a:t>
            </a:r>
            <a:endParaRPr sz="1600" b="1" spc="0" dirty="0">
              <a:solidFill>
                <a:srgbClr val="FF0000"/>
              </a:solidFill>
              <a:sym typeface="+mn-ea"/>
            </a:endParaRPr>
          </a:p>
          <a:p>
            <a:pPr marL="0" indent="0">
              <a:lnSpc>
                <a:spcPct val="160000"/>
              </a:lnSpc>
              <a:buNone/>
            </a:pPr>
            <a:r>
              <a:rPr sz="1600" spc="0" dirty="0">
                <a:solidFill>
                  <a:schemeClr val="tx1">
                    <a:lumMod val="65000"/>
                    <a:lumOff val="35000"/>
                  </a:schemeClr>
                </a:solidFill>
                <a:sym typeface="+mn-ea"/>
              </a:rPr>
              <a:t>在有拥有内存资源的对象中，通过复制语义(深拷贝)来转移内存，将源对象赋值给目标对象，源对象中资源很可能是不需要再保留的，这时直接将源对象中的资源转移给目标对象(浅拷贝，只移动指针)，就更贴切。但是使用左值引用来实现有两个限制：</a:t>
            </a:r>
            <a:endParaRPr sz="1600" spc="0" dirty="0">
              <a:solidFill>
                <a:schemeClr val="tx1">
                  <a:lumMod val="65000"/>
                  <a:lumOff val="35000"/>
                </a:schemeClr>
              </a:solidFill>
              <a:sym typeface="+mn-ea"/>
            </a:endParaRPr>
          </a:p>
          <a:p>
            <a:pPr>
              <a:lnSpc>
                <a:spcPct val="160000"/>
              </a:lnSpc>
            </a:pPr>
            <a:r>
              <a:rPr sz="1600" spc="0" dirty="0">
                <a:solidFill>
                  <a:schemeClr val="tx1">
                    <a:lumMod val="65000"/>
                    <a:lumOff val="35000"/>
                  </a:schemeClr>
                </a:solidFill>
                <a:sym typeface="+mn-ea"/>
              </a:rPr>
              <a:t>为了满足所有的表示移动的场景，它必须是一个构造函数，并且形参需为</a:t>
            </a:r>
            <a:r>
              <a:rPr lang="en-US" altLang="zh-CN" sz="1600" spc="0" dirty="0">
                <a:solidFill>
                  <a:schemeClr val="tx1">
                    <a:lumMod val="65000"/>
                    <a:lumOff val="35000"/>
                  </a:schemeClr>
                </a:solidFill>
                <a:sym typeface="+mn-ea"/>
              </a:rPr>
              <a:t>const &amp;(</a:t>
            </a:r>
            <a:r>
              <a:rPr sz="1600" spc="0" dirty="0">
                <a:solidFill>
                  <a:schemeClr val="tx1">
                    <a:lumMod val="65000"/>
                    <a:lumOff val="35000"/>
                  </a:schemeClr>
                </a:solidFill>
                <a:sym typeface="+mn-ea"/>
              </a:rPr>
              <a:t>为了能引用临时对象这样的右值</a:t>
            </a:r>
            <a:r>
              <a:rPr lang="en-US" altLang="zh-CN" sz="1600" spc="0" dirty="0">
                <a:solidFill>
                  <a:schemeClr val="tx1">
                    <a:lumMod val="65000"/>
                    <a:lumOff val="35000"/>
                  </a:schemeClr>
                </a:solidFill>
                <a:sym typeface="+mn-ea"/>
              </a:rPr>
              <a:t>)</a:t>
            </a:r>
            <a:r>
              <a:rPr sz="1600" spc="0" dirty="0">
                <a:solidFill>
                  <a:schemeClr val="tx1">
                    <a:lumMod val="65000"/>
                    <a:lumOff val="35000"/>
                  </a:schemeClr>
                </a:solidFill>
                <a:sym typeface="+mn-ea"/>
              </a:rPr>
              <a:t>，为了与其它构造函数作区分，形参个数需不同</a:t>
            </a:r>
            <a:r>
              <a:rPr lang="en-US" altLang="zh-CN" sz="1600" spc="0" dirty="0">
                <a:solidFill>
                  <a:schemeClr val="tx1">
                    <a:lumMod val="65000"/>
                    <a:lumOff val="35000"/>
                  </a:schemeClr>
                </a:solidFill>
                <a:sym typeface="+mn-ea"/>
              </a:rPr>
              <a:t>(</a:t>
            </a:r>
            <a:r>
              <a:rPr sz="1600" spc="0" dirty="0">
                <a:solidFill>
                  <a:schemeClr val="tx1">
                    <a:lumMod val="65000"/>
                    <a:lumOff val="35000"/>
                  </a:schemeClr>
                </a:solidFill>
                <a:sym typeface="+mn-ea"/>
              </a:rPr>
              <a:t>显然是没有这样的语法的</a:t>
            </a:r>
            <a:r>
              <a:rPr lang="en-US" altLang="zh-CN" sz="1600" spc="0" dirty="0">
                <a:solidFill>
                  <a:schemeClr val="tx1">
                    <a:lumMod val="65000"/>
                    <a:lumOff val="35000"/>
                  </a:schemeClr>
                </a:solidFill>
                <a:sym typeface="+mn-ea"/>
              </a:rPr>
              <a:t>)</a:t>
            </a:r>
            <a:endParaRPr sz="1600" spc="0" dirty="0">
              <a:solidFill>
                <a:schemeClr val="tx1">
                  <a:lumMod val="65000"/>
                  <a:lumOff val="35000"/>
                </a:schemeClr>
              </a:solidFill>
              <a:sym typeface="+mn-ea"/>
            </a:endParaRPr>
          </a:p>
          <a:p>
            <a:pPr>
              <a:lnSpc>
                <a:spcPct val="160000"/>
              </a:lnSpc>
            </a:pPr>
            <a:r>
              <a:rPr sz="1600" spc="0" dirty="0">
                <a:solidFill>
                  <a:schemeClr val="tx1">
                    <a:lumMod val="65000"/>
                    <a:lumOff val="35000"/>
                  </a:schemeClr>
                </a:solidFill>
                <a:sym typeface="+mn-ea"/>
              </a:rPr>
              <a:t>对const引用的形参，在函数中并不能改变的它</a:t>
            </a:r>
            <a:endParaRPr sz="1600" spc="0" dirty="0">
              <a:solidFill>
                <a:schemeClr val="tx1">
                  <a:lumMod val="65000"/>
                  <a:lumOff val="35000"/>
                </a:schemeClr>
              </a:solidFill>
              <a:sym typeface="+mn-ea"/>
            </a:endParaRPr>
          </a:p>
          <a:p>
            <a:pPr marL="0" indent="0">
              <a:lnSpc>
                <a:spcPct val="160000"/>
              </a:lnSpc>
              <a:buNone/>
            </a:pPr>
            <a:r>
              <a:rPr sz="1600" spc="0" dirty="0">
                <a:solidFill>
                  <a:schemeClr val="tx1">
                    <a:lumMod val="65000"/>
                    <a:lumOff val="35000"/>
                  </a:schemeClr>
                </a:solidFill>
                <a:sym typeface="+mn-ea"/>
              </a:rPr>
              <a:t>引入</a:t>
            </a:r>
            <a:r>
              <a:rPr sz="1600" b="1" spc="0" dirty="0">
                <a:solidFill>
                  <a:srgbClr val="FF0000"/>
                </a:solidFill>
                <a:sym typeface="+mn-ea"/>
              </a:rPr>
              <a:t>右值引用就是来实现移动语义的，</a:t>
            </a:r>
            <a:r>
              <a:rPr sz="1600" spc="0" dirty="0">
                <a:solidFill>
                  <a:schemeClr val="tx1">
                    <a:lumMod val="65000"/>
                    <a:lumOff val="35000"/>
                  </a:schemeClr>
                </a:solidFill>
                <a:sym typeface="+mn-ea"/>
              </a:rPr>
              <a:t>解决实现上的限制，</a:t>
            </a:r>
            <a:endParaRPr sz="1600" spc="0" dirty="0">
              <a:solidFill>
                <a:schemeClr val="tx1">
                  <a:lumMod val="65000"/>
                  <a:lumOff val="35000"/>
                </a:schemeClr>
              </a:solidFill>
              <a:sym typeface="+mn-ea"/>
            </a:endParaRPr>
          </a:p>
          <a:p>
            <a:pPr marL="0" indent="0">
              <a:lnSpc>
                <a:spcPct val="160000"/>
              </a:lnSpc>
              <a:buNone/>
            </a:pPr>
            <a:endParaRPr sz="1600" spc="0" dirty="0">
              <a:solidFill>
                <a:schemeClr val="tx1">
                  <a:lumMod val="65000"/>
                  <a:lumOff val="35000"/>
                </a:schemeClr>
              </a:solidFill>
              <a:sym typeface="+mn-ea"/>
            </a:endParaRPr>
          </a:p>
        </p:txBody>
      </p:sp>
      <p:sp>
        <p:nvSpPr>
          <p:cNvPr id="2" name="文本框 1"/>
          <p:cNvSpPr txBox="1"/>
          <p:nvPr/>
        </p:nvSpPr>
        <p:spPr>
          <a:xfrm>
            <a:off x="457200" y="496570"/>
            <a:ext cx="8061325" cy="506730"/>
          </a:xfrm>
          <a:prstGeom prst="rect">
            <a:avLst/>
          </a:prstGeom>
          <a:noFill/>
        </p:spPr>
        <p:txBody>
          <a:bodyPr wrap="square" rtlCol="0">
            <a:spAutoFit/>
          </a:bodyPr>
          <a:p>
            <a:pPr marL="0" indent="0">
              <a:buNone/>
            </a:pPr>
            <a:r>
              <a:rPr lang="en-US" sz="2700" b="1" dirty="0" err="1">
                <a:latin typeface="微软雅黑" panose="020B0503020204020204" charset="-122"/>
                <a:cs typeface="微软雅黑" panose="020B0503020204020204" charset="-122"/>
                <a:sym typeface="+mn-ea"/>
              </a:rPr>
              <a:t>移动语义</a:t>
            </a:r>
            <a:endParaRPr lang="en-US" sz="2700" b="1" dirty="0" err="1">
              <a:latin typeface="微软雅黑" panose="020B0503020204020204" charset="-122"/>
              <a:cs typeface="微软雅黑" panose="020B0503020204020204" charset="-122"/>
              <a:sym typeface="+mn-ea"/>
            </a:endParaRP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44270"/>
            <a:ext cx="8122285" cy="5180965"/>
          </a:xfrm>
        </p:spPr>
        <p:txBody>
          <a:bodyPr>
            <a:normAutofit lnSpcReduction="10000"/>
          </a:bodyPr>
          <a:lstStyle/>
          <a:p>
            <a:pPr marL="0" algn="l">
              <a:lnSpc>
                <a:spcPct val="150000"/>
              </a:lnSpc>
              <a:buClrTx/>
              <a:buSzTx/>
              <a:buNone/>
            </a:pPr>
            <a:r>
              <a:rPr sz="1600" spc="0" dirty="0">
                <a:solidFill>
                  <a:schemeClr val="tx1">
                    <a:lumMod val="65000"/>
                    <a:lumOff val="35000"/>
                  </a:schemeClr>
                </a:solidFill>
                <a:sym typeface="+mn-ea"/>
              </a:rPr>
              <a:t>支持移动语义的对象都需要定义移动构造函数和移动赋值函数，它们的形参都是右值引用，如：</a:t>
            </a:r>
            <a:endParaRPr sz="1600" spc="0" dirty="0">
              <a:solidFill>
                <a:schemeClr val="tx1">
                  <a:lumMod val="65000"/>
                  <a:lumOff val="35000"/>
                </a:schemeClr>
              </a:solidFill>
              <a:sym typeface="+mn-ea"/>
            </a:endParaRPr>
          </a:p>
          <a:p>
            <a:pPr marL="0" algn="l">
              <a:lnSpc>
                <a:spcPct val="130000"/>
              </a:lnSpc>
              <a:buClrTx/>
              <a:buSzTx/>
              <a:buNone/>
            </a:pPr>
            <a:r>
              <a:rPr sz="1400" b="1" spc="0" dirty="0">
                <a:solidFill>
                  <a:srgbClr val="FF0000"/>
                </a:solidFill>
                <a:sym typeface="+mn-ea"/>
              </a:rPr>
              <a:t>//移动构造函数</a:t>
            </a:r>
            <a:endParaRPr sz="1400" b="1" spc="0" dirty="0">
              <a:solidFill>
                <a:srgbClr val="FF0000"/>
              </a:solidFill>
              <a:sym typeface="+mn-ea"/>
            </a:endParaRPr>
          </a:p>
          <a:p>
            <a:pPr marL="0" algn="l">
              <a:lnSpc>
                <a:spcPct val="130000"/>
              </a:lnSpc>
              <a:buClrTx/>
              <a:buSzTx/>
              <a:buNone/>
            </a:pPr>
            <a:r>
              <a:rPr sz="1400" b="1" spc="0" dirty="0">
                <a:solidFill>
                  <a:srgbClr val="FF0000"/>
                </a:solidFill>
                <a:sym typeface="+mn-ea"/>
              </a:rPr>
              <a:t>CMoveTest(CMoveTest &amp;&amp;t) noexcept</a:t>
            </a:r>
            <a:endParaRPr sz="1400" b="1" spc="0" dirty="0">
              <a:solidFill>
                <a:srgbClr val="FF0000"/>
              </a:solidFill>
              <a:sym typeface="+mn-ea"/>
            </a:endParaRPr>
          </a:p>
          <a:p>
            <a:pPr marL="0" algn="l">
              <a:lnSpc>
                <a:spcPct val="130000"/>
              </a:lnSpc>
              <a:buClrTx/>
              <a:buSzTx/>
              <a:buNone/>
            </a:pPr>
            <a:r>
              <a:rPr sz="1400" b="1" spc="0" dirty="0">
                <a:solidFill>
                  <a:srgbClr val="FF0000"/>
                </a:solidFill>
                <a:sym typeface="+mn-ea"/>
              </a:rPr>
              <a:t>//移动赋值函数</a:t>
            </a:r>
            <a:endParaRPr sz="1400" b="1" spc="0" dirty="0">
              <a:solidFill>
                <a:srgbClr val="FF0000"/>
              </a:solidFill>
              <a:sym typeface="+mn-ea"/>
            </a:endParaRPr>
          </a:p>
          <a:p>
            <a:pPr marL="0" algn="l">
              <a:lnSpc>
                <a:spcPct val="130000"/>
              </a:lnSpc>
              <a:buClrTx/>
              <a:buSzTx/>
              <a:buNone/>
            </a:pPr>
            <a:r>
              <a:rPr sz="1400" b="1" spc="0" dirty="0">
                <a:solidFill>
                  <a:srgbClr val="FF0000"/>
                </a:solidFill>
                <a:sym typeface="+mn-ea"/>
              </a:rPr>
              <a:t>CMoveTest&amp; operator=(CMoveTest&amp;&amp; t) noexcept</a:t>
            </a:r>
            <a:endParaRPr sz="1400" b="1" spc="0" dirty="0">
              <a:solidFill>
                <a:srgbClr val="FF0000"/>
              </a:solidFill>
              <a:sym typeface="+mn-ea"/>
            </a:endParaRPr>
          </a:p>
          <a:p>
            <a:pPr marL="0" algn="l">
              <a:lnSpc>
                <a:spcPct val="130000"/>
              </a:lnSpc>
              <a:buClrTx/>
              <a:buSzTx/>
              <a:buNone/>
            </a:pPr>
            <a:endParaRPr sz="1400" b="1" spc="0" dirty="0">
              <a:solidFill>
                <a:srgbClr val="FF0000"/>
              </a:solidFill>
              <a:sym typeface="+mn-ea"/>
            </a:endParaRPr>
          </a:p>
          <a:p>
            <a:pPr marL="0" algn="l">
              <a:lnSpc>
                <a:spcPct val="130000"/>
              </a:lnSpc>
              <a:buClrTx/>
              <a:buSzTx/>
              <a:buNone/>
            </a:pPr>
            <a:r>
              <a:rPr sz="1600" spc="0" dirty="0">
                <a:solidFill>
                  <a:schemeClr val="tx1">
                    <a:lumMod val="65000"/>
                    <a:lumOff val="35000"/>
                  </a:schemeClr>
                </a:solidFill>
                <a:sym typeface="+mn-ea"/>
              </a:rPr>
              <a:t>它们有三点要求：</a:t>
            </a:r>
            <a:endParaRPr sz="1600" spc="0" dirty="0">
              <a:solidFill>
                <a:schemeClr val="tx1">
                  <a:lumMod val="65000"/>
                  <a:lumOff val="35000"/>
                </a:schemeClr>
              </a:solidFill>
              <a:sym typeface="+mn-ea"/>
            </a:endParaRPr>
          </a:p>
          <a:p>
            <a:pPr marL="0" algn="l">
              <a:lnSpc>
                <a:spcPct val="130000"/>
              </a:lnSpc>
              <a:buClrTx/>
              <a:buSzTx/>
              <a:buNone/>
            </a:pPr>
            <a:r>
              <a:rPr sz="1600" b="1" spc="0" dirty="0">
                <a:solidFill>
                  <a:srgbClr val="FF0000"/>
                </a:solidFill>
                <a:sym typeface="+mn-ea"/>
              </a:rPr>
              <a:t>1. 动语义可以将一个对象中的资源移走，而不是赋值，所以它们并不分配内存</a:t>
            </a:r>
            <a:endParaRPr sz="1600" b="1" spc="0" dirty="0">
              <a:solidFill>
                <a:srgbClr val="FF0000"/>
              </a:solidFill>
              <a:sym typeface="+mn-ea"/>
            </a:endParaRPr>
          </a:p>
          <a:p>
            <a:pPr marL="0" algn="l">
              <a:lnSpc>
                <a:spcPct val="130000"/>
              </a:lnSpc>
              <a:buClrTx/>
              <a:buSzTx/>
              <a:buNone/>
            </a:pPr>
            <a:r>
              <a:rPr sz="1600" b="1" spc="0" dirty="0">
                <a:solidFill>
                  <a:srgbClr val="FF0000"/>
                </a:solidFill>
                <a:sym typeface="+mn-ea"/>
              </a:rPr>
              <a:t>2. 移动后的源对象会被销毁(形参是右值引用)，所以内部资源会被置为无效(比如指针会被置为nullptr)</a:t>
            </a:r>
            <a:endParaRPr sz="1600" b="1" spc="0" dirty="0">
              <a:solidFill>
                <a:srgbClr val="FF0000"/>
              </a:solidFill>
              <a:sym typeface="+mn-ea"/>
            </a:endParaRPr>
          </a:p>
          <a:p>
            <a:pPr marL="0" algn="l">
              <a:lnSpc>
                <a:spcPct val="130000"/>
              </a:lnSpc>
              <a:buClrTx/>
              <a:buSzTx/>
              <a:buNone/>
            </a:pPr>
            <a:r>
              <a:rPr sz="1600" b="1" spc="0" dirty="0">
                <a:solidFill>
                  <a:srgbClr val="FF0000"/>
                </a:solidFill>
                <a:sym typeface="+mn-ea"/>
              </a:rPr>
              <a:t>3. 它们都需要声明为noexcept(不能抛异常)</a:t>
            </a:r>
            <a:endParaRPr sz="1600" b="1" spc="0" dirty="0">
              <a:solidFill>
                <a:srgbClr val="FF0000"/>
              </a:solidFill>
              <a:sym typeface="+mn-ea"/>
            </a:endParaRPr>
          </a:p>
        </p:txBody>
      </p:sp>
      <p:sp>
        <p:nvSpPr>
          <p:cNvPr id="2" name="文本框 1"/>
          <p:cNvSpPr txBox="1"/>
          <p:nvPr/>
        </p:nvSpPr>
        <p:spPr>
          <a:xfrm>
            <a:off x="457200" y="496570"/>
            <a:ext cx="8061325" cy="506730"/>
          </a:xfrm>
          <a:prstGeom prst="rect">
            <a:avLst/>
          </a:prstGeom>
          <a:noFill/>
        </p:spPr>
        <p:txBody>
          <a:bodyPr wrap="square" rtlCol="0">
            <a:spAutoFit/>
          </a:bodyPr>
          <a:p>
            <a:pPr marL="0" indent="0">
              <a:buNone/>
            </a:pPr>
            <a:r>
              <a:rPr lang="zh-CN" altLang="en-US" sz="2700" b="1" dirty="0" err="1">
                <a:latin typeface="微软雅黑" panose="020B0503020204020204" charset="-122"/>
                <a:cs typeface="微软雅黑" panose="020B0503020204020204" charset="-122"/>
                <a:sym typeface="+mn-ea"/>
              </a:rPr>
              <a:t>移动构造函数和移动赋值函数</a:t>
            </a:r>
            <a:endParaRPr lang="zh-CN" altLang="en-US" sz="2700" b="1" dirty="0" err="1">
              <a:latin typeface="微软雅黑" panose="020B0503020204020204" charset="-122"/>
              <a:cs typeface="微软雅黑" panose="020B0503020204020204" charset="-122"/>
              <a:sym typeface="+mn-ea"/>
            </a:endParaRP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44270"/>
            <a:ext cx="8122285" cy="5180965"/>
          </a:xfrm>
        </p:spPr>
        <p:txBody>
          <a:bodyPr>
            <a:normAutofit lnSpcReduction="10000"/>
          </a:bodyPr>
          <a:lstStyle/>
          <a:p>
            <a:pPr marL="0" indent="0">
              <a:lnSpc>
                <a:spcPct val="160000"/>
              </a:lnSpc>
              <a:buNone/>
            </a:pPr>
            <a:r>
              <a:rPr sz="1600" spc="0" dirty="0">
                <a:solidFill>
                  <a:schemeClr val="tx1">
                    <a:lumMod val="65000"/>
                    <a:lumOff val="35000"/>
                  </a:schemeClr>
                </a:solidFill>
                <a:sym typeface="+mn-ea"/>
              </a:rPr>
              <a:t>如果我们在类中没有定义拷贝操作，那么编码器会自动为我们生成默认的拷贝操作，但是对移动操作，编译器是有条件生成的，要满足以下两点</a:t>
            </a:r>
            <a:endParaRPr sz="1600" spc="0" dirty="0">
              <a:solidFill>
                <a:schemeClr val="tx1">
                  <a:lumMod val="65000"/>
                  <a:lumOff val="35000"/>
                </a:schemeClr>
              </a:solidFill>
              <a:sym typeface="+mn-ea"/>
            </a:endParaRPr>
          </a:p>
          <a:p>
            <a:pPr marL="342900" indent="-342900">
              <a:lnSpc>
                <a:spcPct val="160000"/>
              </a:lnSpc>
              <a:buAutoNum type="arabicPeriod"/>
            </a:pPr>
            <a:r>
              <a:rPr sz="1600" spc="0" dirty="0">
                <a:solidFill>
                  <a:schemeClr val="tx1">
                    <a:lumMod val="65000"/>
                    <a:lumOff val="35000"/>
                  </a:schemeClr>
                </a:solidFill>
                <a:sym typeface="+mn-ea"/>
              </a:rPr>
              <a:t>类中没有自定义拷贝控制成员(拷贝构造函数，赋值操作，析构函数)</a:t>
            </a:r>
            <a:endParaRPr sz="1600" spc="0" dirty="0">
              <a:solidFill>
                <a:schemeClr val="tx1">
                  <a:lumMod val="65000"/>
                  <a:lumOff val="35000"/>
                </a:schemeClr>
              </a:solidFill>
              <a:sym typeface="+mn-ea"/>
            </a:endParaRPr>
          </a:p>
          <a:p>
            <a:pPr marL="342900" indent="-342900">
              <a:lnSpc>
                <a:spcPct val="160000"/>
              </a:lnSpc>
              <a:buAutoNum type="arabicPeriod"/>
            </a:pPr>
            <a:r>
              <a:rPr sz="1600" spc="0" dirty="0">
                <a:solidFill>
                  <a:schemeClr val="tx1">
                    <a:lumMod val="65000"/>
                    <a:lumOff val="35000"/>
                  </a:schemeClr>
                </a:solidFill>
                <a:sym typeface="+mn-ea"/>
              </a:rPr>
              <a:t>它的所有数据成员都能够移动构造或移动赋值</a:t>
            </a:r>
            <a:endParaRPr sz="1600" spc="0" dirty="0">
              <a:solidFill>
                <a:schemeClr val="tx1">
                  <a:lumMod val="65000"/>
                  <a:lumOff val="35000"/>
                </a:schemeClr>
              </a:solidFill>
              <a:sym typeface="+mn-ea"/>
            </a:endParaRPr>
          </a:p>
          <a:p>
            <a:pPr marL="0" indent="0">
              <a:lnSpc>
                <a:spcPct val="160000"/>
              </a:lnSpc>
              <a:buNone/>
            </a:pPr>
            <a:r>
              <a:rPr sz="1600" b="1" spc="0" dirty="0">
                <a:solidFill>
                  <a:srgbClr val="FF0000"/>
                </a:solidFill>
                <a:sym typeface="+mn-ea"/>
              </a:rPr>
              <a:t>如果需要移动语义，建议自己定义，不要编译器合成（编译器是能使用拷贝，就不会使用移动，除非对象明确的定义了移动语义）</a:t>
            </a:r>
            <a:endParaRPr sz="1600" b="1" spc="0" dirty="0">
              <a:solidFill>
                <a:srgbClr val="FF0000"/>
              </a:solidFill>
              <a:sym typeface="+mn-ea"/>
            </a:endParaRPr>
          </a:p>
        </p:txBody>
      </p:sp>
      <p:sp>
        <p:nvSpPr>
          <p:cNvPr id="2" name="文本框 1"/>
          <p:cNvSpPr txBox="1"/>
          <p:nvPr/>
        </p:nvSpPr>
        <p:spPr>
          <a:xfrm>
            <a:off x="457200" y="496570"/>
            <a:ext cx="8061325" cy="506730"/>
          </a:xfrm>
          <a:prstGeom prst="rect">
            <a:avLst/>
          </a:prstGeom>
          <a:noFill/>
        </p:spPr>
        <p:txBody>
          <a:bodyPr wrap="square" rtlCol="0">
            <a:spAutoFit/>
          </a:bodyPr>
          <a:p>
            <a:pPr marL="0" indent="0">
              <a:buNone/>
            </a:pPr>
            <a:r>
              <a:rPr lang="en-US" sz="2700" b="1" dirty="0" err="1">
                <a:latin typeface="微软雅黑" panose="020B0503020204020204" charset="-122"/>
                <a:cs typeface="微软雅黑" panose="020B0503020204020204" charset="-122"/>
                <a:sym typeface="+mn-ea"/>
              </a:rPr>
              <a:t>编译器生成移动操作</a:t>
            </a:r>
            <a:endParaRPr lang="en-US" sz="2700" b="1" dirty="0" err="1">
              <a:latin typeface="微软雅黑" panose="020B0503020204020204" charset="-122"/>
              <a:cs typeface="微软雅黑" panose="020B0503020204020204" charset="-122"/>
              <a:sym typeface="+mn-ea"/>
            </a:endParaRP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44270"/>
            <a:ext cx="8122285" cy="5180965"/>
          </a:xfrm>
        </p:spPr>
        <p:txBody>
          <a:bodyPr>
            <a:normAutofit lnSpcReduction="10000"/>
          </a:bodyPr>
          <a:lstStyle/>
          <a:p>
            <a:pPr marL="0" indent="0">
              <a:lnSpc>
                <a:spcPct val="160000"/>
              </a:lnSpc>
              <a:buNone/>
            </a:pPr>
            <a:r>
              <a:rPr sz="1600" spc="0" dirty="0">
                <a:sym typeface="+mn-ea"/>
              </a:rPr>
              <a:t>通过</a:t>
            </a:r>
            <a:r>
              <a:rPr sz="1600" b="1" spc="0" dirty="0">
                <a:solidFill>
                  <a:srgbClr val="FF0000"/>
                </a:solidFill>
                <a:sym typeface="+mn-ea"/>
              </a:rPr>
              <a:t>std::move</a:t>
            </a:r>
            <a:r>
              <a:rPr sz="1600" spc="0" dirty="0">
                <a:sym typeface="+mn-ea"/>
              </a:rPr>
              <a:t>可以将左值转换成右值引用，move函数并不会产生移动操作，只是产生一个右值引用，真正的移动操作是在移动构造函数和移动赋值函数中完成的</a:t>
            </a:r>
            <a:endParaRPr sz="1600" spc="0" dirty="0">
              <a:sym typeface="+mn-ea"/>
            </a:endParaRPr>
          </a:p>
          <a:p>
            <a:pPr marL="0" indent="0">
              <a:lnSpc>
                <a:spcPct val="160000"/>
              </a:lnSpc>
              <a:buNone/>
            </a:pPr>
            <a:r>
              <a:rPr sz="1400" b="1" spc="0" dirty="0">
                <a:solidFill>
                  <a:srgbClr val="FF0000"/>
                </a:solidFill>
                <a:sym typeface="+mn-ea"/>
              </a:rPr>
              <a:t>string s = "abc";</a:t>
            </a:r>
            <a:endParaRPr sz="1400" b="1" spc="0" dirty="0">
              <a:solidFill>
                <a:srgbClr val="FF0000"/>
              </a:solidFill>
              <a:sym typeface="+mn-ea"/>
            </a:endParaRPr>
          </a:p>
          <a:p>
            <a:pPr marL="0" indent="0">
              <a:lnSpc>
                <a:spcPct val="130000"/>
              </a:lnSpc>
              <a:buNone/>
            </a:pPr>
            <a:r>
              <a:rPr sz="1400" b="1" spc="0" dirty="0">
                <a:solidFill>
                  <a:srgbClr val="FF0000"/>
                </a:solidFill>
                <a:sym typeface="+mn-ea"/>
              </a:rPr>
              <a:t>std::string &amp;&amp;s</a:t>
            </a:r>
            <a:r>
              <a:rPr lang="en-US" altLang="zh-CN" sz="1400" b="1" spc="0" dirty="0">
                <a:solidFill>
                  <a:srgbClr val="FF0000"/>
                </a:solidFill>
                <a:sym typeface="+mn-ea"/>
              </a:rPr>
              <a:t>1</a:t>
            </a:r>
            <a:r>
              <a:rPr sz="1400" b="1" spc="0" dirty="0">
                <a:solidFill>
                  <a:srgbClr val="FF0000"/>
                </a:solidFill>
                <a:sym typeface="+mn-ea"/>
              </a:rPr>
              <a:t> = std::move(s);</a:t>
            </a:r>
            <a:endParaRPr sz="1400" b="1" spc="0" dirty="0">
              <a:solidFill>
                <a:srgbClr val="FF0000"/>
              </a:solidFill>
              <a:sym typeface="+mn-ea"/>
            </a:endParaRPr>
          </a:p>
          <a:p>
            <a:pPr marL="0" indent="0">
              <a:lnSpc>
                <a:spcPct val="130000"/>
              </a:lnSpc>
              <a:buNone/>
            </a:pPr>
            <a:r>
              <a:rPr sz="1400" b="1" spc="0" dirty="0">
                <a:solidFill>
                  <a:srgbClr val="FF0000"/>
                </a:solidFill>
                <a:sym typeface="+mn-ea"/>
              </a:rPr>
              <a:t>std::cout &lt;&lt; s</a:t>
            </a:r>
            <a:r>
              <a:rPr lang="en-US" altLang="zh-CN" sz="1400" b="1" spc="0" dirty="0">
                <a:solidFill>
                  <a:srgbClr val="FF0000"/>
                </a:solidFill>
                <a:sym typeface="+mn-ea"/>
              </a:rPr>
              <a:t>1</a:t>
            </a:r>
            <a:r>
              <a:rPr sz="1400" b="1" spc="0" dirty="0">
                <a:solidFill>
                  <a:srgbClr val="FF0000"/>
                </a:solidFill>
                <a:sym typeface="+mn-ea"/>
              </a:rPr>
              <a:t>.c_str() &lt;&lt; std::endl;</a:t>
            </a:r>
            <a:endParaRPr sz="1400" b="1" spc="0" dirty="0">
              <a:solidFill>
                <a:srgbClr val="FF0000"/>
              </a:solidFill>
              <a:sym typeface="+mn-ea"/>
            </a:endParaRPr>
          </a:p>
          <a:p>
            <a:pPr marL="0" indent="0">
              <a:lnSpc>
                <a:spcPct val="130000"/>
              </a:lnSpc>
              <a:buNone/>
            </a:pPr>
            <a:r>
              <a:rPr sz="1600" spc="0" dirty="0">
                <a:sym typeface="+mn-ea"/>
              </a:rPr>
              <a:t>要转移变量s的资源，需要调用移动构造函数或移动赋值函数</a:t>
            </a:r>
            <a:endParaRPr sz="1600" spc="0" dirty="0">
              <a:sym typeface="+mn-ea"/>
            </a:endParaRPr>
          </a:p>
          <a:p>
            <a:pPr marL="0" indent="0">
              <a:lnSpc>
                <a:spcPct val="130000"/>
              </a:lnSpc>
              <a:buNone/>
            </a:pPr>
            <a:r>
              <a:rPr sz="1400" b="1" spc="0" dirty="0">
                <a:solidFill>
                  <a:srgbClr val="FF0000"/>
                </a:solidFill>
                <a:sym typeface="+mn-ea"/>
              </a:rPr>
              <a:t>std::string ss(std::move(s));</a:t>
            </a:r>
            <a:endParaRPr sz="1400" b="1" spc="0" dirty="0">
              <a:solidFill>
                <a:srgbClr val="FF0000"/>
              </a:solidFill>
              <a:sym typeface="+mn-ea"/>
            </a:endParaRPr>
          </a:p>
          <a:p>
            <a:pPr marL="0" indent="0">
              <a:lnSpc>
                <a:spcPct val="130000"/>
              </a:lnSpc>
              <a:buNone/>
            </a:pPr>
            <a:r>
              <a:rPr sz="1400" b="1" spc="0" dirty="0">
                <a:solidFill>
                  <a:srgbClr val="FF0000"/>
                </a:solidFill>
                <a:sym typeface="+mn-ea"/>
              </a:rPr>
              <a:t>std::string ss1 = std::move(s);</a:t>
            </a:r>
            <a:endParaRPr sz="1400" b="1" spc="0" dirty="0">
              <a:solidFill>
                <a:srgbClr val="FF0000"/>
              </a:solidFill>
              <a:sym typeface="+mn-ea"/>
            </a:endParaRPr>
          </a:p>
          <a:p>
            <a:pPr marL="0" algn="l">
              <a:lnSpc>
                <a:spcPct val="160000"/>
              </a:lnSpc>
              <a:buClrTx/>
              <a:buSzTx/>
              <a:buNone/>
            </a:pPr>
            <a:r>
              <a:rPr sz="1600" b="1" spc="0" dirty="0">
                <a:solidFill>
                  <a:srgbClr val="FF0000"/>
                </a:solidFill>
                <a:sym typeface="+mn-ea"/>
              </a:rPr>
              <a:t>std::move(s)产生右值引用，从而触发调用string的移动构造函数或移动赋值函数，此时变量s的资源就被转移了，如果对象没有定义移动语义，则会调用拷贝构造函数或赋值构造函数</a:t>
            </a:r>
            <a:endParaRPr sz="1600" b="1" spc="0" dirty="0">
              <a:solidFill>
                <a:srgbClr val="FF0000"/>
              </a:solidFill>
              <a:sym typeface="+mn-ea"/>
            </a:endParaRPr>
          </a:p>
        </p:txBody>
      </p:sp>
      <p:sp>
        <p:nvSpPr>
          <p:cNvPr id="2" name="文本框 1"/>
          <p:cNvSpPr txBox="1"/>
          <p:nvPr/>
        </p:nvSpPr>
        <p:spPr>
          <a:xfrm>
            <a:off x="457200" y="496570"/>
            <a:ext cx="8061325" cy="506730"/>
          </a:xfrm>
          <a:prstGeom prst="rect">
            <a:avLst/>
          </a:prstGeom>
          <a:noFill/>
        </p:spPr>
        <p:txBody>
          <a:bodyPr wrap="square" rtlCol="0">
            <a:spAutoFit/>
          </a:bodyPr>
          <a:p>
            <a:pPr marL="0" indent="0">
              <a:buNone/>
            </a:pPr>
            <a:r>
              <a:rPr lang="en-US" sz="2700" b="1" dirty="0" err="1">
                <a:latin typeface="微软雅黑" panose="020B0503020204020204" charset="-122"/>
                <a:cs typeface="微软雅黑" panose="020B0503020204020204" charset="-122"/>
                <a:sym typeface="+mn-ea"/>
              </a:rPr>
              <a:t>std::move</a:t>
            </a:r>
            <a:r>
              <a:rPr lang="zh-CN" altLang="en-US" sz="2700" b="1" dirty="0" err="1">
                <a:latin typeface="微软雅黑" panose="020B0503020204020204" charset="-122"/>
                <a:cs typeface="微软雅黑" panose="020B0503020204020204" charset="-122"/>
                <a:sym typeface="+mn-ea"/>
              </a:rPr>
              <a:t>函数</a:t>
            </a:r>
            <a:endParaRPr lang="zh-CN" altLang="en-US" sz="2700" b="1" dirty="0" err="1">
              <a:latin typeface="微软雅黑" panose="020B0503020204020204" charset="-122"/>
              <a:cs typeface="微软雅黑" panose="020B0503020204020204" charset="-122"/>
              <a:sym typeface="+mn-ea"/>
            </a:endParaRPr>
          </a:p>
        </p:txBody>
      </p:sp>
      <mc:AlternateContent xmlns:mc="http://schemas.openxmlformats.org/markup-compatibility/2006" xmlns:p14="http://schemas.microsoft.com/office/powerpoint/2010/main">
        <mc:Choice Requires="p14">
          <p:contentPart r:id="rId1" p14:bwMode="auto">
            <p14:nvContentPartPr>
              <p14:cNvPr id="10" name="墨迹 9"/>
              <p14:cNvContentPartPr/>
              <p14:nvPr/>
            </p14:nvContentPartPr>
            <p14:xfrm>
              <a:off x="635000" y="1936750"/>
              <a:ext cx="1085850" cy="19050"/>
            </p14:xfrm>
          </p:contentPart>
        </mc:Choice>
        <mc:Fallback xmlns="">
          <p:pic>
            <p:nvPicPr>
              <p:cNvPr id="10" name="墨迹 9"/>
            </p:nvPicPr>
            <p:blipFill>
              <a:blip r:embed="rId2"/>
            </p:blipFill>
            <p:spPr>
              <a:xfrm>
                <a:off x="635000" y="1936750"/>
                <a:ext cx="1085850" cy="19050"/>
              </a:xfrm>
              <a:prstGeom prst="rect"/>
            </p:spPr>
          </p:pic>
        </mc:Fallback>
      </mc:AlternateContent>
    </p:spTree>
    <p:custDataLst>
      <p:tags r:id="rId3"/>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69340"/>
            <a:ext cx="8183880" cy="5255895"/>
          </a:xfrm>
        </p:spPr>
        <p:txBody>
          <a:bodyPr>
            <a:normAutofit lnSpcReduction="20000"/>
          </a:bodyPr>
          <a:lstStyle/>
          <a:p>
            <a:pPr>
              <a:lnSpc>
                <a:spcPct val="160000"/>
              </a:lnSpc>
            </a:pPr>
            <a:r>
              <a:rPr sz="1600" spc="0" dirty="0">
                <a:sym typeface="+mn-ea"/>
              </a:rPr>
              <a:t>移动语义已被全面引入了STL，比如string，容器类，智能指针</a:t>
            </a:r>
            <a:endParaRPr sz="1600" spc="0" dirty="0">
              <a:sym typeface="+mn-ea"/>
            </a:endParaRPr>
          </a:p>
          <a:p>
            <a:pPr>
              <a:lnSpc>
                <a:spcPct val="160000"/>
              </a:lnSpc>
            </a:pPr>
            <a:r>
              <a:rPr sz="1600" spc="0" dirty="0">
                <a:sym typeface="+mn-ea"/>
              </a:rPr>
              <a:t>旧的标准中我们返回一个容器往往是返回一个容器的引用，在C++ 11 的STL的容器都支持了移动语义，就可以直接返回容器对象了</a:t>
            </a:r>
            <a:endParaRPr sz="1600" spc="0" dirty="0">
              <a:sym typeface="+mn-ea"/>
            </a:endParaRPr>
          </a:p>
          <a:p>
            <a:pPr marL="0" indent="0">
              <a:lnSpc>
                <a:spcPct val="100000"/>
              </a:lnSpc>
              <a:buNone/>
            </a:pPr>
            <a:r>
              <a:rPr b="1" spc="0" dirty="0">
                <a:solidFill>
                  <a:srgbClr val="FF0000"/>
                </a:solidFill>
                <a:sym typeface="+mn-ea"/>
              </a:rPr>
              <a:t>//以前为了避免产生临时对象，避免复制的写法</a:t>
            </a:r>
            <a:endParaRPr b="1" spc="0" dirty="0">
              <a:solidFill>
                <a:srgbClr val="FF0000"/>
              </a:solidFill>
              <a:sym typeface="+mn-ea"/>
            </a:endParaRPr>
          </a:p>
          <a:p>
            <a:pPr marL="0" indent="0">
              <a:lnSpc>
                <a:spcPct val="100000"/>
              </a:lnSpc>
              <a:buNone/>
            </a:pPr>
            <a:r>
              <a:rPr b="1" spc="0" dirty="0">
                <a:solidFill>
                  <a:srgbClr val="FF0000"/>
                </a:solidFill>
                <a:sym typeface="+mn-ea"/>
              </a:rPr>
              <a:t>void GetDatas(std::vector&lt;Data&gt;&amp; Datas)</a:t>
            </a:r>
            <a:endParaRPr b="1" spc="0" dirty="0">
              <a:solidFill>
                <a:srgbClr val="FF0000"/>
              </a:solidFill>
              <a:sym typeface="+mn-ea"/>
            </a:endParaRPr>
          </a:p>
          <a:p>
            <a:pPr marL="0" indent="0">
              <a:lnSpc>
                <a:spcPct val="100000"/>
              </a:lnSpc>
              <a:buNone/>
            </a:pPr>
            <a:r>
              <a:rPr b="1" spc="0" dirty="0">
                <a:solidFill>
                  <a:srgbClr val="FF0000"/>
                </a:solidFill>
                <a:sym typeface="+mn-ea"/>
              </a:rPr>
              <a:t>{</a:t>
            </a:r>
            <a:endParaRPr b="1" spc="0" dirty="0">
              <a:solidFill>
                <a:srgbClr val="FF0000"/>
              </a:solidFill>
              <a:sym typeface="+mn-ea"/>
            </a:endParaRPr>
          </a:p>
          <a:p>
            <a:pPr marL="0" indent="0">
              <a:lnSpc>
                <a:spcPct val="100000"/>
              </a:lnSpc>
              <a:buNone/>
            </a:pPr>
            <a:r>
              <a:rPr b="1" spc="0" dirty="0">
                <a:solidFill>
                  <a:srgbClr val="FF0000"/>
                </a:solidFill>
                <a:sym typeface="+mn-ea"/>
              </a:rPr>
              <a:t>    ...</a:t>
            </a:r>
            <a:endParaRPr b="1" spc="0" dirty="0">
              <a:solidFill>
                <a:srgbClr val="FF0000"/>
              </a:solidFill>
              <a:sym typeface="+mn-ea"/>
            </a:endParaRPr>
          </a:p>
          <a:p>
            <a:pPr marL="0" indent="0">
              <a:lnSpc>
                <a:spcPct val="100000"/>
              </a:lnSpc>
              <a:buNone/>
            </a:pPr>
            <a:r>
              <a:rPr b="1" spc="0" dirty="0">
                <a:solidFill>
                  <a:srgbClr val="FF0000"/>
                </a:solidFill>
                <a:sym typeface="+mn-ea"/>
              </a:rPr>
              <a:t>}</a:t>
            </a:r>
            <a:endParaRPr b="1" spc="0" dirty="0">
              <a:solidFill>
                <a:srgbClr val="FF0000"/>
              </a:solidFill>
              <a:sym typeface="+mn-ea"/>
            </a:endParaRPr>
          </a:p>
          <a:p>
            <a:pPr marL="0" indent="0">
              <a:lnSpc>
                <a:spcPct val="130000"/>
              </a:lnSpc>
              <a:buNone/>
            </a:pPr>
            <a:r>
              <a:rPr b="1" spc="0" dirty="0">
                <a:solidFill>
                  <a:srgbClr val="FF0000"/>
                </a:solidFill>
                <a:sym typeface="+mn-ea"/>
              </a:rPr>
              <a:t>//有了移动语义的写法</a:t>
            </a:r>
            <a:endParaRPr b="1" spc="0" dirty="0">
              <a:solidFill>
                <a:srgbClr val="FF0000"/>
              </a:solidFill>
              <a:sym typeface="+mn-ea"/>
            </a:endParaRPr>
          </a:p>
          <a:p>
            <a:pPr marL="0" indent="0">
              <a:lnSpc>
                <a:spcPct val="80000"/>
              </a:lnSpc>
              <a:buNone/>
            </a:pPr>
            <a:r>
              <a:rPr sz="1400" b="1" spc="0" dirty="0">
                <a:solidFill>
                  <a:srgbClr val="FF0000"/>
                </a:solidFill>
                <a:sym typeface="+mn-ea"/>
              </a:rPr>
              <a:t>std::vector&lt;Data&gt; GetDatas()</a:t>
            </a:r>
            <a:endParaRPr sz="1400" b="1" spc="0" dirty="0">
              <a:solidFill>
                <a:srgbClr val="FF0000"/>
              </a:solidFill>
              <a:sym typeface="+mn-ea"/>
            </a:endParaRPr>
          </a:p>
          <a:p>
            <a:pPr marL="0" indent="0">
              <a:lnSpc>
                <a:spcPct val="80000"/>
              </a:lnSpc>
              <a:buNone/>
            </a:pPr>
            <a:r>
              <a:rPr sz="1400" b="1" spc="0" dirty="0">
                <a:solidFill>
                  <a:srgbClr val="FF0000"/>
                </a:solidFill>
                <a:sym typeface="+mn-ea"/>
              </a:rPr>
              <a:t>{</a:t>
            </a:r>
            <a:endParaRPr sz="1400" b="1" spc="0" dirty="0">
              <a:solidFill>
                <a:srgbClr val="FF0000"/>
              </a:solidFill>
              <a:sym typeface="+mn-ea"/>
            </a:endParaRPr>
          </a:p>
          <a:p>
            <a:pPr marL="0" indent="0">
              <a:lnSpc>
                <a:spcPct val="80000"/>
              </a:lnSpc>
              <a:buNone/>
            </a:pPr>
            <a:r>
              <a:rPr sz="1400" b="1" spc="0" dirty="0">
                <a:solidFill>
                  <a:srgbClr val="FF0000"/>
                </a:solidFill>
                <a:sym typeface="+mn-ea"/>
              </a:rPr>
              <a:t>    ...</a:t>
            </a:r>
            <a:endParaRPr sz="1400" b="1" spc="0" dirty="0">
              <a:solidFill>
                <a:srgbClr val="FF0000"/>
              </a:solidFill>
              <a:sym typeface="+mn-ea"/>
            </a:endParaRPr>
          </a:p>
          <a:p>
            <a:pPr marL="0" indent="0">
              <a:lnSpc>
                <a:spcPct val="80000"/>
              </a:lnSpc>
              <a:buNone/>
            </a:pPr>
            <a:r>
              <a:rPr sz="1400" b="1" spc="0" dirty="0">
                <a:solidFill>
                  <a:srgbClr val="FF0000"/>
                </a:solidFill>
                <a:sym typeface="+mn-ea"/>
              </a:rPr>
              <a:t>    return Datas;</a:t>
            </a:r>
            <a:endParaRPr sz="1400" b="1" spc="0" dirty="0">
              <a:solidFill>
                <a:srgbClr val="FF0000"/>
              </a:solidFill>
              <a:sym typeface="+mn-ea"/>
            </a:endParaRPr>
          </a:p>
          <a:p>
            <a:pPr marL="0" indent="0">
              <a:lnSpc>
                <a:spcPct val="80000"/>
              </a:lnSpc>
              <a:buNone/>
            </a:pPr>
            <a:r>
              <a:rPr sz="1400" b="1" spc="0" dirty="0">
                <a:solidFill>
                  <a:srgbClr val="FF0000"/>
                </a:solidFill>
                <a:sym typeface="+mn-ea"/>
              </a:rPr>
              <a:t>}</a:t>
            </a:r>
            <a:endParaRPr sz="1400" b="1" spc="0" dirty="0">
              <a:solidFill>
                <a:srgbClr val="FF0000"/>
              </a:solidFill>
              <a:sym typeface="+mn-ea"/>
            </a:endParaRPr>
          </a:p>
          <a:p>
            <a:pPr marL="0" indent="0">
              <a:lnSpc>
                <a:spcPct val="80000"/>
              </a:lnSpc>
              <a:buNone/>
            </a:pPr>
            <a:endParaRPr sz="1400" b="1" spc="0" dirty="0">
              <a:solidFill>
                <a:srgbClr val="FF0000"/>
              </a:solidFill>
              <a:sym typeface="+mn-ea"/>
            </a:endParaRPr>
          </a:p>
        </p:txBody>
      </p:sp>
      <p:sp>
        <p:nvSpPr>
          <p:cNvPr id="2" name="文本框 1"/>
          <p:cNvSpPr txBox="1"/>
          <p:nvPr/>
        </p:nvSpPr>
        <p:spPr>
          <a:xfrm>
            <a:off x="457200" y="496570"/>
            <a:ext cx="8061325" cy="506730"/>
          </a:xfrm>
          <a:prstGeom prst="rect">
            <a:avLst/>
          </a:prstGeom>
          <a:noFill/>
        </p:spPr>
        <p:txBody>
          <a:bodyPr wrap="square" rtlCol="0">
            <a:spAutoFit/>
          </a:bodyPr>
          <a:p>
            <a:pPr marL="0" indent="0">
              <a:buNone/>
            </a:pPr>
            <a:r>
              <a:rPr lang="en-US" altLang="zh-CN" sz="2700" b="1" dirty="0" err="1">
                <a:latin typeface="微软雅黑" panose="020B0503020204020204" charset="-122"/>
                <a:cs typeface="微软雅黑" panose="020B0503020204020204" charset="-122"/>
                <a:sym typeface="+mn-ea"/>
              </a:rPr>
              <a:t>STL</a:t>
            </a:r>
            <a:r>
              <a:rPr lang="zh-CN" altLang="en-US" sz="2700" b="1" dirty="0" err="1">
                <a:latin typeface="微软雅黑" panose="020B0503020204020204" charset="-122"/>
                <a:cs typeface="微软雅黑" panose="020B0503020204020204" charset="-122"/>
                <a:sym typeface="+mn-ea"/>
              </a:rPr>
              <a:t>中的移动语义</a:t>
            </a:r>
            <a:endParaRPr lang="zh-CN" altLang="en-US" sz="2700" b="1" dirty="0" err="1">
              <a:latin typeface="微软雅黑" panose="020B0503020204020204" charset="-122"/>
              <a:cs typeface="微软雅黑" panose="020B0503020204020204" charset="-122"/>
              <a:sym typeface="+mn-ea"/>
            </a:endParaRPr>
          </a:p>
        </p:txBody>
      </p:sp>
      <mc:AlternateContent xmlns:mc="http://schemas.openxmlformats.org/markup-compatibility/2006" xmlns:p14="http://schemas.microsoft.com/office/powerpoint/2010/main">
        <mc:Choice Requires="p14">
          <p:contentPart r:id="rId1" p14:bwMode="auto">
            <p14:nvContentPartPr>
              <p14:cNvPr id="16" name="墨迹 15"/>
              <p14:cNvContentPartPr/>
              <p14:nvPr/>
            </p14:nvContentPartPr>
            <p14:xfrm>
              <a:off x="869950" y="4724400"/>
              <a:ext cx="19050" cy="360"/>
            </p14:xfrm>
          </p:contentPart>
        </mc:Choice>
        <mc:Fallback xmlns="">
          <p:pic>
            <p:nvPicPr>
              <p:cNvPr id="16" name="墨迹 15"/>
            </p:nvPicPr>
            <p:blipFill>
              <a:blip r:embed="rId2"/>
            </p:blipFill>
            <p:spPr>
              <a:xfrm>
                <a:off x="869950" y="4724400"/>
                <a:ext cx="19050" cy="360"/>
              </a:xfrm>
              <a:prstGeom prst="rect"/>
            </p:spPr>
          </p:pic>
        </mc:Fallback>
      </mc:AlternateContent>
    </p:spTree>
    <p:custDataLst>
      <p:tags r:id="rId3"/>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34035"/>
            <a:ext cx="8319770" cy="5873750"/>
          </a:xfrm>
        </p:spPr>
        <p:txBody>
          <a:bodyPr>
            <a:normAutofit lnSpcReduction="20000"/>
          </a:bodyPr>
          <a:lstStyle/>
          <a:p>
            <a:pPr marL="0" algn="l">
              <a:lnSpc>
                <a:spcPct val="100000"/>
              </a:lnSpc>
              <a:buClrTx/>
              <a:buSzTx/>
              <a:buFontTx/>
              <a:buNone/>
            </a:pPr>
            <a:r>
              <a:rPr lang="en-US" altLang="zh-CN" sz="2700" b="1" spc="0" dirty="0" err="1">
                <a:latin typeface="微软雅黑" panose="020B0503020204020204" charset="-122"/>
                <a:ea typeface="+mn-ea"/>
                <a:cs typeface="微软雅黑" panose="020B0503020204020204" charset="-122"/>
                <a:sym typeface="+mn-ea"/>
              </a:rPr>
              <a:t>移动语义的使用</a:t>
            </a:r>
            <a:endParaRPr lang="en-US" altLang="zh-CN" sz="2700" b="1" spc="0" dirty="0" err="1">
              <a:latin typeface="微软雅黑" panose="020B0503020204020204" charset="-122"/>
              <a:ea typeface="+mn-ea"/>
              <a:cs typeface="微软雅黑" panose="020B0503020204020204" charset="-122"/>
              <a:sym typeface="+mn-ea"/>
            </a:endParaRPr>
          </a:p>
          <a:p>
            <a:pPr marL="0" indent="0">
              <a:lnSpc>
                <a:spcPct val="160000"/>
              </a:lnSpc>
              <a:buNone/>
            </a:pPr>
            <a:r>
              <a:rPr sz="1600" spc="0" dirty="0">
                <a:sym typeface="+mn-ea"/>
              </a:rPr>
              <a:t>移动语义是C++ 11 中非常重要的特性，整个C++ 98的标准库都已经为C++ 11彻底翻修过，目的是为那些类型移动的可以实现成比复制更快的类型增添移动操作，而且库组件的实现也已经完成修订以充分利用这些移动操作。似乎只需要将现有的代码通过支持C++11的编译器编译后，就享受到了移动语义带来的性能提升。但是实际情况并非如此：</a:t>
            </a:r>
            <a:endParaRPr sz="1600" spc="0" dirty="0">
              <a:sym typeface="+mn-ea"/>
            </a:endParaRPr>
          </a:p>
          <a:p>
            <a:pPr marL="342900" indent="-342900">
              <a:lnSpc>
                <a:spcPct val="160000"/>
              </a:lnSpc>
              <a:buAutoNum type="arabicPeriod"/>
            </a:pPr>
            <a:r>
              <a:rPr sz="1600" spc="0" dirty="0">
                <a:sym typeface="+mn-ea"/>
              </a:rPr>
              <a:t>编译器为自定义类型自动生成移动语义的是有要求的，必须没有声明复制操作，移动操作以及析构函数</a:t>
            </a:r>
            <a:endParaRPr sz="1600" spc="0" dirty="0">
              <a:sym typeface="+mn-ea"/>
            </a:endParaRPr>
          </a:p>
          <a:p>
            <a:pPr marL="342900" indent="-342900">
              <a:lnSpc>
                <a:spcPct val="160000"/>
              </a:lnSpc>
              <a:buAutoNum type="arabicPeriod"/>
            </a:pPr>
            <a:r>
              <a:rPr sz="1600" spc="0" dirty="0">
                <a:sym typeface="+mn-ea"/>
              </a:rPr>
              <a:t>即使在标准库中都已经支持移动操作，但是也可能不会像希望的那样带来那么大利好。这样取决已具体的实现</a:t>
            </a:r>
            <a:endParaRPr sz="1600" spc="0" dirty="0">
              <a:sym typeface="+mn-ea"/>
            </a:endParaRPr>
          </a:p>
          <a:p>
            <a:pPr>
              <a:lnSpc>
                <a:spcPct val="160000"/>
              </a:lnSpc>
            </a:pPr>
            <a:r>
              <a:rPr sz="1600" spc="0" dirty="0">
                <a:sym typeface="+mn-ea"/>
              </a:rPr>
              <a:t>比如list，它的实现通常是会在堆上分配内存，将容器元素放在这个堆内存上，内部只是会维护指向堆内存的指针。那么对list的移动，只算交换指针，那么效率自然会有提升</a:t>
            </a:r>
            <a:endParaRPr sz="1600" spc="0" dirty="0">
              <a:sym typeface="+mn-ea"/>
            </a:endParaRPr>
          </a:p>
          <a:p>
            <a:pPr algn="l">
              <a:lnSpc>
                <a:spcPct val="160000"/>
              </a:lnSpc>
              <a:buClrTx/>
              <a:buSzTx/>
            </a:pPr>
            <a:r>
              <a:rPr sz="1600" spc="0" dirty="0">
                <a:sym typeface="+mn-ea"/>
              </a:rPr>
              <a:t>比如array，它是C++ 11引入的新的容器类型，就是数组。它的内存就是对象内部的一个缓存区(比如是在栈上分配的一段顺序的空间)，所以对它的移动操作，还是要将元素进行复制</a:t>
            </a:r>
            <a:endParaRPr sz="1600" spc="0" dirty="0">
              <a:sym typeface="+mn-ea"/>
            </a:endParaRPr>
          </a:p>
          <a:p>
            <a:pPr marL="0" indent="0">
              <a:lnSpc>
                <a:spcPct val="80000"/>
              </a:lnSpc>
              <a:buNone/>
            </a:pPr>
            <a:endParaRPr sz="1400" b="1" spc="0" dirty="0">
              <a:solidFill>
                <a:srgbClr val="FF0000"/>
              </a:solidFill>
              <a:sym typeface="+mn-ea"/>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34035"/>
            <a:ext cx="8319770" cy="5873750"/>
          </a:xfrm>
        </p:spPr>
        <p:txBody>
          <a:bodyPr>
            <a:normAutofit lnSpcReduction="20000"/>
          </a:bodyPr>
          <a:lstStyle/>
          <a:p>
            <a:pPr marL="0" indent="0" algn="l">
              <a:lnSpc>
                <a:spcPct val="160000"/>
              </a:lnSpc>
              <a:buClrTx/>
              <a:buSzTx/>
              <a:buNone/>
            </a:pPr>
            <a:r>
              <a:rPr sz="1600" spc="0" dirty="0">
                <a:sym typeface="+mn-ea"/>
              </a:rPr>
              <a:t>可见移动操作并非想象的多么便利，但是它的出现还是给我们提供了一个提升性能的机制，要充分利用移动语义，需要做到以下两点：</a:t>
            </a:r>
            <a:endParaRPr sz="1600" spc="0" dirty="0">
              <a:sym typeface="+mn-ea"/>
            </a:endParaRPr>
          </a:p>
          <a:p>
            <a:pPr algn="l">
              <a:lnSpc>
                <a:spcPct val="160000"/>
              </a:lnSpc>
              <a:buClrTx/>
              <a:buSzTx/>
            </a:pPr>
            <a:r>
              <a:rPr sz="1600" spc="0" dirty="0">
                <a:sym typeface="+mn-ea"/>
              </a:rPr>
              <a:t>在适合的场景，为自定义的类声明移动操作</a:t>
            </a:r>
            <a:endParaRPr sz="1600" spc="0" dirty="0">
              <a:sym typeface="+mn-ea"/>
            </a:endParaRPr>
          </a:p>
          <a:p>
            <a:pPr algn="l">
              <a:lnSpc>
                <a:spcPct val="160000"/>
              </a:lnSpc>
              <a:buClrTx/>
              <a:buSzTx/>
            </a:pPr>
            <a:r>
              <a:rPr sz="1600" spc="0" dirty="0">
                <a:sym typeface="+mn-ea"/>
              </a:rPr>
              <a:t>选择合适的容器类型(至少要知道容器特点，它的基本实现原理)来利用它的移动语义带来的性能提升</a:t>
            </a:r>
            <a:endParaRPr sz="1600" spc="0" dirty="0">
              <a:sym typeface="+mn-ea"/>
            </a:endParaRPr>
          </a:p>
          <a:p>
            <a:pPr marL="0" indent="0" algn="l">
              <a:lnSpc>
                <a:spcPct val="160000"/>
              </a:lnSpc>
              <a:buClrTx/>
              <a:buSzTx/>
              <a:buNone/>
            </a:pPr>
            <a:endParaRPr sz="1600" spc="0" dirty="0">
              <a:sym typeface="+mn-ea"/>
            </a:endParaRPr>
          </a:p>
          <a:p>
            <a:pPr marL="0" indent="0" algn="l">
              <a:lnSpc>
                <a:spcPct val="160000"/>
              </a:lnSpc>
              <a:buClrTx/>
              <a:buSzTx/>
              <a:buNone/>
            </a:pPr>
            <a:r>
              <a:rPr sz="1600" b="1" spc="0" dirty="0">
                <a:solidFill>
                  <a:srgbClr val="FF0000"/>
                </a:solidFill>
                <a:sym typeface="+mn-ea"/>
              </a:rPr>
              <a:t>所以是要"明明白白"的使用移动语义</a:t>
            </a:r>
            <a:endParaRPr sz="1600" b="1" spc="0" dirty="0">
              <a:solidFill>
                <a:srgbClr val="FF0000"/>
              </a:solidFill>
              <a:sym typeface="+mn-ea"/>
            </a:endParaRPr>
          </a:p>
        </p:txBody>
      </p:sp>
    </p:spTree>
    <p:custDataLst>
      <p:tags r:id="rId1"/>
    </p:custDataLst>
  </p:cSld>
  <p:clrMapOvr>
    <a:masterClrMapping/>
  </p:clrMapOvr>
  <p:timing>
    <p:tnLst>
      <p:par>
        <p:cTn id="1" dur="indefinite" restart="never" nodeType="tmRoot"/>
      </p:par>
    </p:tnLst>
  </p:timing>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Lst>
</file>

<file path=ppt/tags/tag8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Lst>
</file>

<file path=ppt/tags/tag9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Lst>
</file>

<file path=ppt/tags/tag10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Lst>
</file>

<file path=ppt/tags/tag11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78"/>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78"/>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8.xml><?xml version="1.0" encoding="utf-8"?>
<p:tagLst xmlns:p="http://schemas.openxmlformats.org/presentationml/2006/main">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478"/>
  <p:tag name="KSO_WM_TEMPLATE_MASTER_TYPE" val="1"/>
  <p:tag name="KSO_WM_TEMPLATE_THUMBS_INDEX" val="1、4、7、12、15、16、20、23、24、25、30、35、39、40、41、42"/>
</p:tagLst>
</file>

<file path=ppt/tags/tag139.xml><?xml version="1.0" encoding="utf-8"?>
<p:tagLst xmlns:p="http://schemas.openxmlformats.org/presentationml/2006/main">
  <p:tag name="KSO_WM_TEMPLATE_CATEGORY" val="custom"/>
  <p:tag name="KSO_WM_TEMPLATE_INDEX" val="20204478"/>
</p:tagLst>
</file>

<file path=ppt/tags/tag140.xml><?xml version="1.0" encoding="utf-8"?>
<p:tagLst xmlns:p="http://schemas.openxmlformats.org/presentationml/2006/main">
  <p:tag name="KSO_WM_TEMPLATE_CATEGORY" val="custom"/>
  <p:tag name="KSO_WM_TEMPLATE_INDEX" val="20204478"/>
</p:tagLst>
</file>

<file path=ppt/tags/tag141.xml><?xml version="1.0" encoding="utf-8"?>
<p:tagLst xmlns:p="http://schemas.openxmlformats.org/presentationml/2006/main">
  <p:tag name="KSO_WM_TEMPLATE_CATEGORY" val="custom"/>
  <p:tag name="KSO_WM_TEMPLATE_INDEX" val="20204478"/>
</p:tagLst>
</file>

<file path=ppt/tags/tag142.xml><?xml version="1.0" encoding="utf-8"?>
<p:tagLst xmlns:p="http://schemas.openxmlformats.org/presentationml/2006/main">
  <p:tag name="KSO_WM_TEMPLATE_CATEGORY" val="custom"/>
  <p:tag name="KSO_WM_TEMPLATE_INDEX" val="20204478"/>
</p:tagLst>
</file>

<file path=ppt/tags/tag143.xml><?xml version="1.0" encoding="utf-8"?>
<p:tagLst xmlns:p="http://schemas.openxmlformats.org/presentationml/2006/main">
  <p:tag name="KSO_WM_TEMPLATE_CATEGORY" val="custom"/>
  <p:tag name="KSO_WM_TEMPLATE_INDEX" val="20204478"/>
</p:tagLst>
</file>

<file path=ppt/tags/tag144.xml><?xml version="1.0" encoding="utf-8"?>
<p:tagLst xmlns:p="http://schemas.openxmlformats.org/presentationml/2006/main">
  <p:tag name="KSO_WM_TEMPLATE_CATEGORY" val="custom"/>
  <p:tag name="KSO_WM_TEMPLATE_INDEX" val="20204478"/>
</p:tagLst>
</file>

<file path=ppt/tags/tag145.xml><?xml version="1.0" encoding="utf-8"?>
<p:tagLst xmlns:p="http://schemas.openxmlformats.org/presentationml/2006/main">
  <p:tag name="KSO_WM_TEMPLATE_CATEGORY" val="custom"/>
  <p:tag name="KSO_WM_TEMPLATE_INDEX" val="20204478"/>
</p:tagLst>
</file>

<file path=ppt/tags/tag146.xml><?xml version="1.0" encoding="utf-8"?>
<p:tagLst xmlns:p="http://schemas.openxmlformats.org/presentationml/2006/main">
  <p:tag name="KSO_WM_TEMPLATE_CATEGORY" val="custom"/>
  <p:tag name="KSO_WM_TEMPLATE_INDEX" val="20204478"/>
</p:tagLst>
</file>

<file path=ppt/tags/tag147.xml><?xml version="1.0" encoding="utf-8"?>
<p:tagLst xmlns:p="http://schemas.openxmlformats.org/presentationml/2006/main">
  <p:tag name="KSO_WM_TEMPLATE_CATEGORY" val="custom"/>
  <p:tag name="KSO_WM_TEMPLATE_INDEX" val="20204478"/>
</p:tagLst>
</file>

<file path=ppt/tags/tag148.xml><?xml version="1.0" encoding="utf-8"?>
<p:tagLst xmlns:p="http://schemas.openxmlformats.org/presentationml/2006/main">
  <p:tag name="KSO_WM_TEMPLATE_CATEGORY" val="custom"/>
  <p:tag name="KSO_WM_TEMPLATE_INDEX" val="20204478"/>
</p:tagLst>
</file>

<file path=ppt/tags/tag149.xml><?xml version="1.0" encoding="utf-8"?>
<p:tagLst xmlns:p="http://schemas.openxmlformats.org/presentationml/2006/main">
  <p:tag name="KSO_WM_TEMPLATE_CATEGORY" val="custom"/>
  <p:tag name="KSO_WM_TEMPLATE_INDEX" val="20204478"/>
</p:tagLst>
</file>

<file path=ppt/tags/tag150.xml><?xml version="1.0" encoding="utf-8"?>
<p:tagLst xmlns:p="http://schemas.openxmlformats.org/presentationml/2006/main">
  <p:tag name="KSO_WM_TEMPLATE_CATEGORY" val="custom"/>
  <p:tag name="KSO_WM_TEMPLATE_INDEX" val="20204478"/>
</p:tagLst>
</file>

<file path=ppt/tags/tag151.xml><?xml version="1.0" encoding="utf-8"?>
<p:tagLst xmlns:p="http://schemas.openxmlformats.org/presentationml/2006/main">
  <p:tag name="KSO_WM_TEMPLATE_CATEGORY" val="custom"/>
  <p:tag name="KSO_WM_TEMPLATE_INDEX" val="20204478"/>
</p:tagLst>
</file>

<file path=ppt/tags/tag152.xml><?xml version="1.0" encoding="utf-8"?>
<p:tagLst xmlns:p="http://schemas.openxmlformats.org/presentationml/2006/main">
  <p:tag name="KSO_WM_TEMPLATE_CATEGORY" val="custom"/>
  <p:tag name="KSO_WM_TEMPLATE_INDEX" val="20204478"/>
</p:tagLst>
</file>

<file path=ppt/theme/theme1.xml><?xml version="1.0" encoding="utf-8"?>
<a:theme xmlns:a="http://schemas.openxmlformats.org/drawingml/2006/main" name="2_Office 主题​​">
  <a:themeElements>
    <a:clrScheme name="自定义 199">
      <a:dk1>
        <a:srgbClr val="000000"/>
      </a:dk1>
      <a:lt1>
        <a:srgbClr val="FFFFFF"/>
      </a:lt1>
      <a:dk2>
        <a:srgbClr val="EEF6FC"/>
      </a:dk2>
      <a:lt2>
        <a:srgbClr val="FCFCFD"/>
      </a:lt2>
      <a:accent1>
        <a:srgbClr val="6F86A0"/>
      </a:accent1>
      <a:accent2>
        <a:srgbClr val="2F9BC1"/>
      </a:accent2>
      <a:accent3>
        <a:srgbClr val="20ADB0"/>
      </a:accent3>
      <a:accent4>
        <a:srgbClr val="35A550"/>
      </a:accent4>
      <a:accent5>
        <a:srgbClr val="7A9F3F"/>
      </a:accent5>
      <a:accent6>
        <a:srgbClr val="E5CA2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99">
    <a:dk1>
      <a:srgbClr val="000000"/>
    </a:dk1>
    <a:lt1>
      <a:srgbClr val="FFFFFF"/>
    </a:lt1>
    <a:dk2>
      <a:srgbClr val="EEF6FC"/>
    </a:dk2>
    <a:lt2>
      <a:srgbClr val="FCFCFD"/>
    </a:lt2>
    <a:accent1>
      <a:srgbClr val="6F86A0"/>
    </a:accent1>
    <a:accent2>
      <a:srgbClr val="2F9BC1"/>
    </a:accent2>
    <a:accent3>
      <a:srgbClr val="20ADB0"/>
    </a:accent3>
    <a:accent4>
      <a:srgbClr val="35A550"/>
    </a:accent4>
    <a:accent5>
      <a:srgbClr val="7A9F3F"/>
    </a:accent5>
    <a:accent6>
      <a:srgbClr val="E5CA2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2831</Words>
  <Application>WPS 演示</Application>
  <PresentationFormat>全屏显示(4:3)</PresentationFormat>
  <Paragraphs>131</Paragraphs>
  <Slides>15</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宋体</vt:lpstr>
      <vt:lpstr>Wingdings</vt:lpstr>
      <vt:lpstr>微软雅黑</vt:lpstr>
      <vt:lpstr>汉仪旗黑-85S</vt:lpstr>
      <vt:lpstr>黑体</vt:lpstr>
      <vt:lpstr>Arial Unicode MS</vt:lpstr>
      <vt:lpstr>等线</vt:lpstr>
      <vt:lpstr>2_Office 主题​​</vt:lpstr>
      <vt:lpstr>PowerPoint 演示文稿</vt:lpstr>
      <vt:lpstr>PowerPoint 演示文稿</vt:lpstr>
      <vt:lpstr>PowerPoint 演示文稿</vt:lpstr>
      <vt:lpstr>复制语义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智能指针</dc:title>
  <dc:creator>lenovo</dc:creator>
  <cp:lastModifiedBy>Rock</cp:lastModifiedBy>
  <cp:revision>566</cp:revision>
  <dcterms:created xsi:type="dcterms:W3CDTF">2020-03-12T12:46:00Z</dcterms:created>
  <dcterms:modified xsi:type="dcterms:W3CDTF">2021-10-27T00:24:07Z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