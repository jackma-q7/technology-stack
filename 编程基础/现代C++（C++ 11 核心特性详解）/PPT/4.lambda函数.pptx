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75" r:id="rId3"/>
    <p:sldId id="276" r:id="rId4"/>
    <p:sldId id="277" r:id="rId6"/>
    <p:sldId id="263" r:id="rId7"/>
    <p:sldId id="280" r:id="rId8"/>
    <p:sldId id="268" r:id="rId9"/>
    <p:sldId id="297" r:id="rId10"/>
    <p:sldId id="308" r:id="rId11"/>
    <p:sldId id="309" r:id="rId12"/>
    <p:sldId id="311" r:id="rId13"/>
    <p:sldId id="312" r:id="rId1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mpleSmart" initials="S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7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68" autoAdjust="0"/>
    <p:restoredTop sz="94660"/>
  </p:normalViewPr>
  <p:slideViewPr>
    <p:cSldViewPr>
      <p:cViewPr varScale="1">
        <p:scale>
          <a:sx n="110" d="100"/>
          <a:sy n="110" d="100"/>
        </p:scale>
        <p:origin x="1968" y="78"/>
      </p:cViewPr>
      <p:guideLst>
        <p:guide orient="horz" pos="2271"/>
        <p:guide pos="282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4DF8C-4C82-4E1D-ACFB-E2E2D3E135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7A4FEF-681B-40E5-A232-6D056FB2C7A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8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7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image" Target="file:///C:\Users\1V994W2\PycharmProjects\PPT_Background_Generation/pic_temp/pic_half_to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20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19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28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27.xml"/><Relationship Id="rId15" Type="http://schemas.openxmlformats.org/officeDocument/2006/relationships/tags" Target="../tags/tag36.xml"/><Relationship Id="rId14" Type="http://schemas.openxmlformats.org/officeDocument/2006/relationships/tags" Target="../tags/tag35.xml"/><Relationship Id="rId13" Type="http://schemas.openxmlformats.org/officeDocument/2006/relationships/tags" Target="../tags/tag34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image" Target="file:///C:\Users\1V994W2\Documents\Tencent%20Files\574576071\FileRecv\&#25340;&#35013;&#32032;&#26448;\formiddle1\\15\subject_holdleft_111,134,161_0_staid_full_0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47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46.xml"/><Relationship Id="rId13" Type="http://schemas.openxmlformats.org/officeDocument/2006/relationships/tags" Target="../tags/tag53.xml"/><Relationship Id="rId12" Type="http://schemas.openxmlformats.org/officeDocument/2006/relationships/tags" Target="../tags/tag52.xml"/><Relationship Id="rId11" Type="http://schemas.openxmlformats.org/officeDocument/2006/relationships/tags" Target="../tags/tag51.xml"/><Relationship Id="rId10" Type="http://schemas.openxmlformats.org/officeDocument/2006/relationships/tags" Target="../tags/tag50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55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54.xml"/><Relationship Id="rId12" Type="http://schemas.openxmlformats.org/officeDocument/2006/relationships/tags" Target="../tags/tag60.xml"/><Relationship Id="rId11" Type="http://schemas.openxmlformats.org/officeDocument/2006/relationships/tags" Target="../tags/tag59.xml"/><Relationship Id="rId10" Type="http://schemas.openxmlformats.org/officeDocument/2006/relationships/tags" Target="../tags/tag58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62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61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67.xml"/><Relationship Id="rId10" Type="http://schemas.openxmlformats.org/officeDocument/2006/relationships/tags" Target="../tags/tag73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75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74.xml"/><Relationship Id="rId11" Type="http://schemas.openxmlformats.org/officeDocument/2006/relationships/tags" Target="../tags/tag79.xml"/><Relationship Id="rId10" Type="http://schemas.openxmlformats.org/officeDocument/2006/relationships/tags" Target="../tags/tag78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83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82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3" Type="http://schemas.openxmlformats.org/officeDocument/2006/relationships/tags" Target="../tags/tag87.xml"/><Relationship Id="rId12" Type="http://schemas.openxmlformats.org/officeDocument/2006/relationships/tags" Target="../tags/tag86.xml"/><Relationship Id="rId11" Type="http://schemas.openxmlformats.org/officeDocument/2006/relationships/tags" Target="../tags/tag85.xml"/><Relationship Id="rId10" Type="http://schemas.openxmlformats.org/officeDocument/2006/relationships/tags" Target="../tags/tag84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1" Type="http://schemas.openxmlformats.org/officeDocument/2006/relationships/tags" Target="../tags/tag95.xml"/><Relationship Id="rId10" Type="http://schemas.openxmlformats.org/officeDocument/2006/relationships/tags" Target="../tags/tag94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98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107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4" Type="http://schemas.openxmlformats.org/officeDocument/2006/relationships/tags" Target="../tags/tag113.xml"/><Relationship Id="rId13" Type="http://schemas.openxmlformats.org/officeDocument/2006/relationships/tags" Target="../tags/tag112.xml"/><Relationship Id="rId12" Type="http://schemas.openxmlformats.org/officeDocument/2006/relationships/tags" Target="../tags/tag111.xml"/><Relationship Id="rId11" Type="http://schemas.openxmlformats.org/officeDocument/2006/relationships/tags" Target="../tags/tag110.xml"/><Relationship Id="rId10" Type="http://schemas.openxmlformats.org/officeDocument/2006/relationships/tags" Target="../tags/tag109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17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116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6" Type="http://schemas.openxmlformats.org/officeDocument/2006/relationships/tags" Target="../tags/tag124.xml"/><Relationship Id="rId15" Type="http://schemas.openxmlformats.org/officeDocument/2006/relationships/tags" Target="../tags/tag123.xml"/><Relationship Id="rId14" Type="http://schemas.openxmlformats.org/officeDocument/2006/relationships/tags" Target="../tags/tag122.xml"/><Relationship Id="rId13" Type="http://schemas.openxmlformats.org/officeDocument/2006/relationships/tags" Target="../tags/tag121.xml"/><Relationship Id="rId12" Type="http://schemas.openxmlformats.org/officeDocument/2006/relationships/tags" Target="../tags/tag120.xml"/><Relationship Id="rId11" Type="http://schemas.openxmlformats.org/officeDocument/2006/relationships/tags" Target="../tags/tag119.xml"/><Relationship Id="rId10" Type="http://schemas.openxmlformats.org/officeDocument/2006/relationships/tags" Target="../tags/tag118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28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127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3" Type="http://schemas.openxmlformats.org/officeDocument/2006/relationships/tags" Target="../tags/tag132.xml"/><Relationship Id="rId12" Type="http://schemas.openxmlformats.org/officeDocument/2006/relationships/tags" Target="../tags/tag131.xml"/><Relationship Id="rId11" Type="http://schemas.openxmlformats.org/officeDocument/2006/relationships/tags" Target="../tags/tag130.xml"/><Relationship Id="rId10" Type="http://schemas.openxmlformats.org/officeDocument/2006/relationships/tags" Target="../tags/tag129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ctrTitle" idx="14" hasCustomPrompt="1"/>
            <p:custDataLst>
              <p:tags r:id="rId8"/>
            </p:custDataLst>
          </p:nvPr>
        </p:nvSpPr>
        <p:spPr>
          <a:xfrm>
            <a:off x="2376729" y="2653386"/>
            <a:ext cx="4762500" cy="1330960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Font typeface="Arial" panose="020B0604020202020204" pitchFamily="34" charset="0"/>
              <a:buNone/>
              <a:defRPr sz="5400" b="0" spc="-200">
                <a:solidFill>
                  <a:schemeClr val="bg1"/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sp>
        <p:nvSpPr>
          <p:cNvPr id="2" name="副标题 1"/>
          <p:cNvSpPr>
            <a:spLocks noGrp="1"/>
          </p:cNvSpPr>
          <p:nvPr>
            <p:ph type="subTitle" idx="13" hasCustomPrompt="1"/>
            <p:custDataLst>
              <p:tags r:id="rId9"/>
            </p:custDataLst>
          </p:nvPr>
        </p:nvSpPr>
        <p:spPr>
          <a:xfrm>
            <a:off x="2376729" y="4227376"/>
            <a:ext cx="4762500" cy="764868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1800" b="0" spc="2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514350"/>
          </a:xfrm>
          <a:prstGeom prst="rect">
            <a:avLst/>
          </a:prstGeom>
        </p:spPr>
      </p:pic>
      <p:pic>
        <p:nvPicPr>
          <p:cNvPr id="7" name="图片 6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02412" y="443234"/>
            <a:ext cx="8139178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9"/>
            </p:custDataLst>
          </p:nvPr>
        </p:nvSpPr>
        <p:spPr>
          <a:xfrm>
            <a:off x="502412" y="952508"/>
            <a:ext cx="8139178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5716016"/>
            <a:ext cx="3048000" cy="1141984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2350495" y="3429000"/>
            <a:ext cx="4443011" cy="918537"/>
          </a:xfrm>
        </p:spPr>
        <p:txBody>
          <a:bodyPr>
            <a:normAutofit/>
          </a:bodyPr>
          <a:lstStyle>
            <a:lvl1pPr algn="ctr">
              <a:defRPr sz="27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514350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02412" y="443234"/>
            <a:ext cx="8139178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9"/>
            </p:custDataLst>
          </p:nvPr>
        </p:nvSpPr>
        <p:spPr>
          <a:xfrm>
            <a:off x="502448" y="952508"/>
            <a:ext cx="396243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4679158" y="952508"/>
            <a:ext cx="396243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514350"/>
          </a:xfrm>
          <a:prstGeom prst="rect">
            <a:avLst/>
          </a:prstGeom>
        </p:spPr>
      </p:pic>
      <p:pic>
        <p:nvPicPr>
          <p:cNvPr id="10" name="图片 9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02412" y="443234"/>
            <a:ext cx="8139178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9"/>
            </p:custDataLst>
          </p:nvPr>
        </p:nvSpPr>
        <p:spPr>
          <a:xfrm>
            <a:off x="502448" y="952508"/>
            <a:ext cx="396243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502444" y="1406525"/>
            <a:ext cx="39624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1"/>
            </p:custDataLst>
          </p:nvPr>
        </p:nvSpPr>
        <p:spPr>
          <a:xfrm>
            <a:off x="4676813" y="952508"/>
            <a:ext cx="396243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2"/>
            </p:custDataLst>
          </p:nvPr>
        </p:nvSpPr>
        <p:spPr>
          <a:xfrm>
            <a:off x="4676813" y="1406525"/>
            <a:ext cx="396243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3560" y="2194560"/>
            <a:ext cx="3291840" cy="2468880"/>
          </a:xfrm>
          <a:prstGeom prst="rect">
            <a:avLst/>
          </a:prstGeom>
        </p:spPr>
      </p:pic>
      <p:sp>
        <p:nvSpPr>
          <p:cNvPr id="6" name="任意多边形 6"/>
          <p:cNvSpPr/>
          <p:nvPr>
            <p:custDataLst>
              <p:tags r:id="rId5"/>
            </p:custDataLst>
          </p:nvPr>
        </p:nvSpPr>
        <p:spPr>
          <a:xfrm flipH="1">
            <a:off x="0" y="0"/>
            <a:ext cx="5484971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02412" y="443230"/>
            <a:ext cx="8139178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514350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02448" y="443234"/>
            <a:ext cx="8139178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502448" y="952508"/>
            <a:ext cx="396243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4679194" y="952508"/>
            <a:ext cx="396243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514350"/>
          </a:xfrm>
          <a:prstGeom prst="rect">
            <a:avLst/>
          </a:prstGeom>
        </p:spPr>
      </p:pic>
      <p:pic>
        <p:nvPicPr>
          <p:cNvPr id="7" name="图片 6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514350"/>
          </a:xfrm>
          <a:prstGeom prst="rect">
            <a:avLst/>
          </a:prstGeom>
        </p:spPr>
      </p:pic>
      <p:pic>
        <p:nvPicPr>
          <p:cNvPr id="6" name="图片 5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502448" y="952508"/>
            <a:ext cx="8139178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/>
          <p:cNvCxnSpPr/>
          <p:nvPr>
            <p:custDataLst>
              <p:tags r:id="rId8"/>
            </p:custDataLst>
          </p:nvPr>
        </p:nvCxnSpPr>
        <p:spPr>
          <a:xfrm>
            <a:off x="2516981" y="3913822"/>
            <a:ext cx="4110038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9"/>
            </p:custDataLst>
          </p:nvPr>
        </p:nvSpPr>
        <p:spPr>
          <a:xfrm>
            <a:off x="2560320" y="4117022"/>
            <a:ext cx="4023836" cy="764943"/>
          </a:xfrm>
        </p:spPr>
        <p:txBody>
          <a:bodyPr vert="horz" wrap="square" lIns="0" tIns="0" rIns="0" bIns="0" anchor="t" anchorCtr="0">
            <a:normAutofit/>
          </a:bodyPr>
          <a:lstStyle>
            <a:lvl1pPr marL="342900" marR="0" indent="-342900" algn="ctr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1800" b="0" spc="2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0"/>
            </p:custDataLst>
          </p:nvPr>
        </p:nvSpPr>
        <p:spPr>
          <a:xfrm>
            <a:off x="2559844" y="2379663"/>
            <a:ext cx="4024313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6000" b="0" spc="1000">
                <a:solidFill>
                  <a:schemeClr val="bg1"/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514350"/>
          </a:xfrm>
          <a:prstGeom prst="rect">
            <a:avLst/>
          </a:prstGeom>
        </p:spPr>
      </p:pic>
      <p:pic>
        <p:nvPicPr>
          <p:cNvPr id="6" name="图片 5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02412" y="443230"/>
            <a:ext cx="8139178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219056" y="303809"/>
            <a:ext cx="8705888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350"/>
          </a:p>
        </p:txBody>
      </p:sp>
      <p:pic>
        <p:nvPicPr>
          <p:cNvPr id="9" name="图片 8"/>
          <p:cNvPicPr/>
          <p:nvPr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514350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961200" y="1249200"/>
            <a:ext cx="7219800" cy="723600"/>
          </a:xfrm>
        </p:spPr>
        <p:txBody>
          <a:bodyPr wrap="square" anchor="ctr"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960835" y="2163600"/>
            <a:ext cx="721995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3618452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350"/>
          </a:p>
        </p:txBody>
      </p:sp>
      <p:pic>
        <p:nvPicPr>
          <p:cNvPr id="8" name="图片 7"/>
          <p:cNvPicPr/>
          <p:nvPr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437400" y="770400"/>
            <a:ext cx="2970000" cy="882000"/>
          </a:xfrm>
        </p:spPr>
        <p:txBody>
          <a:bodyPr wrap="square" anchor="ctr" anchorCtr="0">
            <a:normAutofit/>
          </a:bodyPr>
          <a:lstStyle>
            <a:lvl1pPr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440100" y="1764000"/>
            <a:ext cx="29673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3825900" y="769938"/>
            <a:ext cx="486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0" y="0"/>
            <a:ext cx="9144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350"/>
          </a:p>
        </p:txBody>
      </p:sp>
      <p:pic>
        <p:nvPicPr>
          <p:cNvPr id="10" name="图片 9"/>
          <p:cNvPicPr/>
          <p:nvPr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514350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459000" y="781200"/>
            <a:ext cx="8232300" cy="626400"/>
          </a:xfrm>
        </p:spPr>
        <p:txBody>
          <a:bodyPr wrap="square" anchor="ctr">
            <a:normAutofit/>
          </a:bodyPr>
          <a:lstStyle>
            <a:lvl1pPr algn="ctr"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459000" y="1659600"/>
            <a:ext cx="8231981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459581" y="2808000"/>
            <a:ext cx="82242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0" y="5028971"/>
            <a:ext cx="9144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350"/>
          </a:p>
        </p:txBody>
      </p:sp>
      <p:pic>
        <p:nvPicPr>
          <p:cNvPr id="10" name="图片 9"/>
          <p:cNvPicPr/>
          <p:nvPr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514350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453600" y="669600"/>
            <a:ext cx="8232300" cy="565200"/>
          </a:xfrm>
        </p:spPr>
        <p:txBody>
          <a:bodyPr wrap="square" anchor="ctr" anchorCtr="0">
            <a:normAutofit/>
          </a:bodyPr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453628" y="1681200"/>
            <a:ext cx="82431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445500" y="5180400"/>
            <a:ext cx="82512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>
            <p:custDataLst>
              <p:tags r:id="rId2"/>
            </p:custDataLst>
          </p:nvPr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350"/>
          </a:p>
        </p:txBody>
      </p:sp>
      <p:pic>
        <p:nvPicPr>
          <p:cNvPr id="12" name="图片 11"/>
          <p:cNvPicPr/>
          <p:nvPr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6343650"/>
            <a:ext cx="540068" cy="514350"/>
          </a:xfrm>
          <a:prstGeom prst="rect">
            <a:avLst/>
          </a:prstGeom>
        </p:spPr>
      </p:pic>
      <p:pic>
        <p:nvPicPr>
          <p:cNvPr id="10" name="图片 9"/>
          <p:cNvPicPr/>
          <p:nvPr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3650"/>
            <a:ext cx="540068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434700" y="237600"/>
            <a:ext cx="82782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434700" y="1663200"/>
            <a:ext cx="40068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4681800" y="1663200"/>
            <a:ext cx="40257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429300" y="4816800"/>
            <a:ext cx="40068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4689900" y="4813200"/>
            <a:ext cx="40257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953691"/>
            <a:ext cx="9144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350"/>
          </a:p>
        </p:txBody>
      </p:sp>
      <p:pic>
        <p:nvPicPr>
          <p:cNvPr id="9" name="图片 8"/>
          <p:cNvPicPr/>
          <p:nvPr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8848" y="5700713"/>
            <a:ext cx="1215152" cy="1157288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00713"/>
            <a:ext cx="1215152" cy="115728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142100" y="1339200"/>
            <a:ext cx="6858000" cy="2386800"/>
          </a:xfrm>
        </p:spPr>
        <p:txBody>
          <a:bodyPr wrap="square" anchor="b">
            <a:normAutofit/>
          </a:bodyPr>
          <a:lstStyle>
            <a:lvl1pPr algn="ctr">
              <a:defRPr sz="45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141810" y="3862800"/>
            <a:ext cx="6858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cent Project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2001441" y="2019300"/>
            <a:ext cx="2209800" cy="381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6220809" y="2019300"/>
            <a:ext cx="2209800" cy="381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6" Type="http://schemas.openxmlformats.org/officeDocument/2006/relationships/theme" Target="../theme/theme1.xml"/><Relationship Id="rId25" Type="http://schemas.openxmlformats.org/officeDocument/2006/relationships/tags" Target="../tags/tag138.xml"/><Relationship Id="rId24" Type="http://schemas.openxmlformats.org/officeDocument/2006/relationships/tags" Target="../tags/tag137.xml"/><Relationship Id="rId23" Type="http://schemas.openxmlformats.org/officeDocument/2006/relationships/tags" Target="../tags/tag136.xml"/><Relationship Id="rId22" Type="http://schemas.openxmlformats.org/officeDocument/2006/relationships/tags" Target="../tags/tag135.xml"/><Relationship Id="rId21" Type="http://schemas.openxmlformats.org/officeDocument/2006/relationships/tags" Target="../tags/tag134.xml"/><Relationship Id="rId20" Type="http://schemas.openxmlformats.org/officeDocument/2006/relationships/tags" Target="../tags/tag133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502412" y="443230"/>
            <a:ext cx="8139178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502412" y="961398"/>
            <a:ext cx="8139178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659807" y="6349833"/>
            <a:ext cx="2025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3087000" y="6349833"/>
            <a:ext cx="297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6457950" y="6349833"/>
            <a:ext cx="2025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18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占位符 3"/>
          <p:cNvPicPr>
            <a:picLocks noGrp="1" noChangeAspect="1"/>
          </p:cNvPicPr>
          <p:nvPr>
            <p:ph type="pic" idx="4294967295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23" b="28923"/>
          <a:stretch>
            <a:fillRect/>
          </a:stretch>
        </p:blipFill>
        <p:spPr>
          <a:xfrm>
            <a:off x="0" y="857250"/>
            <a:ext cx="9144000" cy="22278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</p:pic>
      <p:sp>
        <p:nvSpPr>
          <p:cNvPr id="5" name="TextBox 1"/>
          <p:cNvSpPr txBox="1"/>
          <p:nvPr/>
        </p:nvSpPr>
        <p:spPr>
          <a:xfrm>
            <a:off x="1466182" y="3480582"/>
            <a:ext cx="6212205" cy="1649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625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+mn-ea"/>
              </a:rPr>
              <a:t>lambda</a:t>
            </a:r>
            <a:r>
              <a:rPr lang="zh-CN" altLang="en-US" sz="8625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+mn-ea"/>
              </a:rPr>
              <a:t>函数</a:t>
            </a:r>
            <a:endParaRPr lang="en-US" altLang="zh-CN" sz="2700" b="1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sz="750" dirty="0" smtClean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sz="75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3"/>
          <p:cNvSpPr>
            <a:spLocks noChangeArrowheads="1"/>
          </p:cNvSpPr>
          <p:nvPr/>
        </p:nvSpPr>
        <p:spPr bwMode="auto">
          <a:xfrm>
            <a:off x="4217481" y="3162185"/>
            <a:ext cx="1267460" cy="748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anchor="ctr">
            <a:spAutoFit/>
          </a:bodyPr>
          <a:lstStyle/>
          <a:p>
            <a:pPr algn="r"/>
            <a:r>
              <a:rPr lang="zh-CN" altLang="en-US" sz="427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概念</a:t>
            </a:r>
            <a:endParaRPr lang="zh-CN" altLang="en-US" sz="427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5124" name="淘宝网chenying0907出品 10"/>
          <p:cNvSpPr>
            <a:spLocks noChangeArrowheads="1"/>
          </p:cNvSpPr>
          <p:nvPr/>
        </p:nvSpPr>
        <p:spPr bwMode="auto">
          <a:xfrm>
            <a:off x="4030791" y="2649895"/>
            <a:ext cx="13893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lambda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函数</a:t>
            </a:r>
            <a:endParaRPr lang="zh-CN" altLang="en-US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125" name="淘宝网chenying0907出品 11"/>
          <p:cNvSpPr>
            <a:spLocks noChangeShapeType="1"/>
          </p:cNvSpPr>
          <p:nvPr/>
        </p:nvSpPr>
        <p:spPr bwMode="auto">
          <a:xfrm>
            <a:off x="1505825" y="2960613"/>
            <a:ext cx="3914345" cy="1191"/>
          </a:xfrm>
          <a:prstGeom prst="line">
            <a:avLst/>
          </a:prstGeom>
          <a:noFill/>
          <a:ln w="6350" cap="flat" cmpd="sng">
            <a:solidFill>
              <a:schemeClr val="accent1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2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Text Box 3"/>
          <p:cNvSpPr>
            <a:spLocks noChangeArrowheads="1"/>
          </p:cNvSpPr>
          <p:nvPr/>
        </p:nvSpPr>
        <p:spPr bwMode="auto">
          <a:xfrm>
            <a:off x="5545075" y="2294165"/>
            <a:ext cx="2183130" cy="227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4155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01</a:t>
            </a:r>
            <a:endParaRPr lang="en-US" altLang="en-US" sz="14155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 spd="med" advTm="0">
    <p:pull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13410"/>
            <a:ext cx="8229600" cy="551243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sz="2400" b="1" dirty="0" err="1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>
              <a:buNone/>
            </a:pPr>
            <a:endParaRPr sz="2400" b="1" dirty="0" err="1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>
              <a:buNone/>
            </a:pPr>
            <a:r>
              <a:rPr sz="2400" b="1" dirty="0" err="1">
                <a:latin typeface="微软雅黑" panose="020B0503020204020204" charset="-122"/>
                <a:cs typeface="微软雅黑" panose="020B0503020204020204" charset="-122"/>
                <a:sym typeface="+mn-ea"/>
              </a:rPr>
              <a:t>概述</a:t>
            </a:r>
            <a:endParaRPr lang="en-US" altLang="zh-CN" sz="2400" b="1" dirty="0" err="1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lambda是C++ 11引入的新特性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  其它语言中也有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lambda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，比如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javascript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>
              <a:lnSpc>
                <a:spcPct val="150000"/>
              </a:lnSpc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lambda表示匿名函数，属于可调用对象，特点是就地定义就地使用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在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C++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中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，lambda是一种语法糖，编译器会将它翻译成函数对象。所以它并不是一个"黑科技"。引入lambda的目的就是要就地书写，就地使用，提供一种简化代码的手段。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3"/>
          <p:cNvSpPr>
            <a:spLocks noChangeArrowheads="1"/>
          </p:cNvSpPr>
          <p:nvPr/>
        </p:nvSpPr>
        <p:spPr bwMode="auto">
          <a:xfrm>
            <a:off x="3132901" y="3162185"/>
            <a:ext cx="2352040" cy="748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anchor="ctr">
            <a:spAutoFit/>
          </a:bodyPr>
          <a:lstStyle/>
          <a:p>
            <a:pPr algn="r"/>
            <a:r>
              <a:rPr lang="zh-CN" altLang="en-US" sz="427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基础用法</a:t>
            </a:r>
            <a:endParaRPr lang="zh-CN" altLang="en-US" sz="427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5124" name="淘宝网chenying0907出品 10"/>
          <p:cNvSpPr>
            <a:spLocks noChangeArrowheads="1"/>
          </p:cNvSpPr>
          <p:nvPr/>
        </p:nvSpPr>
        <p:spPr bwMode="auto">
          <a:xfrm>
            <a:off x="4030791" y="2649895"/>
            <a:ext cx="13893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lambda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函数</a:t>
            </a:r>
            <a:endParaRPr lang="zh-CN" altLang="en-US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125" name="淘宝网chenying0907出品 11"/>
          <p:cNvSpPr>
            <a:spLocks noChangeShapeType="1"/>
          </p:cNvSpPr>
          <p:nvPr/>
        </p:nvSpPr>
        <p:spPr bwMode="auto">
          <a:xfrm>
            <a:off x="1505825" y="2960613"/>
            <a:ext cx="3914345" cy="1191"/>
          </a:xfrm>
          <a:prstGeom prst="line">
            <a:avLst/>
          </a:prstGeom>
          <a:noFill/>
          <a:ln w="6350" cap="flat" cmpd="sng">
            <a:solidFill>
              <a:schemeClr val="accent1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2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Text Box 3"/>
          <p:cNvSpPr>
            <a:spLocks noChangeArrowheads="1"/>
          </p:cNvSpPr>
          <p:nvPr/>
        </p:nvSpPr>
        <p:spPr bwMode="auto">
          <a:xfrm>
            <a:off x="5545075" y="2294165"/>
            <a:ext cx="2183130" cy="227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4155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en-US" sz="14155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 spd="med" advTm="0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700" dirty="0" err="1" smtClean="0">
                <a:latin typeface="微软雅黑" panose="020B0503020204020204" charset="-122"/>
                <a:cs typeface="微软雅黑" panose="020B0503020204020204" charset="-122"/>
              </a:rPr>
              <a:t>语</a:t>
            </a:r>
            <a:r>
              <a:rPr sz="2700" dirty="0" err="1" smtClean="0">
                <a:latin typeface="微软雅黑" panose="020B0503020204020204" charset="-122"/>
                <a:cs typeface="微软雅黑" panose="020B0503020204020204" charset="-122"/>
              </a:rPr>
              <a:t>法及用法</a:t>
            </a:r>
            <a:endParaRPr sz="2700" dirty="0" err="1" smtClean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0845" y="1184910"/>
            <a:ext cx="8512175" cy="539623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形式</a:t>
            </a:r>
            <a:endParaRPr sz="1600" spc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捕获列表+参数列表+函数体</a:t>
            </a:r>
            <a:endParaRPr sz="1600" spc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sz="1600" b="1" spc="0">
                <a:solidFill>
                  <a:srgbClr val="FF0000"/>
                </a:solidFill>
                <a:latin typeface="+mn-ea"/>
                <a:ea typeface="+mn-ea"/>
              </a:rPr>
              <a:t>[ 捕获 ] ( 形参 ) -&gt; ret { 函数体 }</a:t>
            </a:r>
            <a:endParaRPr sz="1600" b="1" spc="0">
              <a:solidFill>
                <a:srgbClr val="FF0000"/>
              </a:solidFill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sz="1600" b="1" spc="0">
                <a:solidFill>
                  <a:srgbClr val="FF0000"/>
                </a:solidFill>
                <a:latin typeface="+mn-ea"/>
                <a:ea typeface="+mn-ea"/>
              </a:rPr>
              <a:t>[ 捕获 ] ( 形参 ) { 函数体 }</a:t>
            </a:r>
            <a:endParaRPr sz="1600" b="1" spc="0">
              <a:solidFill>
                <a:srgbClr val="FF0000"/>
              </a:solidFill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sz="1600" b="1" spc="0">
                <a:solidFill>
                  <a:srgbClr val="FF0000"/>
                </a:solidFill>
                <a:latin typeface="+mn-ea"/>
                <a:ea typeface="+mn-ea"/>
              </a:rPr>
              <a:t>[ 捕获 ] { 函数体 } </a:t>
            </a:r>
            <a:endParaRPr sz="1600" b="1" spc="0">
              <a:solidFill>
                <a:srgbClr val="FF0000"/>
              </a:solidFill>
              <a:latin typeface="+mn-ea"/>
              <a:ea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sz="1600" b="1" spc="0">
              <a:solidFill>
                <a:srgbClr val="FF0000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  <a:buClrTx/>
              <a:buSzTx/>
            </a:pP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用法</a:t>
            </a:r>
            <a:endParaRPr sz="1600" spc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  <a:p>
            <a:pPr marL="0" indent="0" algn="l">
              <a:lnSpc>
                <a:spcPct val="150000"/>
              </a:lnSpc>
              <a:buClrTx/>
              <a:buSzTx/>
              <a:buNone/>
            </a:pPr>
            <a:r>
              <a:rPr sz="1600" b="1" spc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在任何需要可调用对象的接口，都可以传入一个</a:t>
            </a:r>
            <a:r>
              <a:rPr lang="en-US" altLang="zh-CN" sz="1600" b="1" spc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lambda</a:t>
            </a:r>
            <a:r>
              <a:rPr sz="1600" b="1" spc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匿名函数</a:t>
            </a:r>
            <a:endParaRPr sz="1600" b="1" spc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sz="1600" b="1" spc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1810" y="1208405"/>
            <a:ext cx="8268335" cy="5028565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</a:rPr>
              <a:t>捕获列表是一个lambda所在父作用域定义的变量的列表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</a:rPr>
              <a:t>空捕获列表表示不使用它所在父作用域的任何局部变量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charset="-122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sz="1600" b="1" spc="0" dirty="0">
                <a:solidFill>
                  <a:srgbClr val="FF0000"/>
                </a:solidFill>
                <a:ea typeface="微软雅黑" panose="020B0503020204020204" charset="-122"/>
              </a:rPr>
              <a:t>父作用域指的是包含lambda函数的语句块</a:t>
            </a:r>
            <a:endParaRPr sz="1600" b="1" spc="0" dirty="0">
              <a:solidFill>
                <a:srgbClr val="FF0000"/>
              </a:solidFill>
              <a:ea typeface="微软雅黑" panose="020B0503020204020204" charset="-122"/>
            </a:endParaRPr>
          </a:p>
          <a:p>
            <a:pPr algn="l">
              <a:lnSpc>
                <a:spcPct val="160000"/>
              </a:lnSpc>
              <a:buClrTx/>
              <a:buSzTx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</a:rPr>
              <a:t>捕获列表跟函数的形参一样，有值类型，也有引用类型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charset="-122"/>
            </a:endParaRPr>
          </a:p>
          <a:p>
            <a:pPr marL="0" indent="0" algn="l">
              <a:lnSpc>
                <a:spcPct val="160000"/>
              </a:lnSpc>
              <a:buClrTx/>
              <a:buSzTx/>
              <a:buNone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</a:rPr>
              <a:t>[var] 表示值传递的方式，前面都是值传递的例子，[&amp;var] 表示引用传递捕捉变量var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</a:rPr>
              <a:t>隐式捕获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charset="-122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</a:rPr>
              <a:t>我们也可以使用隐式捕获即不在捕获列表中指定局部变量，而是要编译器进行推导，在捕获列表中写一个&amp;或=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charset="-122"/>
            </a:endParaRPr>
          </a:p>
          <a:p>
            <a:pPr marL="342900" indent="-342900">
              <a:lnSpc>
                <a:spcPct val="160000"/>
              </a:lnSpc>
              <a:buAutoNum type="arabicPeriod"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</a:rPr>
              <a:t>[=] 表示值传递方式捕捉所有父作用域的变量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charset="-122"/>
            </a:endParaRPr>
          </a:p>
          <a:p>
            <a:pPr marL="342900" indent="-342900">
              <a:lnSpc>
                <a:spcPct val="160000"/>
              </a:lnSpc>
              <a:buAutoNum type="arabicPeriod"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</a:rPr>
              <a:t>[&amp;] 表示引用传递捕捉所有父作用域的变量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7200" y="496570"/>
            <a:ext cx="806132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lang="zh-CN" altLang="en-US" sz="2700" b="1" dirty="0" err="1">
                <a:latin typeface="微软雅黑" panose="020B0503020204020204" charset="-122"/>
                <a:cs typeface="微软雅黑" panose="020B0503020204020204" charset="-122"/>
                <a:sym typeface="+mn-ea"/>
              </a:rPr>
              <a:t>捕获列表</a:t>
            </a:r>
            <a:endParaRPr lang="zh-CN" altLang="en-US" sz="2700" b="1" dirty="0" err="1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4270"/>
            <a:ext cx="8122285" cy="518096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>
              <a:lnSpc>
                <a:spcPct val="150000"/>
              </a:lnSpc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[this]捕获当前类中的this指针，让lambda表达式拥有和当前类成员相同的访问权限,捕获this的目的是可以在lambda中使用当前类的成员函数，成员变量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7200" y="496570"/>
            <a:ext cx="806132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lang="zh-CN" sz="2700" b="1" dirty="0" err="1">
                <a:latin typeface="微软雅黑" panose="020B0503020204020204" charset="-122"/>
                <a:cs typeface="微软雅黑" panose="020B0503020204020204" charset="-122"/>
                <a:sym typeface="+mn-ea"/>
              </a:rPr>
              <a:t>捕获对象的</a:t>
            </a:r>
            <a:r>
              <a:rPr lang="en-US" altLang="zh-CN" sz="2700" b="1" dirty="0" err="1">
                <a:latin typeface="微软雅黑" panose="020B0503020204020204" charset="-122"/>
                <a:cs typeface="微软雅黑" panose="020B0503020204020204" charset="-122"/>
                <a:sym typeface="+mn-ea"/>
              </a:rPr>
              <a:t>this</a:t>
            </a:r>
            <a:r>
              <a:rPr lang="zh-CN" altLang="en-US" sz="2700" b="1" dirty="0" err="1">
                <a:latin typeface="微软雅黑" panose="020B0503020204020204" charset="-122"/>
                <a:cs typeface="微软雅黑" panose="020B0503020204020204" charset="-122"/>
                <a:sym typeface="+mn-ea"/>
              </a:rPr>
              <a:t>指针</a:t>
            </a:r>
            <a:endParaRPr lang="zh-CN" altLang="en-US" sz="2700" b="1" dirty="0" err="1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3"/>
          <p:cNvSpPr>
            <a:spLocks noChangeArrowheads="1"/>
          </p:cNvSpPr>
          <p:nvPr/>
        </p:nvSpPr>
        <p:spPr bwMode="auto">
          <a:xfrm>
            <a:off x="1836231" y="3162185"/>
            <a:ext cx="3648710" cy="748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anchor="ctr">
            <a:spAutoFit/>
          </a:bodyPr>
          <a:lstStyle/>
          <a:p>
            <a:pPr algn="r"/>
            <a:r>
              <a:rPr lang="en-US" altLang="zh-CN" sz="427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STL</a:t>
            </a:r>
            <a:r>
              <a:rPr lang="zh-CN" altLang="en-US" sz="427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与</a:t>
            </a:r>
            <a:r>
              <a:rPr lang="en-US" altLang="zh-CN" sz="427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lambda</a:t>
            </a:r>
            <a:endParaRPr lang="en-US" altLang="zh-CN" sz="427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5124" name="淘宝网chenying0907出品 10"/>
          <p:cNvSpPr>
            <a:spLocks noChangeArrowheads="1"/>
          </p:cNvSpPr>
          <p:nvPr/>
        </p:nvSpPr>
        <p:spPr bwMode="auto">
          <a:xfrm>
            <a:off x="4030791" y="2649895"/>
            <a:ext cx="13893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lambda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函数</a:t>
            </a:r>
            <a:endParaRPr lang="zh-CN" altLang="en-US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125" name="淘宝网chenying0907出品 11"/>
          <p:cNvSpPr>
            <a:spLocks noChangeShapeType="1"/>
          </p:cNvSpPr>
          <p:nvPr/>
        </p:nvSpPr>
        <p:spPr bwMode="auto">
          <a:xfrm>
            <a:off x="1505825" y="2960613"/>
            <a:ext cx="3914345" cy="1191"/>
          </a:xfrm>
          <a:prstGeom prst="line">
            <a:avLst/>
          </a:prstGeom>
          <a:noFill/>
          <a:ln w="6350" cap="flat" cmpd="sng">
            <a:solidFill>
              <a:schemeClr val="accent1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2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Text Box 3"/>
          <p:cNvSpPr>
            <a:spLocks noChangeArrowheads="1"/>
          </p:cNvSpPr>
          <p:nvPr/>
        </p:nvSpPr>
        <p:spPr bwMode="auto">
          <a:xfrm>
            <a:off x="5545075" y="2294165"/>
            <a:ext cx="2183130" cy="227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4155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en-US" sz="14155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 spd="med" advTm="0">
    <p:pull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4270"/>
            <a:ext cx="8122285" cy="518096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lambda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函数是一种语法糖，就地编写函数代码后，编译器会生成一个函数对象。其目的就是为来简化代码。这在与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STL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结合使用时体现的很明显，它具有函数对象的优点，编写也十分便捷</a:t>
            </a:r>
            <a:endParaRPr lang="en-US" altLang="zh-CN"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7200" y="496570"/>
            <a:ext cx="806132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lang="en-US" sz="2700" b="1" dirty="0" err="1">
                <a:latin typeface="微软雅黑" panose="020B0503020204020204" charset="-122"/>
                <a:cs typeface="微软雅黑" panose="020B0503020204020204" charset="-122"/>
                <a:sym typeface="+mn-ea"/>
              </a:rPr>
              <a:t>STL</a:t>
            </a:r>
            <a:r>
              <a:rPr lang="zh-CN" altLang="en-US" sz="2700" b="1" dirty="0" err="1">
                <a:latin typeface="微软雅黑" panose="020B0503020204020204" charset="-122"/>
                <a:cs typeface="微软雅黑" panose="020B0503020204020204" charset="-122"/>
                <a:sym typeface="+mn-ea"/>
              </a:rPr>
              <a:t>与</a:t>
            </a:r>
            <a:r>
              <a:rPr lang="en-US" altLang="zh-CN" sz="2700" b="1" dirty="0" err="1">
                <a:latin typeface="微软雅黑" panose="020B0503020204020204" charset="-122"/>
                <a:cs typeface="微软雅黑" panose="020B0503020204020204" charset="-122"/>
                <a:sym typeface="+mn-ea"/>
              </a:rPr>
              <a:t>lambda</a:t>
            </a:r>
            <a:endParaRPr lang="en-US" altLang="zh-CN" sz="2700" b="1" dirty="0" err="1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3"/>
          <p:cNvSpPr>
            <a:spLocks noChangeArrowheads="1"/>
          </p:cNvSpPr>
          <p:nvPr/>
        </p:nvSpPr>
        <p:spPr bwMode="auto">
          <a:xfrm>
            <a:off x="2318831" y="3162185"/>
            <a:ext cx="3166110" cy="748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anchor="ctr">
            <a:spAutoFit/>
          </a:bodyPr>
          <a:lstStyle/>
          <a:p>
            <a:pPr algn="r"/>
            <a:r>
              <a:rPr lang="en-US" sz="427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lambda</a:t>
            </a:r>
            <a:r>
              <a:rPr lang="zh-CN" altLang="en-US" sz="427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小结</a:t>
            </a:r>
            <a:endParaRPr lang="zh-CN" altLang="en-US" sz="427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5124" name="淘宝网chenying0907出品 10"/>
          <p:cNvSpPr>
            <a:spLocks noChangeArrowheads="1"/>
          </p:cNvSpPr>
          <p:nvPr/>
        </p:nvSpPr>
        <p:spPr bwMode="auto">
          <a:xfrm>
            <a:off x="4030791" y="2649895"/>
            <a:ext cx="13893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lambda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函数</a:t>
            </a:r>
            <a:endParaRPr lang="zh-CN" altLang="en-US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125" name="淘宝网chenying0907出品 11"/>
          <p:cNvSpPr>
            <a:spLocks noChangeShapeType="1"/>
          </p:cNvSpPr>
          <p:nvPr/>
        </p:nvSpPr>
        <p:spPr bwMode="auto">
          <a:xfrm>
            <a:off x="1505825" y="2960613"/>
            <a:ext cx="3914345" cy="1191"/>
          </a:xfrm>
          <a:prstGeom prst="line">
            <a:avLst/>
          </a:prstGeom>
          <a:noFill/>
          <a:ln w="6350" cap="flat" cmpd="sng">
            <a:solidFill>
              <a:schemeClr val="accent1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2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Text Box 3"/>
          <p:cNvSpPr>
            <a:spLocks noChangeArrowheads="1"/>
          </p:cNvSpPr>
          <p:nvPr/>
        </p:nvSpPr>
        <p:spPr bwMode="auto">
          <a:xfrm>
            <a:off x="5545075" y="2294165"/>
            <a:ext cx="2183130" cy="227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4155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03</a:t>
            </a:r>
            <a:endParaRPr lang="en-US" altLang="en-US" sz="14155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 spd="med" advTm="0">
    <p:pull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4270"/>
            <a:ext cx="8122285" cy="518096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lambda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是语法糖，被编译器转换成了函数对象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sz="1600" spc="0" dirty="0">
                <a:solidFill>
                  <a:srgbClr val="FF0000"/>
                </a:solidFill>
                <a:sym typeface="+mn-ea"/>
              </a:rPr>
              <a:t>auto adder = [n](int x){return n+x;};</a:t>
            </a:r>
            <a:endParaRPr sz="1600" spc="0" dirty="0">
              <a:solidFill>
                <a:srgbClr val="FF0000"/>
              </a:solidFill>
              <a:sym typeface="+mn-ea"/>
            </a:endParaRPr>
          </a:p>
          <a:p>
            <a:pPr marL="0" indent="0">
              <a:lnSpc>
                <a:spcPct val="60000"/>
              </a:lnSpc>
              <a:buNone/>
            </a:pPr>
            <a:endParaRPr sz="1600" spc="0" dirty="0">
              <a:solidFill>
                <a:srgbClr val="FF0000"/>
              </a:solidFill>
              <a:sym typeface="+mn-ea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sz="1600" spc="0" dirty="0">
                <a:solidFill>
                  <a:srgbClr val="FF0000"/>
                </a:solidFill>
                <a:sym typeface="+mn-ea"/>
              </a:rPr>
              <a:t>被转换为</a:t>
            </a:r>
            <a:endParaRPr sz="1600" spc="0" dirty="0">
              <a:solidFill>
                <a:srgbClr val="FF0000"/>
              </a:solidFill>
              <a:sym typeface="+mn-ea"/>
            </a:endParaRPr>
          </a:p>
          <a:p>
            <a:pPr marL="0" indent="0">
              <a:lnSpc>
                <a:spcPct val="60000"/>
              </a:lnSpc>
              <a:buNone/>
            </a:pPr>
            <a:endParaRPr sz="1600" spc="0" dirty="0">
              <a:solidFill>
                <a:srgbClr val="FF0000"/>
              </a:solidFill>
              <a:sym typeface="+mn-ea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sz="1600" spc="0" dirty="0">
                <a:solidFill>
                  <a:srgbClr val="FF0000"/>
                </a:solidFill>
                <a:sym typeface="+mn-ea"/>
              </a:rPr>
              <a:t>struct lambda_xxxx</a:t>
            </a:r>
            <a:endParaRPr sz="1600" spc="0" dirty="0">
              <a:solidFill>
                <a:srgbClr val="FF0000"/>
              </a:solidFill>
              <a:sym typeface="+mn-ea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sz="1600" spc="0" dirty="0">
                <a:solidFill>
                  <a:srgbClr val="FF0000"/>
                </a:solidFill>
                <a:sym typeface="+mn-ea"/>
              </a:rPr>
              <a:t>{</a:t>
            </a:r>
            <a:endParaRPr sz="1600" spc="0" dirty="0">
              <a:solidFill>
                <a:srgbClr val="FF0000"/>
              </a:solidFill>
              <a:sym typeface="+mn-ea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sz="1600" spc="0" dirty="0">
                <a:solidFill>
                  <a:srgbClr val="FF0000"/>
                </a:solidFill>
                <a:sym typeface="+mn-ea"/>
              </a:rPr>
              <a:t>    lambda_xxxx(int n):n_(n){}</a:t>
            </a:r>
            <a:endParaRPr sz="1600" spc="0" dirty="0">
              <a:solidFill>
                <a:srgbClr val="FF0000"/>
              </a:solidFill>
              <a:sym typeface="+mn-ea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sz="1600" spc="0" dirty="0">
                <a:solidFill>
                  <a:srgbClr val="FF0000"/>
                </a:solidFill>
                <a:sym typeface="+mn-ea"/>
              </a:rPr>
              <a:t>    auto operator()(int x) const</a:t>
            </a:r>
            <a:endParaRPr sz="1600" spc="0" dirty="0">
              <a:solidFill>
                <a:srgbClr val="FF0000"/>
              </a:solidFill>
              <a:sym typeface="+mn-ea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sz="1600" spc="0" dirty="0">
                <a:solidFill>
                  <a:srgbClr val="FF0000"/>
                </a:solidFill>
                <a:sym typeface="+mn-ea"/>
              </a:rPr>
              <a:t>    {</a:t>
            </a:r>
            <a:endParaRPr sz="1600" spc="0" dirty="0">
              <a:solidFill>
                <a:srgbClr val="FF0000"/>
              </a:solidFill>
              <a:sym typeface="+mn-ea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sz="1600" spc="0" dirty="0">
                <a:solidFill>
                  <a:srgbClr val="FF0000"/>
                </a:solidFill>
                <a:sym typeface="+mn-ea"/>
              </a:rPr>
              <a:t>        return n+x;</a:t>
            </a:r>
            <a:endParaRPr sz="1600" spc="0" dirty="0">
              <a:solidFill>
                <a:srgbClr val="FF0000"/>
              </a:solidFill>
              <a:sym typeface="+mn-ea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sz="1600" spc="0" dirty="0">
                <a:solidFill>
                  <a:srgbClr val="FF0000"/>
                </a:solidFill>
                <a:sym typeface="+mn-ea"/>
              </a:rPr>
              <a:t>    }</a:t>
            </a:r>
            <a:endParaRPr sz="1600" spc="0" dirty="0">
              <a:solidFill>
                <a:srgbClr val="FF0000"/>
              </a:solidFill>
              <a:sym typeface="+mn-ea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sz="1600" spc="0" dirty="0">
                <a:solidFill>
                  <a:srgbClr val="FF0000"/>
                </a:solidFill>
                <a:sym typeface="+mn-ea"/>
              </a:rPr>
              <a:t>    </a:t>
            </a:r>
            <a:endParaRPr sz="1600" spc="0" dirty="0">
              <a:solidFill>
                <a:srgbClr val="FF0000"/>
              </a:solidFill>
              <a:sym typeface="+mn-ea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sz="1600" spc="0" dirty="0">
                <a:solidFill>
                  <a:srgbClr val="FF0000"/>
                </a:solidFill>
                <a:sym typeface="+mn-ea"/>
              </a:rPr>
              <a:t>    private:</a:t>
            </a:r>
            <a:endParaRPr sz="1600" spc="0" dirty="0">
              <a:solidFill>
                <a:srgbClr val="FF0000"/>
              </a:solidFill>
              <a:sym typeface="+mn-ea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sz="1600" spc="0" dirty="0">
                <a:solidFill>
                  <a:srgbClr val="FF0000"/>
                </a:solidFill>
                <a:sym typeface="+mn-ea"/>
              </a:rPr>
              <a:t>        int n_;</a:t>
            </a:r>
            <a:endParaRPr sz="1600" spc="0" dirty="0">
              <a:solidFill>
                <a:srgbClr val="FF0000"/>
              </a:solidFill>
              <a:sym typeface="+mn-ea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sz="1600" spc="0" dirty="0">
                <a:solidFill>
                  <a:srgbClr val="FF0000"/>
                </a:solidFill>
                <a:sym typeface="+mn-ea"/>
              </a:rPr>
              <a:t>};</a:t>
            </a:r>
            <a:endParaRPr sz="1600" spc="0" dirty="0">
              <a:solidFill>
                <a:srgbClr val="FF0000"/>
              </a:solidFill>
              <a:sym typeface="+mn-ea"/>
            </a:endParaRPr>
          </a:p>
          <a:p>
            <a:pPr marL="0" indent="0">
              <a:lnSpc>
                <a:spcPct val="60000"/>
              </a:lnSpc>
              <a:buNone/>
            </a:pPr>
            <a:endParaRPr sz="1600" spc="0" dirty="0">
              <a:solidFill>
                <a:srgbClr val="FF0000"/>
              </a:solidFill>
              <a:sym typeface="+mn-ea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sz="1600" spc="0" dirty="0">
                <a:solidFill>
                  <a:srgbClr val="FF0000"/>
                </a:solidFill>
                <a:sym typeface="+mn-ea"/>
              </a:rPr>
              <a:t>auto adder = lambda_xxxx(n);</a:t>
            </a:r>
            <a:endParaRPr sz="1600" spc="0" dirty="0">
              <a:solidFill>
                <a:srgbClr val="FF0000"/>
              </a:solidFill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sz="1600" spc="0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7200" y="496570"/>
            <a:ext cx="806132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lang="en-US" altLang="zh-CN" sz="2700" b="1" dirty="0" err="1">
                <a:latin typeface="微软雅黑" panose="020B0503020204020204" charset="-122"/>
                <a:cs typeface="微软雅黑" panose="020B0503020204020204" charset="-122"/>
                <a:sym typeface="+mn-ea"/>
              </a:rPr>
              <a:t>lambda</a:t>
            </a:r>
            <a:r>
              <a:rPr lang="zh-CN" altLang="en-US" sz="2700" b="1" dirty="0" err="1">
                <a:latin typeface="微软雅黑" panose="020B0503020204020204" charset="-122"/>
                <a:cs typeface="微软雅黑" panose="020B0503020204020204" charset="-122"/>
                <a:sym typeface="+mn-ea"/>
              </a:rPr>
              <a:t>小结</a:t>
            </a:r>
            <a:endParaRPr lang="zh-CN" altLang="en-US" sz="2700" b="1" dirty="0" err="1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478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478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TEMPLATE_SUBCATEGORY" val="0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478"/>
  <p:tag name="KSO_WM_TEMPLATE_MASTER_TYPE" val="1"/>
  <p:tag name="KSO_WM_TEMPLATE_THUMBS_INDEX" val="1、4、7、12、15、16、20、23、24、25、30、35、39、40、41、42"/>
</p:tagLst>
</file>

<file path=ppt/tags/tag139.xml><?xml version="1.0" encoding="utf-8"?>
<p:tagLst xmlns:p="http://schemas.openxmlformats.org/presentationml/2006/main">
  <p:tag name="KSO_WM_TEMPLATE_CATEGORY" val="custom"/>
  <p:tag name="KSO_WM_TEMPLATE_INDEX" val="20204478"/>
</p:tagLst>
</file>

<file path=ppt/tags/tag140.xml><?xml version="1.0" encoding="utf-8"?>
<p:tagLst xmlns:p="http://schemas.openxmlformats.org/presentationml/2006/main">
  <p:tag name="KSO_WM_TEMPLATE_CATEGORY" val="custom"/>
  <p:tag name="KSO_WM_TEMPLATE_INDEX" val="20204478"/>
</p:tagLst>
</file>

<file path=ppt/tags/tag141.xml><?xml version="1.0" encoding="utf-8"?>
<p:tagLst xmlns:p="http://schemas.openxmlformats.org/presentationml/2006/main">
  <p:tag name="KSO_WM_TEMPLATE_CATEGORY" val="custom"/>
  <p:tag name="KSO_WM_TEMPLATE_INDEX" val="20204478"/>
</p:tagLst>
</file>

<file path=ppt/tags/tag142.xml><?xml version="1.0" encoding="utf-8"?>
<p:tagLst xmlns:p="http://schemas.openxmlformats.org/presentationml/2006/main">
  <p:tag name="KSO_WM_TEMPLATE_CATEGORY" val="custom"/>
  <p:tag name="KSO_WM_TEMPLATE_INDEX" val="20204478"/>
</p:tagLst>
</file>

<file path=ppt/tags/tag143.xml><?xml version="1.0" encoding="utf-8"?>
<p:tagLst xmlns:p="http://schemas.openxmlformats.org/presentationml/2006/main">
  <p:tag name="KSO_WM_TEMPLATE_CATEGORY" val="custom"/>
  <p:tag name="KSO_WM_TEMPLATE_INDEX" val="20204478"/>
</p:tagLst>
</file>

<file path=ppt/tags/tag144.xml><?xml version="1.0" encoding="utf-8"?>
<p:tagLst xmlns:p="http://schemas.openxmlformats.org/presentationml/2006/main">
  <p:tag name="KSO_WM_TEMPLATE_CATEGORY" val="custom"/>
  <p:tag name="KSO_WM_TEMPLATE_INDEX" val="20204478"/>
</p:tagLst>
</file>

<file path=ppt/tags/tag145.xml><?xml version="1.0" encoding="utf-8"?>
<p:tagLst xmlns:p="http://schemas.openxmlformats.org/presentationml/2006/main">
  <p:tag name="KSO_WM_TEMPLATE_CATEGORY" val="custom"/>
  <p:tag name="KSO_WM_TEMPLATE_INDEX" val="20204478"/>
</p:tagLst>
</file>

<file path=ppt/tags/tag146.xml><?xml version="1.0" encoding="utf-8"?>
<p:tagLst xmlns:p="http://schemas.openxmlformats.org/presentationml/2006/main">
  <p:tag name="KSO_WM_TEMPLATE_CATEGORY" val="custom"/>
  <p:tag name="KSO_WM_TEMPLATE_INDEX" val="20204478"/>
</p:tagLst>
</file>

<file path=ppt/tags/tag147.xml><?xml version="1.0" encoding="utf-8"?>
<p:tagLst xmlns:p="http://schemas.openxmlformats.org/presentationml/2006/main">
  <p:tag name="KSO_WM_TEMPLATE_CATEGORY" val="custom"/>
  <p:tag name="KSO_WM_TEMPLATE_INDEX" val="20204478"/>
</p:tagLst>
</file>

<file path=ppt/tags/tag148.xml><?xml version="1.0" encoding="utf-8"?>
<p:tagLst xmlns:p="http://schemas.openxmlformats.org/presentationml/2006/main">
  <p:tag name="KSO_WM_TEMPLATE_CATEGORY" val="custom"/>
  <p:tag name="KSO_WM_TEMPLATE_INDEX" val="20204478"/>
</p:tagLst>
</file>

<file path=ppt/theme/theme1.xml><?xml version="1.0" encoding="utf-8"?>
<a:theme xmlns:a="http://schemas.openxmlformats.org/drawingml/2006/main" name="2_Office 主题​​">
  <a:themeElements>
    <a:clrScheme name="自定义 199">
      <a:dk1>
        <a:srgbClr val="000000"/>
      </a:dk1>
      <a:lt1>
        <a:srgbClr val="FFFFFF"/>
      </a:lt1>
      <a:dk2>
        <a:srgbClr val="EEF6FC"/>
      </a:dk2>
      <a:lt2>
        <a:srgbClr val="FCFCFD"/>
      </a:lt2>
      <a:accent1>
        <a:srgbClr val="6F86A0"/>
      </a:accent1>
      <a:accent2>
        <a:srgbClr val="2F9BC1"/>
      </a:accent2>
      <a:accent3>
        <a:srgbClr val="20ADB0"/>
      </a:accent3>
      <a:accent4>
        <a:srgbClr val="35A550"/>
      </a:accent4>
      <a:accent5>
        <a:srgbClr val="7A9F3F"/>
      </a:accent5>
      <a:accent6>
        <a:srgbClr val="E5CA29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1030</Words>
  <Application>WPS 演示</Application>
  <PresentationFormat>全屏显示(4:3)</PresentationFormat>
  <Paragraphs>89</Paragraphs>
  <Slides>11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汉仪旗黑-85S</vt:lpstr>
      <vt:lpstr>黑体</vt:lpstr>
      <vt:lpstr>Arial Unicode MS</vt:lpstr>
      <vt:lpstr>等线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语法及用法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智能指针</dc:title>
  <dc:creator>lenovo</dc:creator>
  <cp:lastModifiedBy>Rock</cp:lastModifiedBy>
  <cp:revision>360</cp:revision>
  <dcterms:created xsi:type="dcterms:W3CDTF">2020-03-12T12:46:00Z</dcterms:created>
  <dcterms:modified xsi:type="dcterms:W3CDTF">2021-06-03T22:56:32Z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2052-11.1.0.10132</vt:lpwstr>
  </property>
</Properties>
</file>