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ink/ink1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75" r:id="rId3"/>
    <p:sldId id="276" r:id="rId4"/>
    <p:sldId id="277" r:id="rId6"/>
    <p:sldId id="278" r:id="rId7"/>
    <p:sldId id="257" r:id="rId8"/>
    <p:sldId id="296" r:id="rId9"/>
    <p:sldId id="263" r:id="rId10"/>
    <p:sldId id="280" r:id="rId11"/>
    <p:sldId id="266" r:id="rId12"/>
    <p:sldId id="268" r:id="rId13"/>
    <p:sldId id="270" r:id="rId14"/>
    <p:sldId id="297" r:id="rId15"/>
    <p:sldId id="298" r:id="rId16"/>
    <p:sldId id="299" r:id="rId17"/>
    <p:sldId id="301" r:id="rId18"/>
    <p:sldId id="302" r:id="rId19"/>
    <p:sldId id="300" r:id="rId2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mpleSmart" initials="S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7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68" autoAdjust="0"/>
    <p:restoredTop sz="94660"/>
  </p:normalViewPr>
  <p:slideViewPr>
    <p:cSldViewPr>
      <p:cViewPr varScale="1">
        <p:scale>
          <a:sx n="110" d="100"/>
          <a:sy n="110" d="100"/>
        </p:scale>
        <p:origin x="1968" y="78"/>
      </p:cViewPr>
      <p:guideLst>
        <p:guide orient="horz" pos="2271"/>
        <p:guide pos="282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05-31T06:24:0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1578 1040,'2'0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4DF8C-4C82-4E1D-ACFB-E2E2D3E135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7A4FEF-681B-40E5-A232-6D056FB2C7A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8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7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image" Target="file:///C:\Users\1V994W2\PycharmProjects\PPT_Background_Generation/pic_temp/pic_half_to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20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19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28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27.xml"/><Relationship Id="rId15" Type="http://schemas.openxmlformats.org/officeDocument/2006/relationships/tags" Target="../tags/tag36.xml"/><Relationship Id="rId14" Type="http://schemas.openxmlformats.org/officeDocument/2006/relationships/tags" Target="../tags/tag35.xml"/><Relationship Id="rId13" Type="http://schemas.openxmlformats.org/officeDocument/2006/relationships/tags" Target="../tags/tag34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image" Target="file:///C:\Users\1V994W2\Documents\Tencent%20Files\574576071\FileRecv\&#25340;&#35013;&#32032;&#26448;\formiddle1\\15\subject_holdleft_111,134,161_0_staid_full_0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47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46.xml"/><Relationship Id="rId13" Type="http://schemas.openxmlformats.org/officeDocument/2006/relationships/tags" Target="../tags/tag53.xml"/><Relationship Id="rId12" Type="http://schemas.openxmlformats.org/officeDocument/2006/relationships/tags" Target="../tags/tag52.xml"/><Relationship Id="rId11" Type="http://schemas.openxmlformats.org/officeDocument/2006/relationships/tags" Target="../tags/tag51.xml"/><Relationship Id="rId10" Type="http://schemas.openxmlformats.org/officeDocument/2006/relationships/tags" Target="../tags/tag50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55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54.xml"/><Relationship Id="rId12" Type="http://schemas.openxmlformats.org/officeDocument/2006/relationships/tags" Target="../tags/tag60.xml"/><Relationship Id="rId11" Type="http://schemas.openxmlformats.org/officeDocument/2006/relationships/tags" Target="../tags/tag59.xml"/><Relationship Id="rId10" Type="http://schemas.openxmlformats.org/officeDocument/2006/relationships/tags" Target="../tags/tag58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62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61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67.xml"/><Relationship Id="rId10" Type="http://schemas.openxmlformats.org/officeDocument/2006/relationships/tags" Target="../tags/tag73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75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74.xml"/><Relationship Id="rId11" Type="http://schemas.openxmlformats.org/officeDocument/2006/relationships/tags" Target="../tags/tag79.xml"/><Relationship Id="rId10" Type="http://schemas.openxmlformats.org/officeDocument/2006/relationships/tags" Target="../tags/tag78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83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82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3" Type="http://schemas.openxmlformats.org/officeDocument/2006/relationships/tags" Target="../tags/tag87.xml"/><Relationship Id="rId12" Type="http://schemas.openxmlformats.org/officeDocument/2006/relationships/tags" Target="../tags/tag86.xml"/><Relationship Id="rId11" Type="http://schemas.openxmlformats.org/officeDocument/2006/relationships/tags" Target="../tags/tag85.xml"/><Relationship Id="rId10" Type="http://schemas.openxmlformats.org/officeDocument/2006/relationships/tags" Target="../tags/tag84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1" Type="http://schemas.openxmlformats.org/officeDocument/2006/relationships/tags" Target="../tags/tag95.xml"/><Relationship Id="rId10" Type="http://schemas.openxmlformats.org/officeDocument/2006/relationships/tags" Target="../tags/tag94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98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107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4" Type="http://schemas.openxmlformats.org/officeDocument/2006/relationships/tags" Target="../tags/tag113.xml"/><Relationship Id="rId13" Type="http://schemas.openxmlformats.org/officeDocument/2006/relationships/tags" Target="../tags/tag112.xml"/><Relationship Id="rId12" Type="http://schemas.openxmlformats.org/officeDocument/2006/relationships/tags" Target="../tags/tag111.xml"/><Relationship Id="rId11" Type="http://schemas.openxmlformats.org/officeDocument/2006/relationships/tags" Target="../tags/tag110.xml"/><Relationship Id="rId10" Type="http://schemas.openxmlformats.org/officeDocument/2006/relationships/tags" Target="../tags/tag109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17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116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6" Type="http://schemas.openxmlformats.org/officeDocument/2006/relationships/tags" Target="../tags/tag124.xml"/><Relationship Id="rId15" Type="http://schemas.openxmlformats.org/officeDocument/2006/relationships/tags" Target="../tags/tag123.xml"/><Relationship Id="rId14" Type="http://schemas.openxmlformats.org/officeDocument/2006/relationships/tags" Target="../tags/tag122.xml"/><Relationship Id="rId13" Type="http://schemas.openxmlformats.org/officeDocument/2006/relationships/tags" Target="../tags/tag121.xml"/><Relationship Id="rId12" Type="http://schemas.openxmlformats.org/officeDocument/2006/relationships/tags" Target="../tags/tag120.xml"/><Relationship Id="rId11" Type="http://schemas.openxmlformats.org/officeDocument/2006/relationships/tags" Target="../tags/tag119.xml"/><Relationship Id="rId10" Type="http://schemas.openxmlformats.org/officeDocument/2006/relationships/tags" Target="../tags/tag118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28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127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3" Type="http://schemas.openxmlformats.org/officeDocument/2006/relationships/tags" Target="../tags/tag132.xml"/><Relationship Id="rId12" Type="http://schemas.openxmlformats.org/officeDocument/2006/relationships/tags" Target="../tags/tag131.xml"/><Relationship Id="rId11" Type="http://schemas.openxmlformats.org/officeDocument/2006/relationships/tags" Target="../tags/tag130.xml"/><Relationship Id="rId10" Type="http://schemas.openxmlformats.org/officeDocument/2006/relationships/tags" Target="../tags/tag129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ctrTitle" idx="14" hasCustomPrompt="1"/>
            <p:custDataLst>
              <p:tags r:id="rId8"/>
            </p:custDataLst>
          </p:nvPr>
        </p:nvSpPr>
        <p:spPr>
          <a:xfrm>
            <a:off x="2376729" y="2653386"/>
            <a:ext cx="4762500" cy="1330960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Font typeface="Arial" panose="020B0604020202020204" pitchFamily="34" charset="0"/>
              <a:buNone/>
              <a:defRPr sz="5400" b="0" spc="-200">
                <a:solidFill>
                  <a:schemeClr val="bg1"/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sp>
        <p:nvSpPr>
          <p:cNvPr id="2" name="副标题 1"/>
          <p:cNvSpPr>
            <a:spLocks noGrp="1"/>
          </p:cNvSpPr>
          <p:nvPr>
            <p:ph type="subTitle" idx="13" hasCustomPrompt="1"/>
            <p:custDataLst>
              <p:tags r:id="rId9"/>
            </p:custDataLst>
          </p:nvPr>
        </p:nvSpPr>
        <p:spPr>
          <a:xfrm>
            <a:off x="2376729" y="4227376"/>
            <a:ext cx="4762500" cy="764868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1800" b="0" spc="2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514350"/>
          </a:xfrm>
          <a:prstGeom prst="rect">
            <a:avLst/>
          </a:prstGeom>
        </p:spPr>
      </p:pic>
      <p:pic>
        <p:nvPicPr>
          <p:cNvPr id="7" name="图片 6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02412" y="443234"/>
            <a:ext cx="8139178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9"/>
            </p:custDataLst>
          </p:nvPr>
        </p:nvSpPr>
        <p:spPr>
          <a:xfrm>
            <a:off x="502412" y="952508"/>
            <a:ext cx="8139178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5716016"/>
            <a:ext cx="3048000" cy="1141984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2350495" y="3429000"/>
            <a:ext cx="4443011" cy="918537"/>
          </a:xfrm>
        </p:spPr>
        <p:txBody>
          <a:bodyPr>
            <a:normAutofit/>
          </a:bodyPr>
          <a:lstStyle>
            <a:lvl1pPr algn="ctr">
              <a:defRPr sz="27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514350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02412" y="443234"/>
            <a:ext cx="8139178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9"/>
            </p:custDataLst>
          </p:nvPr>
        </p:nvSpPr>
        <p:spPr>
          <a:xfrm>
            <a:off x="502448" y="952508"/>
            <a:ext cx="396243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4679158" y="952508"/>
            <a:ext cx="396243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514350"/>
          </a:xfrm>
          <a:prstGeom prst="rect">
            <a:avLst/>
          </a:prstGeom>
        </p:spPr>
      </p:pic>
      <p:pic>
        <p:nvPicPr>
          <p:cNvPr id="10" name="图片 9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02412" y="443234"/>
            <a:ext cx="8139178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9"/>
            </p:custDataLst>
          </p:nvPr>
        </p:nvSpPr>
        <p:spPr>
          <a:xfrm>
            <a:off x="502448" y="952508"/>
            <a:ext cx="396243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502444" y="1406525"/>
            <a:ext cx="39624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1"/>
            </p:custDataLst>
          </p:nvPr>
        </p:nvSpPr>
        <p:spPr>
          <a:xfrm>
            <a:off x="4676813" y="952508"/>
            <a:ext cx="396243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2"/>
            </p:custDataLst>
          </p:nvPr>
        </p:nvSpPr>
        <p:spPr>
          <a:xfrm>
            <a:off x="4676813" y="1406525"/>
            <a:ext cx="396243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3560" y="2194560"/>
            <a:ext cx="3291840" cy="2468880"/>
          </a:xfrm>
          <a:prstGeom prst="rect">
            <a:avLst/>
          </a:prstGeom>
        </p:spPr>
      </p:pic>
      <p:sp>
        <p:nvSpPr>
          <p:cNvPr id="6" name="任意多边形 6"/>
          <p:cNvSpPr/>
          <p:nvPr>
            <p:custDataLst>
              <p:tags r:id="rId5"/>
            </p:custDataLst>
          </p:nvPr>
        </p:nvSpPr>
        <p:spPr>
          <a:xfrm flipH="1">
            <a:off x="0" y="0"/>
            <a:ext cx="5484971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02412" y="443230"/>
            <a:ext cx="8139178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514350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02448" y="443234"/>
            <a:ext cx="8139178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502448" y="952508"/>
            <a:ext cx="396243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4679194" y="952508"/>
            <a:ext cx="396243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514350"/>
          </a:xfrm>
          <a:prstGeom prst="rect">
            <a:avLst/>
          </a:prstGeom>
        </p:spPr>
      </p:pic>
      <p:pic>
        <p:nvPicPr>
          <p:cNvPr id="7" name="图片 6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514350"/>
          </a:xfrm>
          <a:prstGeom prst="rect">
            <a:avLst/>
          </a:prstGeom>
        </p:spPr>
      </p:pic>
      <p:pic>
        <p:nvPicPr>
          <p:cNvPr id="6" name="图片 5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502448" y="952508"/>
            <a:ext cx="8139178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/>
          <p:cNvCxnSpPr/>
          <p:nvPr>
            <p:custDataLst>
              <p:tags r:id="rId8"/>
            </p:custDataLst>
          </p:nvPr>
        </p:nvCxnSpPr>
        <p:spPr>
          <a:xfrm>
            <a:off x="2516981" y="3913822"/>
            <a:ext cx="4110038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9"/>
            </p:custDataLst>
          </p:nvPr>
        </p:nvSpPr>
        <p:spPr>
          <a:xfrm>
            <a:off x="2560320" y="4117022"/>
            <a:ext cx="4023836" cy="764943"/>
          </a:xfrm>
        </p:spPr>
        <p:txBody>
          <a:bodyPr vert="horz" wrap="square" lIns="0" tIns="0" rIns="0" bIns="0" anchor="t" anchorCtr="0">
            <a:normAutofit/>
          </a:bodyPr>
          <a:lstStyle>
            <a:lvl1pPr marL="342900" marR="0" indent="-342900" algn="ctr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1800" b="0" spc="2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0"/>
            </p:custDataLst>
          </p:nvPr>
        </p:nvSpPr>
        <p:spPr>
          <a:xfrm>
            <a:off x="2559844" y="2379663"/>
            <a:ext cx="4024313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6000" b="0" spc="1000">
                <a:solidFill>
                  <a:schemeClr val="bg1"/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514350"/>
          </a:xfrm>
          <a:prstGeom prst="rect">
            <a:avLst/>
          </a:prstGeom>
        </p:spPr>
      </p:pic>
      <p:pic>
        <p:nvPicPr>
          <p:cNvPr id="6" name="图片 5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02412" y="443230"/>
            <a:ext cx="8139178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219056" y="303809"/>
            <a:ext cx="8705888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350"/>
          </a:p>
        </p:txBody>
      </p:sp>
      <p:pic>
        <p:nvPicPr>
          <p:cNvPr id="9" name="图片 8"/>
          <p:cNvPicPr/>
          <p:nvPr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514350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961200" y="1249200"/>
            <a:ext cx="7219800" cy="723600"/>
          </a:xfrm>
        </p:spPr>
        <p:txBody>
          <a:bodyPr wrap="square" anchor="ctr"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960835" y="2163600"/>
            <a:ext cx="721995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3618452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350"/>
          </a:p>
        </p:txBody>
      </p:sp>
      <p:pic>
        <p:nvPicPr>
          <p:cNvPr id="8" name="图片 7"/>
          <p:cNvPicPr/>
          <p:nvPr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437400" y="770400"/>
            <a:ext cx="2970000" cy="882000"/>
          </a:xfrm>
        </p:spPr>
        <p:txBody>
          <a:bodyPr wrap="square" anchor="ctr" anchorCtr="0">
            <a:normAutofit/>
          </a:bodyPr>
          <a:lstStyle>
            <a:lvl1pPr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440100" y="1764000"/>
            <a:ext cx="29673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3825900" y="769938"/>
            <a:ext cx="486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0" y="0"/>
            <a:ext cx="9144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350"/>
          </a:p>
        </p:txBody>
      </p:sp>
      <p:pic>
        <p:nvPicPr>
          <p:cNvPr id="10" name="图片 9"/>
          <p:cNvPicPr/>
          <p:nvPr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514350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459000" y="781200"/>
            <a:ext cx="8232300" cy="626400"/>
          </a:xfrm>
        </p:spPr>
        <p:txBody>
          <a:bodyPr wrap="square" anchor="ctr">
            <a:normAutofit/>
          </a:bodyPr>
          <a:lstStyle>
            <a:lvl1pPr algn="ctr"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459000" y="1659600"/>
            <a:ext cx="8231981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459581" y="2808000"/>
            <a:ext cx="82242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0" y="5028971"/>
            <a:ext cx="9144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350"/>
          </a:p>
        </p:txBody>
      </p:sp>
      <p:pic>
        <p:nvPicPr>
          <p:cNvPr id="10" name="图片 9"/>
          <p:cNvPicPr/>
          <p:nvPr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514350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453600" y="669600"/>
            <a:ext cx="8232300" cy="565200"/>
          </a:xfrm>
        </p:spPr>
        <p:txBody>
          <a:bodyPr wrap="square" anchor="ctr" anchorCtr="0">
            <a:normAutofit/>
          </a:bodyPr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453628" y="1681200"/>
            <a:ext cx="82431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445500" y="5180400"/>
            <a:ext cx="82512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>
            <p:custDataLst>
              <p:tags r:id="rId2"/>
            </p:custDataLst>
          </p:nvPr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350"/>
          </a:p>
        </p:txBody>
      </p:sp>
      <p:pic>
        <p:nvPicPr>
          <p:cNvPr id="12" name="图片 11"/>
          <p:cNvPicPr/>
          <p:nvPr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6343650"/>
            <a:ext cx="540068" cy="514350"/>
          </a:xfrm>
          <a:prstGeom prst="rect">
            <a:avLst/>
          </a:prstGeom>
        </p:spPr>
      </p:pic>
      <p:pic>
        <p:nvPicPr>
          <p:cNvPr id="10" name="图片 9"/>
          <p:cNvPicPr/>
          <p:nvPr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3650"/>
            <a:ext cx="540068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434700" y="237600"/>
            <a:ext cx="82782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434700" y="1663200"/>
            <a:ext cx="40068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4681800" y="1663200"/>
            <a:ext cx="40257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429300" y="4816800"/>
            <a:ext cx="40068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4689900" y="4813200"/>
            <a:ext cx="40257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953691"/>
            <a:ext cx="9144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350"/>
          </a:p>
        </p:txBody>
      </p:sp>
      <p:pic>
        <p:nvPicPr>
          <p:cNvPr id="9" name="图片 8"/>
          <p:cNvPicPr/>
          <p:nvPr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8848" y="5700713"/>
            <a:ext cx="1215152" cy="1157288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00713"/>
            <a:ext cx="1215152" cy="115728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142100" y="1339200"/>
            <a:ext cx="6858000" cy="2386800"/>
          </a:xfrm>
        </p:spPr>
        <p:txBody>
          <a:bodyPr wrap="square" anchor="b">
            <a:normAutofit/>
          </a:bodyPr>
          <a:lstStyle>
            <a:lvl1pPr algn="ctr">
              <a:defRPr sz="45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141810" y="3862800"/>
            <a:ext cx="6858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cent Project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2001441" y="2019300"/>
            <a:ext cx="2209800" cy="381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6220809" y="2019300"/>
            <a:ext cx="2209800" cy="381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6" Type="http://schemas.openxmlformats.org/officeDocument/2006/relationships/theme" Target="../theme/theme1.xml"/><Relationship Id="rId25" Type="http://schemas.openxmlformats.org/officeDocument/2006/relationships/tags" Target="../tags/tag138.xml"/><Relationship Id="rId24" Type="http://schemas.openxmlformats.org/officeDocument/2006/relationships/tags" Target="../tags/tag137.xml"/><Relationship Id="rId23" Type="http://schemas.openxmlformats.org/officeDocument/2006/relationships/tags" Target="../tags/tag136.xml"/><Relationship Id="rId22" Type="http://schemas.openxmlformats.org/officeDocument/2006/relationships/tags" Target="../tags/tag135.xml"/><Relationship Id="rId21" Type="http://schemas.openxmlformats.org/officeDocument/2006/relationships/tags" Target="../tags/tag134.xml"/><Relationship Id="rId20" Type="http://schemas.openxmlformats.org/officeDocument/2006/relationships/tags" Target="../tags/tag133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502412" y="443230"/>
            <a:ext cx="8139178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502412" y="961398"/>
            <a:ext cx="8139178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659807" y="6349833"/>
            <a:ext cx="2025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3087000" y="6349833"/>
            <a:ext cx="297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6457950" y="6349833"/>
            <a:ext cx="2025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18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9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0.xml"/><Relationship Id="rId2" Type="http://schemas.openxmlformats.org/officeDocument/2006/relationships/image" Target="../media/image7.png"/><Relationship Id="rId1" Type="http://schemas.openxmlformats.org/officeDocument/2006/relationships/customXml" Target="../ink/ink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占位符 3"/>
          <p:cNvPicPr>
            <a:picLocks noGrp="1" noChangeAspect="1"/>
          </p:cNvPicPr>
          <p:nvPr>
            <p:ph type="pic" idx="4294967295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23" b="28923"/>
          <a:stretch>
            <a:fillRect/>
          </a:stretch>
        </p:blipFill>
        <p:spPr>
          <a:xfrm>
            <a:off x="0" y="857250"/>
            <a:ext cx="9144000" cy="22278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</p:pic>
      <p:sp>
        <p:nvSpPr>
          <p:cNvPr id="5" name="TextBox 1"/>
          <p:cNvSpPr txBox="1"/>
          <p:nvPr/>
        </p:nvSpPr>
        <p:spPr>
          <a:xfrm>
            <a:off x="615599" y="3480582"/>
            <a:ext cx="7913370" cy="1649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625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+mn-ea"/>
              </a:rPr>
              <a:t>function</a:t>
            </a:r>
            <a:r>
              <a:rPr lang="zh-CN" altLang="en-US" sz="8625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+mn-ea"/>
              </a:rPr>
              <a:t>和</a:t>
            </a:r>
            <a:r>
              <a:rPr lang="en-US" altLang="zh-CN" sz="8625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+mn-ea"/>
              </a:rPr>
              <a:t>bind</a:t>
            </a:r>
            <a:endParaRPr lang="en-US" altLang="zh-CN" sz="2700" b="1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sz="750" dirty="0" smtClean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sz="75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3"/>
          <p:cNvSpPr>
            <a:spLocks noChangeArrowheads="1"/>
          </p:cNvSpPr>
          <p:nvPr/>
        </p:nvSpPr>
        <p:spPr bwMode="auto">
          <a:xfrm>
            <a:off x="4217481" y="3162185"/>
            <a:ext cx="1267460" cy="748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anchor="ctr">
            <a:spAutoFit/>
          </a:bodyPr>
          <a:lstStyle/>
          <a:p>
            <a:pPr algn="r"/>
            <a:r>
              <a:rPr lang="zh-CN" altLang="en-US" sz="427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概念</a:t>
            </a:r>
            <a:endParaRPr lang="zh-CN" altLang="en-US" sz="427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5124" name="淘宝网chenying0907出品 10"/>
          <p:cNvSpPr>
            <a:spLocks noChangeArrowheads="1"/>
          </p:cNvSpPr>
          <p:nvPr/>
        </p:nvSpPr>
        <p:spPr bwMode="auto">
          <a:xfrm>
            <a:off x="3776791" y="2649895"/>
            <a:ext cx="16433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function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和</a:t>
            </a: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bind</a:t>
            </a:r>
            <a:endParaRPr lang="en-US" altLang="zh-CN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125" name="淘宝网chenying0907出品 11"/>
          <p:cNvSpPr>
            <a:spLocks noChangeShapeType="1"/>
          </p:cNvSpPr>
          <p:nvPr/>
        </p:nvSpPr>
        <p:spPr bwMode="auto">
          <a:xfrm>
            <a:off x="1505825" y="2960613"/>
            <a:ext cx="3914345" cy="1191"/>
          </a:xfrm>
          <a:prstGeom prst="line">
            <a:avLst/>
          </a:prstGeom>
          <a:noFill/>
          <a:ln w="6350" cap="flat" cmpd="sng">
            <a:solidFill>
              <a:schemeClr val="accent1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2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Text Box 3"/>
          <p:cNvSpPr>
            <a:spLocks noChangeArrowheads="1"/>
          </p:cNvSpPr>
          <p:nvPr/>
        </p:nvSpPr>
        <p:spPr bwMode="auto">
          <a:xfrm>
            <a:off x="5545075" y="2294165"/>
            <a:ext cx="2183130" cy="227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4155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01</a:t>
            </a:r>
            <a:endParaRPr lang="en-US" altLang="en-US" sz="14155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 spd="med" advTm="0">
    <p:pull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13410"/>
            <a:ext cx="8229600" cy="551243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sz="2400" b="1" dirty="0" err="1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>
              <a:buNone/>
            </a:pPr>
            <a:endParaRPr sz="2400" b="1" dirty="0" err="1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>
              <a:buNone/>
            </a:pPr>
            <a:r>
              <a:rPr sz="2400" b="1" dirty="0" err="1">
                <a:latin typeface="微软雅黑" panose="020B0503020204020204" charset="-122"/>
                <a:cs typeface="微软雅黑" panose="020B0503020204020204" charset="-122"/>
                <a:sym typeface="+mn-ea"/>
              </a:rPr>
              <a:t>概述</a:t>
            </a:r>
            <a:endParaRPr lang="en-US" altLang="zh-CN" sz="2400" b="1" dirty="0" err="1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function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和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bind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是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C++11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引入的非常重要的特性，它们提供了一种新的回调实现机制，达到了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C#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中的委托的同样效果</a:t>
            </a:r>
            <a:endParaRPr lang="en-US" altLang="zh-CN" sz="1600" dirty="0"/>
          </a:p>
          <a:p>
            <a:pPr marL="0" indent="0">
              <a:buNone/>
            </a:pPr>
            <a:endParaRPr lang="en-US" altLang="zh-CN" sz="1600" spc="0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13410"/>
            <a:ext cx="8229600" cy="55124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400" b="1"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可调用对象</a:t>
            </a:r>
            <a:endParaRPr lang="en-US" altLang="zh-CN" sz="2400" b="1" dirty="0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在C++中函数，函数指针，指向类的成员函数指针，函数对象(重载了调用运算符的类)，lambda</a:t>
            </a:r>
            <a:endParaRPr lang="en-US" altLang="zh-CN" sz="1600" spc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rPr>
              <a:t>1. 函数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                                  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rPr>
              <a:t>          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  <a:cs typeface="+mn-ea"/>
              <a:sym typeface="+mn-ea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b="1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int func(int a,int b)                                                     </a:t>
            </a:r>
            <a:endParaRPr b="1" spc="0" dirty="0">
              <a:solidFill>
                <a:srgbClr val="FF0000"/>
              </a:solidFill>
              <a:ea typeface="微软雅黑" panose="020B0503020204020204" charset="-122"/>
              <a:sym typeface="+mn-ea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CN" b="1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{</a:t>
            </a:r>
            <a:r>
              <a:rPr b="1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    </a:t>
            </a:r>
            <a:endParaRPr b="1" spc="0" dirty="0">
              <a:solidFill>
                <a:srgbClr val="FF0000"/>
              </a:solidFill>
              <a:ea typeface="微软雅黑" panose="020B0503020204020204" charset="-122"/>
              <a:sym typeface="+mn-ea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b="1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    return a+b;</a:t>
            </a:r>
            <a:endParaRPr b="1" spc="0" dirty="0">
              <a:solidFill>
                <a:srgbClr val="FF0000"/>
              </a:solidFill>
              <a:ea typeface="微软雅黑" panose="020B0503020204020204" charset="-122"/>
              <a:sym typeface="+mn-ea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b="1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}</a:t>
            </a:r>
            <a:endParaRPr b="1" spc="0" dirty="0">
              <a:solidFill>
                <a:srgbClr val="FF0000"/>
              </a:solidFill>
              <a:ea typeface="微软雅黑" panose="020B0503020204020204" charset="-122"/>
              <a:sym typeface="+mn-ea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b="1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int c = func(10,8);</a:t>
            </a:r>
            <a:endParaRPr b="1" spc="0" dirty="0">
              <a:solidFill>
                <a:srgbClr val="C00000"/>
              </a:solidFill>
              <a:ea typeface="微软雅黑" panose="020B0503020204020204" charset="-122"/>
              <a:sym typeface="+mn-ea"/>
            </a:endParaRPr>
          </a:p>
          <a:p>
            <a:pPr marL="0" indent="0">
              <a:lnSpc>
                <a:spcPct val="60000"/>
              </a:lnSpc>
              <a:buNone/>
            </a:pPr>
            <a:endParaRPr spc="0" dirty="0">
              <a:solidFill>
                <a:srgbClr val="FF0000"/>
              </a:solidFill>
              <a:ea typeface="微软雅黑" panose="020B0503020204020204" charset="-122"/>
              <a:sym typeface="+mn-ea"/>
            </a:endParaRP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2. 函数指针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charset="-122"/>
              <a:sym typeface="+mn-ea"/>
            </a:endParaRPr>
          </a:p>
          <a:p>
            <a:pPr marL="0" algn="l">
              <a:lnSpc>
                <a:spcPct val="80000"/>
              </a:lnSpc>
              <a:buClrTx/>
              <a:buSzTx/>
              <a:buNone/>
            </a:pPr>
            <a:r>
              <a:rPr b="1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int (*AddFunc)(int a,int b);</a:t>
            </a:r>
            <a:endParaRPr b="1" spc="0" dirty="0">
              <a:solidFill>
                <a:srgbClr val="FF0000"/>
              </a:solidFill>
              <a:ea typeface="微软雅黑" panose="020B0503020204020204" charset="-122"/>
              <a:sym typeface="+mn-ea"/>
            </a:endParaRPr>
          </a:p>
          <a:p>
            <a:pPr marL="0" algn="l">
              <a:lnSpc>
                <a:spcPct val="80000"/>
              </a:lnSpc>
              <a:buClrTx/>
              <a:buSzTx/>
              <a:buNone/>
            </a:pPr>
            <a:r>
              <a:rPr b="1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AddFunc = func;</a:t>
            </a:r>
            <a:endParaRPr b="1" spc="0" dirty="0">
              <a:solidFill>
                <a:srgbClr val="FF0000"/>
              </a:solidFill>
              <a:ea typeface="微软雅黑" panose="020B0503020204020204" charset="-122"/>
              <a:sym typeface="+mn-ea"/>
            </a:endParaRPr>
          </a:p>
          <a:p>
            <a:pPr marL="0" algn="l">
              <a:lnSpc>
                <a:spcPct val="80000"/>
              </a:lnSpc>
              <a:buClrTx/>
              <a:buSzTx/>
              <a:buNone/>
            </a:pPr>
            <a:r>
              <a:rPr b="1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AddFunc();</a:t>
            </a:r>
            <a:endParaRPr b="1" spc="0" dirty="0">
              <a:solidFill>
                <a:srgbClr val="FF0000"/>
              </a:solidFill>
              <a:ea typeface="微软雅黑" panose="020B0503020204020204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b="1" spc="0" dirty="0">
              <a:solidFill>
                <a:srgbClr val="FF0000"/>
              </a:solidFill>
              <a:ea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462655" y="2075815"/>
            <a:ext cx="2691130" cy="2884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40000"/>
              </a:lnSpc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rPr>
              <a:t>3.</a:t>
            </a:r>
            <a:r>
              <a:rPr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rPr>
              <a:t> 函数对象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  <a:sym typeface="+mn-ea"/>
            </a:endParaRPr>
          </a:p>
          <a:p>
            <a:pPr>
              <a:lnSpc>
                <a:spcPct val="140000"/>
              </a:lnSpc>
            </a:pPr>
            <a:r>
              <a:rPr lang="en-US" altLang="zh-CN" sz="1200" b="1">
                <a:solidFill>
                  <a:srgbClr val="FF0000"/>
                </a:solidFill>
              </a:rPr>
              <a:t>struct CAdd</a:t>
            </a:r>
            <a:endParaRPr lang="en-US" altLang="zh-CN" sz="1200" b="1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1200" b="1">
                <a:solidFill>
                  <a:srgbClr val="FF0000"/>
                </a:solidFill>
              </a:rPr>
              <a:t>{</a:t>
            </a:r>
            <a:endParaRPr lang="en-US" altLang="zh-CN" sz="1200" b="1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1200" b="1">
                <a:solidFill>
                  <a:srgbClr val="FF0000"/>
                </a:solidFill>
              </a:rPr>
              <a:t>    int operator()(int a,int b)</a:t>
            </a:r>
            <a:endParaRPr lang="en-US" altLang="zh-CN" sz="1200" b="1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1200" b="1">
                <a:solidFill>
                  <a:srgbClr val="FF0000"/>
                </a:solidFill>
              </a:rPr>
              <a:t>    {</a:t>
            </a:r>
            <a:endParaRPr lang="en-US" altLang="zh-CN" sz="1200" b="1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1200" b="1">
                <a:solidFill>
                  <a:srgbClr val="FF0000"/>
                </a:solidFill>
              </a:rPr>
              <a:t>    ...</a:t>
            </a:r>
            <a:endParaRPr lang="en-US" altLang="zh-CN" sz="1200" b="1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1200" b="1">
                <a:solidFill>
                  <a:srgbClr val="FF0000"/>
                </a:solidFill>
              </a:rPr>
              <a:t>    }</a:t>
            </a:r>
            <a:endParaRPr lang="en-US" altLang="zh-CN" sz="1200" b="1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1200" b="1">
                <a:solidFill>
                  <a:srgbClr val="FF0000"/>
                </a:solidFill>
              </a:rPr>
              <a:t>}</a:t>
            </a:r>
            <a:endParaRPr lang="en-US" altLang="zh-CN" sz="1200" b="1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</a:pPr>
            <a:endParaRPr lang="en-US" altLang="zh-CN" sz="1200" b="1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1200" b="1">
                <a:solidFill>
                  <a:srgbClr val="FF0000"/>
                </a:solidFill>
              </a:rPr>
              <a:t>CAdd add;</a:t>
            </a:r>
            <a:endParaRPr lang="en-US" altLang="zh-CN" sz="1200" b="1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1200" b="1">
                <a:solidFill>
                  <a:srgbClr val="FF0000"/>
                </a:solidFill>
              </a:rPr>
              <a:t>int r = add(10,8)</a:t>
            </a:r>
            <a:endParaRPr lang="en-US" altLang="zh-CN" sz="1200" b="1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</a:pPr>
            <a:endParaRPr lang="en-US" altLang="zh-CN" sz="1200">
              <a:solidFill>
                <a:srgbClr val="FF0000"/>
              </a:solidFill>
            </a:endParaRPr>
          </a:p>
          <a:p>
            <a:pPr algn="l">
              <a:lnSpc>
                <a:spcPct val="140000"/>
              </a:lnSpc>
              <a:buClrTx/>
              <a:buSzTx/>
              <a:buFontTx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4. lambda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表达式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(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匿名函数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)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66130"/>
          </a:xfrm>
        </p:spPr>
        <p:txBody>
          <a:bodyPr/>
          <a:lstStyle/>
          <a:p>
            <a:r>
              <a:rPr lang="zh-CN" altLang="en-US" sz="2700" spc="150" dirty="0" err="1">
                <a:latin typeface="微软雅黑" panose="020B0503020204020204" charset="-122"/>
                <a:cs typeface="微软雅黑" panose="020B0503020204020204" charset="-122"/>
              </a:rPr>
              <a:t>可调用对象的类型</a:t>
            </a:r>
            <a:endParaRPr lang="zh-CN" altLang="en-US" sz="2700" spc="150" dirty="0" err="1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473483"/>
            <a:ext cx="8363272" cy="482453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可调用对象都是有类型的，很典型的如函数对象，它本质就一个重载了调用运算符的类，不同的类当然类型也不相同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函数和函数指针，它们的类型是由其返回值类型和实参类型决定，int func(int a,int b)和void func()就不是同一个类型。它们对应的指针也是不同的类型，不能相互赋值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很显然函数对象与函数，函数指针也不是同一类型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66130"/>
          </a:xfrm>
        </p:spPr>
        <p:txBody>
          <a:bodyPr/>
          <a:lstStyle/>
          <a:p>
            <a:r>
              <a:rPr lang="zh-CN" altLang="en-US" sz="2700" spc="150" dirty="0" err="1">
                <a:latin typeface="微软雅黑" panose="020B0503020204020204" charset="-122"/>
                <a:cs typeface="微软雅黑" panose="020B0503020204020204" charset="-122"/>
              </a:rPr>
              <a:t>调用形式</a:t>
            </a:r>
            <a:endParaRPr lang="zh-CN" altLang="en-US" sz="2700" spc="150" dirty="0" err="1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0525" y="1158240"/>
            <a:ext cx="8478520" cy="5197475"/>
          </a:xfrm>
        </p:spPr>
        <p:txBody>
          <a:bodyPr>
            <a:normAutofit lnSpcReduction="20000"/>
          </a:bodyPr>
          <a:lstStyle/>
          <a:p>
            <a:pPr algn="l">
              <a:lnSpc>
                <a:spcPct val="150000"/>
              </a:lnSpc>
              <a:buClrTx/>
              <a:buSzTx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调用形式指明了调用返回的类型及传递给调用的实参类型，如下，就表示一种调用形式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spc="0" dirty="0">
                <a:solidFill>
                  <a:srgbClr val="FF0000"/>
                </a:solidFill>
              </a:rPr>
              <a:t>   </a:t>
            </a:r>
            <a:r>
              <a:rPr lang="en-US" altLang="zh-CN" sz="1600" b="1" spc="0" dirty="0">
                <a:solidFill>
                  <a:srgbClr val="FF0000"/>
                </a:solidFill>
              </a:rPr>
              <a:t> int (int,int)</a:t>
            </a:r>
            <a:endParaRPr lang="en-US" altLang="zh-CN" sz="1600" spc="0" dirty="0">
              <a:solidFill>
                <a:srgbClr val="FF0000"/>
              </a:solidFill>
            </a:endParaRPr>
          </a:p>
          <a:p>
            <a:pPr algn="l">
              <a:lnSpc>
                <a:spcPct val="150000"/>
              </a:lnSpc>
              <a:buClrTx/>
              <a:buSzTx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不同的可调用对象可能会有相同的调用形式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lnSpc>
                <a:spcPct val="70000"/>
              </a:lnSpc>
              <a:buClrTx/>
              <a:buSzTx/>
              <a:buNone/>
            </a:pP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en-US" altLang="zh-CN" spc="0" dirty="0">
                <a:solidFill>
                  <a:srgbClr val="C00000"/>
                </a:solidFill>
              </a:rPr>
              <a:t> </a:t>
            </a:r>
            <a:r>
              <a:rPr lang="en-US" altLang="zh-CN" b="1" spc="0" dirty="0">
                <a:solidFill>
                  <a:srgbClr val="FF0000"/>
                </a:solidFill>
              </a:rPr>
              <a:t>int add(int a,int b); //</a:t>
            </a:r>
            <a:r>
              <a:rPr b="1" spc="0" dirty="0">
                <a:solidFill>
                  <a:srgbClr val="FF0000"/>
                </a:solidFill>
              </a:rPr>
              <a:t>函数</a:t>
            </a:r>
            <a:endParaRPr lang="en-US" altLang="zh-CN" b="1" spc="0" dirty="0">
              <a:solidFill>
                <a:srgbClr val="FF0000"/>
              </a:solidFill>
            </a:endParaRPr>
          </a:p>
          <a:p>
            <a:pPr marL="0" indent="0" algn="l">
              <a:lnSpc>
                <a:spcPct val="70000"/>
              </a:lnSpc>
              <a:buClrTx/>
              <a:buSzTx/>
              <a:buNone/>
            </a:pPr>
            <a:r>
              <a:rPr lang="en-US" altLang="zh-CN" b="1" spc="0" dirty="0">
                <a:solidFill>
                  <a:srgbClr val="FF0000"/>
                </a:solidFill>
              </a:rPr>
              <a:t>    struct CAdd</a:t>
            </a:r>
            <a:endParaRPr lang="en-US" altLang="zh-CN" b="1" spc="0" dirty="0">
              <a:solidFill>
                <a:srgbClr val="FF0000"/>
              </a:solidFill>
            </a:endParaRPr>
          </a:p>
          <a:p>
            <a:pPr marL="0" indent="0" algn="l">
              <a:lnSpc>
                <a:spcPct val="70000"/>
              </a:lnSpc>
              <a:buClrTx/>
              <a:buSzTx/>
              <a:buNone/>
            </a:pPr>
            <a:r>
              <a:rPr lang="en-US" altLang="zh-CN" b="1" spc="0" dirty="0">
                <a:solidFill>
                  <a:srgbClr val="FF0000"/>
                </a:solidFill>
              </a:rPr>
              <a:t>   {</a:t>
            </a:r>
            <a:endParaRPr lang="en-US" altLang="zh-CN" b="1" spc="0" dirty="0">
              <a:solidFill>
                <a:srgbClr val="FF0000"/>
              </a:solidFill>
            </a:endParaRPr>
          </a:p>
          <a:p>
            <a:pPr marL="0" indent="0" algn="l">
              <a:lnSpc>
                <a:spcPct val="70000"/>
              </a:lnSpc>
              <a:buClrTx/>
              <a:buSzTx/>
              <a:buNone/>
            </a:pPr>
            <a:r>
              <a:rPr lang="en-US" altLang="zh-CN" b="1" spc="0" dirty="0">
                <a:solidFill>
                  <a:srgbClr val="FF0000"/>
                </a:solidFill>
              </a:rPr>
              <a:t>        int operator()(int a, int b)</a:t>
            </a:r>
            <a:endParaRPr lang="en-US" altLang="zh-CN" b="1" spc="0" dirty="0">
              <a:solidFill>
                <a:srgbClr val="FF0000"/>
              </a:solidFill>
            </a:endParaRPr>
          </a:p>
          <a:p>
            <a:pPr marL="0" indent="0" algn="l">
              <a:lnSpc>
                <a:spcPct val="70000"/>
              </a:lnSpc>
              <a:buClrTx/>
              <a:buSzTx/>
              <a:buNone/>
            </a:pPr>
            <a:r>
              <a:rPr lang="en-US" altLang="zh-CN" b="1" spc="0" dirty="0">
                <a:solidFill>
                  <a:srgbClr val="FF0000"/>
                </a:solidFill>
              </a:rPr>
              <a:t>        {</a:t>
            </a:r>
            <a:endParaRPr lang="en-US" altLang="zh-CN" b="1" spc="0" dirty="0">
              <a:solidFill>
                <a:srgbClr val="FF0000"/>
              </a:solidFill>
            </a:endParaRPr>
          </a:p>
          <a:p>
            <a:pPr marL="0" indent="0" algn="l">
              <a:lnSpc>
                <a:spcPct val="70000"/>
              </a:lnSpc>
              <a:buClrTx/>
              <a:buSzTx/>
              <a:buNone/>
            </a:pPr>
            <a:r>
              <a:rPr lang="en-US" altLang="zh-CN" b="1" spc="0" dirty="0">
                <a:solidFill>
                  <a:srgbClr val="FF0000"/>
                </a:solidFill>
              </a:rPr>
              <a:t>               ...</a:t>
            </a:r>
            <a:endParaRPr lang="en-US" altLang="zh-CN" b="1" spc="0" dirty="0">
              <a:solidFill>
                <a:srgbClr val="FF0000"/>
              </a:solidFill>
            </a:endParaRPr>
          </a:p>
          <a:p>
            <a:pPr marL="0" indent="0" algn="l">
              <a:lnSpc>
                <a:spcPct val="70000"/>
              </a:lnSpc>
              <a:buClrTx/>
              <a:buSzTx/>
              <a:buNone/>
            </a:pPr>
            <a:r>
              <a:rPr lang="en-US" altLang="zh-CN" b="1" spc="0" dirty="0">
                <a:solidFill>
                  <a:srgbClr val="FF0000"/>
                </a:solidFill>
              </a:rPr>
              <a:t>        }</a:t>
            </a:r>
            <a:endParaRPr lang="en-US" altLang="zh-CN" b="1" spc="0" dirty="0">
              <a:solidFill>
                <a:srgbClr val="FF0000"/>
              </a:solidFill>
            </a:endParaRPr>
          </a:p>
          <a:p>
            <a:pPr marL="0" indent="0" algn="l">
              <a:lnSpc>
                <a:spcPct val="70000"/>
              </a:lnSpc>
              <a:buClrTx/>
              <a:buSzTx/>
              <a:buNone/>
            </a:pPr>
            <a:r>
              <a:rPr lang="en-US" altLang="zh-CN" b="1" spc="0" dirty="0">
                <a:solidFill>
                  <a:srgbClr val="FF0000"/>
                </a:solidFill>
              </a:rPr>
              <a:t>   }; //</a:t>
            </a:r>
            <a:r>
              <a:rPr b="1" spc="0" dirty="0">
                <a:solidFill>
                  <a:srgbClr val="FF0000"/>
                </a:solidFill>
              </a:rPr>
              <a:t>函数对象</a:t>
            </a:r>
            <a:endParaRPr b="1" spc="0" dirty="0">
              <a:solidFill>
                <a:srgbClr val="FF0000"/>
              </a:solidFill>
            </a:endParaRPr>
          </a:p>
          <a:p>
            <a:pPr marL="0" indent="0" algn="l">
              <a:lnSpc>
                <a:spcPct val="60000"/>
              </a:lnSpc>
              <a:buClrTx/>
              <a:buSzTx/>
              <a:buNone/>
            </a:pPr>
            <a:endParaRPr b="1" spc="0" dirty="0">
              <a:solidFill>
                <a:srgbClr val="FF0000"/>
              </a:solidFill>
            </a:endParaRPr>
          </a:p>
          <a:p>
            <a:pPr marL="0" indent="0" algn="l">
              <a:lnSpc>
                <a:spcPct val="150000"/>
              </a:lnSpc>
              <a:buClrTx/>
              <a:buSzTx/>
              <a:buNone/>
            </a:pPr>
            <a:r>
              <a:rPr spc="0" dirty="0">
                <a:solidFill>
                  <a:srgbClr val="FF0000"/>
                </a:solidFill>
              </a:rPr>
              <a:t> 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那么上述的函数add和函数对象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CAdd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的调用形式都是int (int,int)，尽管它们的调用形式都一样，但是它们不是同一个类型，我们可以通过函数指针指向add，但是不能指向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CAdd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函数对象。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lnSpc>
                <a:spcPct val="90000"/>
              </a:lnSpc>
              <a:buClrTx/>
              <a:buSzTx/>
              <a:buNone/>
            </a:pPr>
            <a:r>
              <a:rPr b="1" spc="0" dirty="0">
                <a:solidFill>
                  <a:srgbClr val="FF0000"/>
                </a:solidFill>
              </a:rPr>
              <a:t>std::map&lt;std::string,int(*)(int,int)&gt; functions;</a:t>
            </a:r>
            <a:endParaRPr b="1" spc="0" dirty="0">
              <a:solidFill>
                <a:srgbClr val="FF0000"/>
              </a:solidFill>
            </a:endParaRPr>
          </a:p>
          <a:p>
            <a:pPr marL="0" indent="0" algn="l">
              <a:lnSpc>
                <a:spcPct val="90000"/>
              </a:lnSpc>
              <a:buClrTx/>
              <a:buSzTx/>
              <a:buNone/>
            </a:pPr>
            <a:r>
              <a:rPr b="1" spc="0" dirty="0">
                <a:solidFill>
                  <a:srgbClr val="FF0000"/>
                </a:solidFill>
              </a:rPr>
              <a:t>//我们可以将函数add保存在functions中，却不能将</a:t>
            </a:r>
            <a:r>
              <a:rPr lang="en-US" altLang="zh-CN" b="1" spc="0" dirty="0">
                <a:solidFill>
                  <a:srgbClr val="FF0000"/>
                </a:solidFill>
              </a:rPr>
              <a:t>CAdd</a:t>
            </a:r>
            <a:r>
              <a:rPr b="1" spc="0" dirty="0">
                <a:solidFill>
                  <a:srgbClr val="FF0000"/>
                </a:solidFill>
              </a:rPr>
              <a:t>放入map</a:t>
            </a:r>
            <a:endParaRPr b="1" spc="0" dirty="0">
              <a:solidFill>
                <a:srgbClr val="FF0000"/>
              </a:solidFill>
            </a:endParaRPr>
          </a:p>
          <a:p>
            <a:pPr marL="0" indent="0" algn="l">
              <a:lnSpc>
                <a:spcPct val="90000"/>
              </a:lnSpc>
              <a:buClrTx/>
              <a:buSzTx/>
              <a:buNone/>
            </a:pPr>
            <a:r>
              <a:rPr b="1" spc="0" dirty="0">
                <a:solidFill>
                  <a:srgbClr val="FF0000"/>
                </a:solidFill>
              </a:rPr>
              <a:t>functions.insert("add",add)</a:t>
            </a:r>
            <a:endParaRPr b="1" spc="0" dirty="0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3"/>
          <p:cNvSpPr>
            <a:spLocks noChangeArrowheads="1"/>
          </p:cNvSpPr>
          <p:nvPr/>
        </p:nvSpPr>
        <p:spPr bwMode="auto">
          <a:xfrm>
            <a:off x="1536511" y="3162185"/>
            <a:ext cx="3948430" cy="748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anchor="ctr">
            <a:spAutoFit/>
          </a:bodyPr>
          <a:lstStyle/>
          <a:p>
            <a:pPr algn="r"/>
            <a:r>
              <a:rPr lang="en-US" altLang="zh-CN" sz="427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function</a:t>
            </a:r>
            <a:r>
              <a:rPr lang="zh-CN" altLang="en-US" sz="427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的用法</a:t>
            </a:r>
            <a:endParaRPr lang="zh-CN" altLang="en-US" sz="427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5124" name="淘宝网chenying0907出品 10"/>
          <p:cNvSpPr>
            <a:spLocks noChangeArrowheads="1"/>
          </p:cNvSpPr>
          <p:nvPr/>
        </p:nvSpPr>
        <p:spPr bwMode="auto">
          <a:xfrm>
            <a:off x="3776791" y="2649895"/>
            <a:ext cx="16433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function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和</a:t>
            </a: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bind</a:t>
            </a:r>
            <a:endParaRPr lang="en-US" altLang="zh-CN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125" name="淘宝网chenying0907出品 11"/>
          <p:cNvSpPr>
            <a:spLocks noChangeShapeType="1"/>
          </p:cNvSpPr>
          <p:nvPr/>
        </p:nvSpPr>
        <p:spPr bwMode="auto">
          <a:xfrm>
            <a:off x="1505825" y="2960613"/>
            <a:ext cx="3914345" cy="1191"/>
          </a:xfrm>
          <a:prstGeom prst="line">
            <a:avLst/>
          </a:prstGeom>
          <a:noFill/>
          <a:ln w="6350" cap="flat" cmpd="sng">
            <a:solidFill>
              <a:schemeClr val="accent1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2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Text Box 3"/>
          <p:cNvSpPr>
            <a:spLocks noChangeArrowheads="1"/>
          </p:cNvSpPr>
          <p:nvPr/>
        </p:nvSpPr>
        <p:spPr bwMode="auto">
          <a:xfrm>
            <a:off x="5545075" y="2294165"/>
            <a:ext cx="2183130" cy="227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4155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en-US" sz="14155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 spd="med" advTm="0">
    <p:pull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700" dirty="0" err="1" smtClean="0">
                <a:latin typeface="微软雅黑" panose="020B0503020204020204" charset="-122"/>
                <a:cs typeface="微软雅黑" panose="020B0503020204020204" charset="-122"/>
              </a:rPr>
              <a:t>function</a:t>
            </a:r>
            <a:r>
              <a:rPr sz="2700" dirty="0" err="1" smtClean="0">
                <a:latin typeface="微软雅黑" panose="020B0503020204020204" charset="-122"/>
                <a:cs typeface="微软雅黑" panose="020B0503020204020204" charset="-122"/>
              </a:rPr>
              <a:t>的用法</a:t>
            </a:r>
            <a:endParaRPr sz="2700" dirty="0" err="1" smtClean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0845" y="1184910"/>
            <a:ext cx="8512175" cy="539623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sz="1600" spc="0">
                <a:solidFill>
                  <a:srgbClr val="FF0000"/>
                </a:solidFill>
                <a:latin typeface="+mn-ea"/>
                <a:ea typeface="+mn-ea"/>
              </a:rPr>
              <a:t>同一种调用形式的可调用对象的类型可能不同，可以通过function将其统一起来</a:t>
            </a: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，function是一个模板，当创建一个具体的function类型时必须提供该function类型能够表示的对象的调用信息。</a:t>
            </a:r>
            <a:endParaRPr sz="1600" spc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sz="1600" spc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sz="1600" b="1" spc="0">
                <a:solidFill>
                  <a:srgbClr val="FF0000"/>
                </a:solidFill>
                <a:latin typeface="+mn-ea"/>
                <a:ea typeface="+mn-ea"/>
              </a:rPr>
              <a:t>function&lt;int(int,int)&gt;</a:t>
            </a:r>
            <a:endParaRPr sz="1600" b="1" spc="0">
              <a:solidFill>
                <a:srgbClr val="FF0000"/>
              </a:solidFill>
              <a:latin typeface="+mn-ea"/>
              <a:ea typeface="+mn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sz="1600" b="1" spc="0">
                <a:solidFill>
                  <a:srgbClr val="FF0000"/>
                </a:solidFill>
                <a:latin typeface="+mn-ea"/>
                <a:ea typeface="+mn-ea"/>
              </a:rPr>
              <a:t>声明了一个function类型，它可以表示接受两个int,返回一个int的可调用对象</a:t>
            </a:r>
            <a:endParaRPr sz="1600" b="1" spc="0">
              <a:solidFill>
                <a:srgbClr val="FF0000"/>
              </a:solidFill>
              <a:latin typeface="+mn-ea"/>
              <a:ea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sz="1600" b="1" spc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3"/>
          <p:cNvSpPr>
            <a:spLocks noChangeArrowheads="1"/>
          </p:cNvSpPr>
          <p:nvPr/>
        </p:nvSpPr>
        <p:spPr bwMode="auto">
          <a:xfrm>
            <a:off x="2530286" y="3162185"/>
            <a:ext cx="2954655" cy="748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anchor="ctr">
            <a:spAutoFit/>
          </a:bodyPr>
          <a:lstStyle/>
          <a:p>
            <a:pPr algn="r"/>
            <a:r>
              <a:rPr lang="en-US" altLang="zh-CN" sz="427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bind</a:t>
            </a:r>
            <a:r>
              <a:rPr lang="zh-CN" altLang="en-US" sz="427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的用法</a:t>
            </a:r>
            <a:endParaRPr lang="zh-CN" altLang="en-US" sz="427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5124" name="淘宝网chenying0907出品 10"/>
          <p:cNvSpPr>
            <a:spLocks noChangeArrowheads="1"/>
          </p:cNvSpPr>
          <p:nvPr/>
        </p:nvSpPr>
        <p:spPr bwMode="auto">
          <a:xfrm>
            <a:off x="3776791" y="2649895"/>
            <a:ext cx="16433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function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和</a:t>
            </a: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bind</a:t>
            </a:r>
            <a:endParaRPr lang="en-US" altLang="zh-CN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125" name="淘宝网chenying0907出品 11"/>
          <p:cNvSpPr>
            <a:spLocks noChangeShapeType="1"/>
          </p:cNvSpPr>
          <p:nvPr/>
        </p:nvSpPr>
        <p:spPr bwMode="auto">
          <a:xfrm>
            <a:off x="1505825" y="2960613"/>
            <a:ext cx="3914345" cy="1191"/>
          </a:xfrm>
          <a:prstGeom prst="line">
            <a:avLst/>
          </a:prstGeom>
          <a:noFill/>
          <a:ln w="6350" cap="flat" cmpd="sng">
            <a:solidFill>
              <a:schemeClr val="accent1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2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Text Box 3"/>
          <p:cNvSpPr>
            <a:spLocks noChangeArrowheads="1"/>
          </p:cNvSpPr>
          <p:nvPr/>
        </p:nvSpPr>
        <p:spPr bwMode="auto">
          <a:xfrm>
            <a:off x="5545075" y="2294165"/>
            <a:ext cx="2183130" cy="227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4155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03</a:t>
            </a:r>
            <a:endParaRPr lang="en-US" altLang="en-US" sz="14155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" name="淘宝网chenying0907出品 11"/>
          <p:cNvSpPr>
            <a:spLocks noChangeShapeType="1"/>
          </p:cNvSpPr>
          <p:nvPr/>
        </p:nvSpPr>
        <p:spPr bwMode="auto">
          <a:xfrm>
            <a:off x="1501380" y="2960613"/>
            <a:ext cx="3914345" cy="1191"/>
          </a:xfrm>
          <a:prstGeom prst="line">
            <a:avLst/>
          </a:prstGeom>
          <a:noFill/>
          <a:ln w="6350" cap="flat" cmpd="sng">
            <a:solidFill>
              <a:schemeClr val="accent1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2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" name="Text Box 3"/>
          <p:cNvSpPr>
            <a:spLocks noChangeArrowheads="1"/>
          </p:cNvSpPr>
          <p:nvPr/>
        </p:nvSpPr>
        <p:spPr bwMode="auto">
          <a:xfrm>
            <a:off x="5540630" y="2294165"/>
            <a:ext cx="2183130" cy="227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4155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03</a:t>
            </a:r>
            <a:endParaRPr lang="en-US" altLang="en-US" sz="14155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 spd="med" advTm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4270"/>
            <a:ext cx="8122285" cy="51809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它接受一个可调用对象，生成一个新的可调用对象来适应原对象的参数列表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altLang="zh-CN" sz="1600" b="1" spc="0" dirty="0">
                <a:solidFill>
                  <a:srgbClr val="FF0000"/>
                </a:solidFill>
                <a:ea typeface="微软雅黑" panose="020B0503020204020204" charset="-122"/>
              </a:rPr>
              <a:t>auto newCallable = bind(callable,agr_list);</a:t>
            </a:r>
            <a:endParaRPr lang="en-US" altLang="zh-CN" sz="1600" b="1" spc="0" dirty="0">
              <a:solidFill>
                <a:srgbClr val="FF0000"/>
              </a:solidFill>
              <a:ea typeface="微软雅黑" panose="020B0503020204020204" charset="-122"/>
            </a:endParaRPr>
          </a:p>
          <a:p>
            <a:pPr marL="0" indent="0">
              <a:lnSpc>
                <a:spcPct val="160000"/>
              </a:lnSpc>
              <a:buNone/>
            </a:pPr>
            <a:endParaRPr lang="en-US" altLang="zh-CN" sz="1600" b="1" spc="0" dirty="0">
              <a:solidFill>
                <a:srgbClr val="C00000"/>
              </a:solidFill>
              <a:ea typeface="微软雅黑" panose="020B0503020204020204" charset="-122"/>
            </a:endParaRPr>
          </a:p>
          <a:p>
            <a:pPr marL="0" algn="l">
              <a:lnSpc>
                <a:spcPct val="130000"/>
              </a:lnSpc>
              <a:buClrTx/>
              <a:buSzTx/>
              <a:buNone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</a:rPr>
              <a:t>常用用法包括下面两种：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charset="-122"/>
            </a:endParaRPr>
          </a:p>
          <a:p>
            <a:pPr indent="-342900" algn="l">
              <a:lnSpc>
                <a:spcPct val="130000"/>
              </a:lnSpc>
              <a:buClrTx/>
              <a:buSzTx/>
              <a:buAutoNum type="arabicPeriod"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</a:rPr>
              <a:t>将多元(参数个数为n,n&gt;1)可调用对象转成一元或(n-1)元可调用对象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charset="-122"/>
            </a:endParaRPr>
          </a:p>
          <a:p>
            <a:pPr indent="-342900" algn="l">
              <a:lnSpc>
                <a:spcPct val="130000"/>
              </a:lnSpc>
              <a:buClrTx/>
              <a:buSzTx/>
              <a:buAutoNum type="arabicPeriod"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</a:rPr>
              <a:t>将对象的成员函数转换成调用对象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7200" y="496570"/>
            <a:ext cx="806132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lang="en-US" altLang="zh-CN" sz="2700" b="1" dirty="0" err="1">
                <a:latin typeface="微软雅黑" panose="020B0503020204020204" charset="-122"/>
                <a:cs typeface="微软雅黑" panose="020B0503020204020204" charset="-122"/>
                <a:sym typeface="+mn-ea"/>
              </a:rPr>
              <a:t>bind</a:t>
            </a:r>
            <a:r>
              <a:rPr sz="2700" b="1" dirty="0" err="1">
                <a:latin typeface="微软雅黑" panose="020B0503020204020204" charset="-122"/>
                <a:cs typeface="微软雅黑" panose="020B0503020204020204" charset="-122"/>
                <a:sym typeface="+mn-ea"/>
              </a:rPr>
              <a:t>的用法</a:t>
            </a:r>
            <a:endParaRPr lang="zh-CN" altLang="en-US" sz="270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3"/>
          <p:cNvSpPr>
            <a:spLocks noChangeArrowheads="1"/>
          </p:cNvSpPr>
          <p:nvPr/>
        </p:nvSpPr>
        <p:spPr bwMode="auto">
          <a:xfrm>
            <a:off x="963741" y="3162185"/>
            <a:ext cx="4521200" cy="748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anchor="ctr">
            <a:spAutoFit/>
          </a:bodyPr>
          <a:lstStyle/>
          <a:p>
            <a:pPr algn="r"/>
            <a:r>
              <a:rPr lang="en-US" altLang="zh-CN" sz="427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新的回调</a:t>
            </a:r>
            <a:r>
              <a:rPr lang="zh-CN" altLang="en-US" sz="427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实现机制</a:t>
            </a:r>
            <a:endParaRPr lang="en-US" altLang="zh-CN" sz="427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5124" name="淘宝网chenying0907出品 10"/>
          <p:cNvSpPr>
            <a:spLocks noChangeArrowheads="1"/>
          </p:cNvSpPr>
          <p:nvPr/>
        </p:nvSpPr>
        <p:spPr bwMode="auto">
          <a:xfrm>
            <a:off x="3776791" y="2649895"/>
            <a:ext cx="16433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function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和</a:t>
            </a: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bind</a:t>
            </a:r>
            <a:endParaRPr lang="en-US" altLang="zh-CN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125" name="淘宝网chenying0907出品 11"/>
          <p:cNvSpPr>
            <a:spLocks noChangeShapeType="1"/>
          </p:cNvSpPr>
          <p:nvPr/>
        </p:nvSpPr>
        <p:spPr bwMode="auto">
          <a:xfrm>
            <a:off x="1505825" y="2960613"/>
            <a:ext cx="3914345" cy="1191"/>
          </a:xfrm>
          <a:prstGeom prst="line">
            <a:avLst/>
          </a:prstGeom>
          <a:noFill/>
          <a:ln w="6350" cap="flat" cmpd="sng">
            <a:solidFill>
              <a:schemeClr val="accent1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2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Text Box 3"/>
          <p:cNvSpPr>
            <a:spLocks noChangeArrowheads="1"/>
          </p:cNvSpPr>
          <p:nvPr/>
        </p:nvSpPr>
        <p:spPr bwMode="auto">
          <a:xfrm>
            <a:off x="5545075" y="2294165"/>
            <a:ext cx="2183130" cy="227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4155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04</a:t>
            </a:r>
            <a:endParaRPr lang="en-US" altLang="en-US" sz="14155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 spd="med" advTm="0">
    <p:pull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4270"/>
            <a:ext cx="8122285" cy="518096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function可以存储任意类型的可调用对象，bind可以将一个可调用对象转换成新的可调用对象，那么我们可以通过bind将一个可调用对象转换成指定的funtcion类型。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7200" y="496570"/>
            <a:ext cx="806132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sz="2700" b="1" dirty="0" err="1">
                <a:latin typeface="微软雅黑" panose="020B0503020204020204" charset="-122"/>
                <a:cs typeface="微软雅黑" panose="020B0503020204020204" charset="-122"/>
                <a:sym typeface="+mn-ea"/>
              </a:rPr>
              <a:t>function与bind结合</a:t>
            </a:r>
            <a:endParaRPr sz="2700" b="1" dirty="0" err="1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4270"/>
            <a:ext cx="8061325" cy="467487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试想我们实现一个网络的库，通过IO复用函数(select，epoll)来监听网络的事件(可读，可写，连接断开等)，当这些网络事件发生时，需要有一个机制来通知上层业务，通常我们会通过回调来实现。网络事件对于的处理函数称为回调处理函数，有如下三种方式来实现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indent="-342900" algn="l">
              <a:lnSpc>
                <a:spcPct val="150000"/>
              </a:lnSpc>
              <a:buClrTx/>
              <a:buSzTx/>
              <a:buAutoNum type="arabicPeriod"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面向对象：多态的方式实现事件的回调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indent="-342900" algn="l">
              <a:lnSpc>
                <a:spcPct val="150000"/>
              </a:lnSpc>
              <a:buClrTx/>
              <a:buSzTx/>
              <a:buAutoNum type="arabicPeriod"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事件回调：通过C语言的方式----&gt;通过函数指针实现，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function + bind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来实现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342900" indent="-342900">
              <a:lnSpc>
                <a:spcPct val="150000"/>
              </a:lnSpc>
              <a:buNone/>
            </a:pPr>
            <a:endParaRPr sz="1600" spc="0" dirty="0">
              <a:solidFill>
                <a:schemeClr val="tx1"/>
              </a:solidFill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sz="1600" spc="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7200" y="496570"/>
            <a:ext cx="806132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sz="2700" b="1" dirty="0" err="1">
                <a:latin typeface="微软雅黑" panose="020B0503020204020204" charset="-122"/>
                <a:cs typeface="微软雅黑" panose="020B0503020204020204" charset="-122"/>
                <a:sym typeface="+mn-ea"/>
              </a:rPr>
              <a:t>新的回调</a:t>
            </a:r>
            <a:r>
              <a:rPr lang="zh-CN" sz="2700" b="1" dirty="0" err="1">
                <a:latin typeface="微软雅黑" panose="020B0503020204020204" charset="-122"/>
                <a:cs typeface="微软雅黑" panose="020B0503020204020204" charset="-122"/>
                <a:sym typeface="+mn-ea"/>
              </a:rPr>
              <a:t>实现</a:t>
            </a:r>
            <a:r>
              <a:rPr sz="2700" b="1" dirty="0" err="1">
                <a:latin typeface="微软雅黑" panose="020B0503020204020204" charset="-122"/>
                <a:cs typeface="微软雅黑" panose="020B0503020204020204" charset="-122"/>
                <a:sym typeface="+mn-ea"/>
              </a:rPr>
              <a:t>机制</a:t>
            </a:r>
            <a:endParaRPr sz="2700" b="1" dirty="0" err="1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7" name="墨迹 6"/>
              <p14:cNvContentPartPr/>
              <p14:nvPr/>
            </p14:nvContentPartPr>
            <p14:xfrm>
              <a:off x="10020300" y="6604000"/>
              <a:ext cx="12700" cy="36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2"/>
            </p:blipFill>
            <p:spPr>
              <a:xfrm>
                <a:off x="10020300" y="6604000"/>
                <a:ext cx="12700" cy="360"/>
              </a:xfrm>
              <a:prstGeom prst="rect"/>
            </p:spPr>
          </p:pic>
        </mc:Fallback>
      </mc:AlternateContent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16660"/>
            <a:ext cx="8061325" cy="4674870"/>
          </a:xfrm>
        </p:spPr>
        <p:txBody>
          <a:bodyPr>
            <a:normAutofit/>
          </a:bodyPr>
          <a:lstStyle/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我们通常的实现方式是在库中定义几个抽象类，其中声明一些(纯)虚函数，比如OnMessage()，OnDisconnect()等。来对应具体事件对应的事件处理函数。使用者需要继承这些基类，并覆写这些虚函数，以获得事件回调通知，并且使用者必须把派生类对象(即handler对象，通常是动态分配的)的指针或引用注册到库中，网络库通过多态的特性来调用相应的接口(handle对象，即为事件处理)。但是有几个弊端：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114300" indent="-285750" algn="l">
              <a:lnSpc>
                <a:spcPct val="150000"/>
              </a:lnSpc>
              <a:buClrTx/>
              <a:buSzTx/>
            </a:pPr>
            <a:r>
              <a:rPr sz="18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对象所有权</a:t>
            </a:r>
            <a:endParaRPr sz="18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114300" indent="-285750" algn="l">
              <a:lnSpc>
                <a:spcPct val="150000"/>
              </a:lnSpc>
              <a:buClrTx/>
              <a:buSzTx/>
              <a:buNone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  就是对handler的生命周期的管理，首先到底谁有权释放handler对象，就需要仔细斟酌(也许可以通过智能指针来解决释放对象的问题，但是依然需要甄别所有权，对不拥用对象使用weak_ptr，拥有对象使用shared_ptr)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7200" y="496570"/>
            <a:ext cx="806132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lang="zh-CN" sz="2700" b="1"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面向对象的思想</a:t>
            </a:r>
            <a:endParaRPr lang="zh-CN" sz="2700" b="1" dirty="0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75640"/>
            <a:ext cx="8061325" cy="51435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18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设计思想上的</a:t>
            </a:r>
            <a:endParaRPr sz="18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1600" spc="0" dirty="0">
                <a:solidFill>
                  <a:schemeClr val="tx1"/>
                </a:solidFill>
                <a:sym typeface="+mn-ea"/>
              </a:rPr>
              <a:t>   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库中的事件接口定义，其所要表述的思想是，当有对应的事件发生时，需要进行处理。关于这个处理事件的“东西”(在这里把回调处理函数称为“东西”)到底是什么并不关心，它可以是一个事件处理对象，可以是一个普通的函数，可以是一个对象的成员方法，或是一个函数对象。库只关心事件发生时，能有对应的“东西”去处理即可。而由于C++ 语言机制的限定，这个“东西”必须有个特定类型，在面向对象的思想中，它被定义为一个事件处理对象。在函数编程思想中，它被定义为一个函数指针。当这个“东西”有了特定的类型，也就是排它的了，即如果是一个事件处理对象，那么就不能绑定到一个函数。所以这种语言上的限制就限定了代码编写的灵活性。反观C#，python中就没有这样的限制，C#通过委托可以不用在意具体事件处理的类型，而python的函数都归为对象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75640"/>
            <a:ext cx="8061325" cy="51435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18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代码的可读性和</a:t>
            </a:r>
            <a:r>
              <a:rPr sz="18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可维护性</a:t>
            </a:r>
            <a:endParaRPr sz="18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600" spc="0" dirty="0">
                <a:solidFill>
                  <a:schemeClr val="tx1"/>
                </a:solidFill>
                <a:sym typeface="+mn-ea"/>
              </a:rPr>
              <a:t>  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继承是强耦合关系,如果通过上述的handler对象实现的方式，显然是增加了代码的耦合度，类的层次，加大了代码的复杂度，就降低了代码的可读性和可维护性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4270"/>
            <a:ext cx="7609205" cy="1690370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600" spc="0" dirty="0">
                <a:solidFill>
                  <a:schemeClr val="tx1"/>
                </a:solidFill>
                <a:sym typeface="+mn-ea"/>
              </a:rPr>
              <a:t>  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函数指针实现事件回调，相对于多态的方式会更加简明，不用引入复杂的继承类型。通过定义对应事件处理函数的指针，事件发生时，通过指针来调用事件处理函数。这是c语言的做法。但是这种方式事件处理回调的类型依然被限制</a:t>
            </a:r>
            <a:endParaRPr lang="en-US" altLang="zh-CN" sz="1600" spc="0" dirty="0">
              <a:solidFill>
                <a:schemeClr val="tx1"/>
              </a:solidFill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sz="1600" spc="0" dirty="0">
              <a:solidFill>
                <a:schemeClr val="tx1"/>
              </a:solidFill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sz="1600" spc="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7200" y="496570"/>
            <a:ext cx="806132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sz="2700" dirty="0">
                <a:sym typeface="+mn-ea"/>
              </a:rPr>
              <a:t>通过函数指针实现</a:t>
            </a:r>
            <a:r>
              <a:rPr lang="zh-CN" sz="2700" dirty="0">
                <a:sym typeface="+mn-ea"/>
              </a:rPr>
              <a:t>事件回调</a:t>
            </a:r>
            <a:endParaRPr lang="zh-CN" sz="2700" b="1" dirty="0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7200" y="2834640"/>
            <a:ext cx="503237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700"/>
              <a:t>function + bind</a:t>
            </a:r>
            <a:r>
              <a:rPr lang="zh-CN" altLang="en-US" sz="2700"/>
              <a:t>的实现事件回调</a:t>
            </a:r>
            <a:endParaRPr lang="zh-CN" altLang="en-US" sz="2700"/>
          </a:p>
        </p:txBody>
      </p:sp>
      <p:sp>
        <p:nvSpPr>
          <p:cNvPr id="5" name="文本框 4"/>
          <p:cNvSpPr txBox="1"/>
          <p:nvPr/>
        </p:nvSpPr>
        <p:spPr>
          <a:xfrm>
            <a:off x="421005" y="3341370"/>
            <a:ext cx="76454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indent="-17145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rPr>
              <a:t>  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rPr>
              <a:t>function + bind的方式，类似于函数指针实现回调的方式，但是它更加灵活，一个是避免了对回调处理函数的类型限制，二是避免了引入继承类型增加类型的复杂度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478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478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TEMPLATE_SUBCATEGORY" val="0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478"/>
  <p:tag name="KSO_WM_TEMPLATE_MASTER_TYPE" val="1"/>
  <p:tag name="KSO_WM_TEMPLATE_THUMBS_INDEX" val="1、4、7、12、15、16、20、23、24、25、30、35、39、40、41、42"/>
</p:tagLst>
</file>

<file path=ppt/tags/tag139.xml><?xml version="1.0" encoding="utf-8"?>
<p:tagLst xmlns:p="http://schemas.openxmlformats.org/presentationml/2006/main">
  <p:tag name="KSO_WM_TEMPLATE_CATEGORY" val="custom"/>
  <p:tag name="KSO_WM_TEMPLATE_INDEX" val="20204478"/>
</p:tagLst>
</file>

<file path=ppt/tags/tag140.xml><?xml version="1.0" encoding="utf-8"?>
<p:tagLst xmlns:p="http://schemas.openxmlformats.org/presentationml/2006/main">
  <p:tag name="KSO_WM_TEMPLATE_CATEGORY" val="custom"/>
  <p:tag name="KSO_WM_TEMPLATE_INDEX" val="20204478"/>
</p:tagLst>
</file>

<file path=ppt/tags/tag141.xml><?xml version="1.0" encoding="utf-8"?>
<p:tagLst xmlns:p="http://schemas.openxmlformats.org/presentationml/2006/main">
  <p:tag name="KSO_WM_TEMPLATE_CATEGORY" val="custom"/>
  <p:tag name="KSO_WM_TEMPLATE_INDEX" val="20204478"/>
</p:tagLst>
</file>

<file path=ppt/tags/tag142.xml><?xml version="1.0" encoding="utf-8"?>
<p:tagLst xmlns:p="http://schemas.openxmlformats.org/presentationml/2006/main">
  <p:tag name="KSO_WM_TEMPLATE_CATEGORY" val="custom"/>
  <p:tag name="KSO_WM_TEMPLATE_INDEX" val="20204478"/>
</p:tagLst>
</file>

<file path=ppt/tags/tag143.xml><?xml version="1.0" encoding="utf-8"?>
<p:tagLst xmlns:p="http://schemas.openxmlformats.org/presentationml/2006/main">
  <p:tag name="KSO_WM_TEMPLATE_CATEGORY" val="custom"/>
  <p:tag name="KSO_WM_TEMPLATE_INDEX" val="20204478"/>
</p:tagLst>
</file>

<file path=ppt/tags/tag144.xml><?xml version="1.0" encoding="utf-8"?>
<p:tagLst xmlns:p="http://schemas.openxmlformats.org/presentationml/2006/main">
  <p:tag name="KSO_WM_TEMPLATE_CATEGORY" val="custom"/>
  <p:tag name="KSO_WM_TEMPLATE_INDEX" val="20204478"/>
</p:tagLst>
</file>

<file path=ppt/tags/tag145.xml><?xml version="1.0" encoding="utf-8"?>
<p:tagLst xmlns:p="http://schemas.openxmlformats.org/presentationml/2006/main">
  <p:tag name="KSO_WM_TEMPLATE_CATEGORY" val="custom"/>
  <p:tag name="KSO_WM_TEMPLATE_INDEX" val="20204478"/>
</p:tagLst>
</file>

<file path=ppt/tags/tag146.xml><?xml version="1.0" encoding="utf-8"?>
<p:tagLst xmlns:p="http://schemas.openxmlformats.org/presentationml/2006/main">
  <p:tag name="KSO_WM_TEMPLATE_CATEGORY" val="custom"/>
  <p:tag name="KSO_WM_TEMPLATE_INDEX" val="20204478"/>
</p:tagLst>
</file>

<file path=ppt/tags/tag147.xml><?xml version="1.0" encoding="utf-8"?>
<p:tagLst xmlns:p="http://schemas.openxmlformats.org/presentationml/2006/main">
  <p:tag name="KSO_WM_TEMPLATE_CATEGORY" val="custom"/>
  <p:tag name="KSO_WM_TEMPLATE_INDEX" val="20204478"/>
</p:tagLst>
</file>

<file path=ppt/tags/tag148.xml><?xml version="1.0" encoding="utf-8"?>
<p:tagLst xmlns:p="http://schemas.openxmlformats.org/presentationml/2006/main">
  <p:tag name="KSO_WM_TEMPLATE_CATEGORY" val="custom"/>
  <p:tag name="KSO_WM_TEMPLATE_INDEX" val="20204478"/>
</p:tagLst>
</file>

<file path=ppt/tags/tag149.xml><?xml version="1.0" encoding="utf-8"?>
<p:tagLst xmlns:p="http://schemas.openxmlformats.org/presentationml/2006/main">
  <p:tag name="KSO_WM_TEMPLATE_CATEGORY" val="custom"/>
  <p:tag name="KSO_WM_TEMPLATE_INDEX" val="20204478"/>
</p:tagLst>
</file>

<file path=ppt/tags/tag150.xml><?xml version="1.0" encoding="utf-8"?>
<p:tagLst xmlns:p="http://schemas.openxmlformats.org/presentationml/2006/main">
  <p:tag name="KSO_WM_TEMPLATE_CATEGORY" val="custom"/>
  <p:tag name="KSO_WM_TEMPLATE_INDEX" val="20204478"/>
</p:tagLst>
</file>

<file path=ppt/tags/tag151.xml><?xml version="1.0" encoding="utf-8"?>
<p:tagLst xmlns:p="http://schemas.openxmlformats.org/presentationml/2006/main">
  <p:tag name="KSO_WM_TEMPLATE_CATEGORY" val="custom"/>
  <p:tag name="KSO_WM_TEMPLATE_INDEX" val="20204478"/>
</p:tagLst>
</file>

<file path=ppt/tags/tag152.xml><?xml version="1.0" encoding="utf-8"?>
<p:tagLst xmlns:p="http://schemas.openxmlformats.org/presentationml/2006/main">
  <p:tag name="KSO_WM_TEMPLATE_CATEGORY" val="custom"/>
  <p:tag name="KSO_WM_TEMPLATE_INDEX" val="20204478"/>
</p:tagLst>
</file>

<file path=ppt/tags/tag153.xml><?xml version="1.0" encoding="utf-8"?>
<p:tagLst xmlns:p="http://schemas.openxmlformats.org/presentationml/2006/main">
  <p:tag name="KSO_WM_TEMPLATE_CATEGORY" val="custom"/>
  <p:tag name="KSO_WM_TEMPLATE_INDEX" val="20204478"/>
</p:tagLst>
</file>

<file path=ppt/tags/tag154.xml><?xml version="1.0" encoding="utf-8"?>
<p:tagLst xmlns:p="http://schemas.openxmlformats.org/presentationml/2006/main">
  <p:tag name="KSO_WM_TEMPLATE_CATEGORY" val="custom"/>
  <p:tag name="KSO_WM_TEMPLATE_INDEX" val="20204478"/>
</p:tagLst>
</file>

<file path=ppt/theme/theme1.xml><?xml version="1.0" encoding="utf-8"?>
<a:theme xmlns:a="http://schemas.openxmlformats.org/drawingml/2006/main" name="2_Office 主题​​">
  <a:themeElements>
    <a:clrScheme name="自定义 199">
      <a:dk1>
        <a:srgbClr val="000000"/>
      </a:dk1>
      <a:lt1>
        <a:srgbClr val="FFFFFF"/>
      </a:lt1>
      <a:dk2>
        <a:srgbClr val="EEF6FC"/>
      </a:dk2>
      <a:lt2>
        <a:srgbClr val="FCFCFD"/>
      </a:lt2>
      <a:accent1>
        <a:srgbClr val="6F86A0"/>
      </a:accent1>
      <a:accent2>
        <a:srgbClr val="2F9BC1"/>
      </a:accent2>
      <a:accent3>
        <a:srgbClr val="20ADB0"/>
      </a:accent3>
      <a:accent4>
        <a:srgbClr val="35A550"/>
      </a:accent4>
      <a:accent5>
        <a:srgbClr val="7A9F3F"/>
      </a:accent5>
      <a:accent6>
        <a:srgbClr val="E5CA29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2769</Words>
  <Application>WPS 演示</Application>
  <PresentationFormat>全屏显示(4:3)</PresentationFormat>
  <Paragraphs>142</Paragraphs>
  <Slides>17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汉仪旗黑-85S</vt:lpstr>
      <vt:lpstr>黑体</vt:lpstr>
      <vt:lpstr>Arial Unicode MS</vt:lpstr>
      <vt:lpstr>等线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可调用对象的类型</vt:lpstr>
      <vt:lpstr>调用形式</vt:lpstr>
      <vt:lpstr>PowerPoint 演示文稿</vt:lpstr>
      <vt:lpstr>function的用法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智能指针</dc:title>
  <dc:creator>lenovo</dc:creator>
  <cp:lastModifiedBy>Rock</cp:lastModifiedBy>
  <cp:revision>330</cp:revision>
  <dcterms:created xsi:type="dcterms:W3CDTF">2020-03-12T12:46:00Z</dcterms:created>
  <dcterms:modified xsi:type="dcterms:W3CDTF">2021-05-30T22:50:23Z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2052-11.1.0.10132</vt:lpwstr>
  </property>
</Properties>
</file>