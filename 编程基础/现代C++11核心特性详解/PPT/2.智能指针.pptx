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5" r:id="rId3"/>
    <p:sldId id="276" r:id="rId4"/>
    <p:sldId id="277" r:id="rId6"/>
    <p:sldId id="278" r:id="rId7"/>
    <p:sldId id="257" r:id="rId8"/>
    <p:sldId id="263" r:id="rId9"/>
    <p:sldId id="280" r:id="rId10"/>
    <p:sldId id="260" r:id="rId11"/>
    <p:sldId id="266" r:id="rId12"/>
    <p:sldId id="268" r:id="rId13"/>
    <p:sldId id="279" r:id="rId14"/>
    <p:sldId id="267" r:id="rId15"/>
    <p:sldId id="269" r:id="rId16"/>
    <p:sldId id="270" r:id="rId17"/>
    <p:sldId id="271" r:id="rId18"/>
    <p:sldId id="274" r:id="rId19"/>
    <p:sldId id="281" r:id="rId20"/>
    <p:sldId id="282" r:id="rId21"/>
    <p:sldId id="285" r:id="rId22"/>
    <p:sldId id="283" r:id="rId2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pleSmart" initials="S"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7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68" autoAdjust="0"/>
    <p:restoredTop sz="94660"/>
  </p:normalViewPr>
  <p:slideViewPr>
    <p:cSldViewPr>
      <p:cViewPr varScale="1">
        <p:scale>
          <a:sx n="110" d="100"/>
          <a:sy n="110" d="100"/>
        </p:scale>
        <p:origin x="1968" y="78"/>
      </p:cViewPr>
      <p:guideLst>
        <p:guide orient="horz" pos="2293"/>
        <p:guide pos="281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4DF8C-4C82-4E1D-ACFB-E2E2D3E135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A4FEF-681B-40E5-A232-6D056FB2C7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file:///C:\Users\1V994W2\PycharmProjects\PPT_Background_Generation/pic_temp/pic_half_top.png" TargetMode="External"/><Relationship Id="rId3" Type="http://schemas.openxmlformats.org/officeDocument/2006/relationships/image" Target="../media/image4.png"/><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0.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19.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2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file:///C:\Users\1V994W2\Documents\Tencent%20Files\574576071\FileRecv\&#25340;&#35013;&#32032;&#26448;\formiddle1\\15\subject_holdleft_111,134,161_0_staid_full_0.png" TargetMode="External"/><Relationship Id="rId3" Type="http://schemas.openxmlformats.org/officeDocument/2006/relationships/image" Target="../media/image5.png"/><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4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46.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5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54.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6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61.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67.xml"/><Relationship Id="rId10" Type="http://schemas.openxmlformats.org/officeDocument/2006/relationships/tags" Target="../tags/tag7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7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4.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8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1.xml"/><Relationship Id="rId2" Type="http://schemas.openxmlformats.org/officeDocument/2006/relationships/tags" Target="../tags/tag80.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9.xml"/><Relationship Id="rId2" Type="http://schemas.openxmlformats.org/officeDocument/2006/relationships/tags" Target="../tags/tag88.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98.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97.xml"/><Relationship Id="rId2" Type="http://schemas.openxmlformats.org/officeDocument/2006/relationships/tags" Target="../tags/tag96.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0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1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15.xml"/><Relationship Id="rId2" Type="http://schemas.openxmlformats.org/officeDocument/2006/relationships/tags" Target="../tags/tag114.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2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26.xml"/><Relationship Id="rId2" Type="http://schemas.openxmlformats.org/officeDocument/2006/relationships/tags" Target="../tags/tag125.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日期占位符 15"/>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3" name="标题 2"/>
          <p:cNvSpPr>
            <a:spLocks noGrp="1"/>
          </p:cNvSpPr>
          <p:nvPr>
            <p:ph type="ctrTitle" idx="14" hasCustomPrompt="1"/>
            <p:custDataLst>
              <p:tags r:id="rId8"/>
            </p:custDataLst>
          </p:nvPr>
        </p:nvSpPr>
        <p:spPr>
          <a:xfrm>
            <a:off x="2376729" y="2653386"/>
            <a:ext cx="4762500" cy="1330960"/>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7200"/>
              <a:buFont typeface="Arial" panose="020B0604020202020204" pitchFamily="34" charset="0"/>
              <a:buNone/>
              <a:defRPr sz="5400" b="0" spc="-2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2376729" y="4227376"/>
            <a:ext cx="4762500" cy="764868"/>
          </a:xfrm>
        </p:spPr>
        <p:txBody>
          <a:bodyPr vert="horz" wrap="square" lIns="0" tIns="0" rIns="0" bIns="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502412" y="952508"/>
            <a:ext cx="8139178"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p:ph type="title" hasCustomPrompt="1"/>
            <p:custDataLst>
              <p:tags r:id="rId8"/>
            </p:custDataLst>
          </p:nvPr>
        </p:nvSpPr>
        <p:spPr>
          <a:xfrm>
            <a:off x="2350495" y="3429000"/>
            <a:ext cx="4443011" cy="918537"/>
          </a:xfrm>
        </p:spPr>
        <p:txBody>
          <a:bodyPr>
            <a:normAutofit/>
          </a:bodyPr>
          <a:lstStyle>
            <a:lvl1pPr algn="ctr">
              <a:defRPr sz="2700"/>
            </a:lvl1pPr>
          </a:lstStyle>
          <a:p>
            <a:r>
              <a:rPr lang="zh-CN" altLang="en-US" dirty="0"/>
              <a:t>单击此处编辑标题</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502448"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4679158" y="952508"/>
            <a:ext cx="3962432" cy="5388907"/>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charset="-122"/>
              </a:defRPr>
            </a:lvl1pPr>
            <a:lvl2pPr eaLnBrk="1" fontAlgn="auto" latinLnBrk="0" hangingPunct="1">
              <a:defRPr sz="1200">
                <a:solidFill>
                  <a:schemeClr val="tx1"/>
                </a:solidFill>
                <a:latin typeface="Arial" panose="020B0604020202020204" pitchFamily="34" charset="0"/>
                <a:ea typeface="微软雅黑" panose="020B0503020204020204" charset="-122"/>
              </a:defRPr>
            </a:lvl2pPr>
            <a:lvl3pPr eaLnBrk="1" fontAlgn="auto" latinLnBrk="0" hangingPunct="1">
              <a:defRPr sz="1200">
                <a:solidFill>
                  <a:schemeClr val="tx1"/>
                </a:solidFill>
                <a:latin typeface="Arial" panose="020B0604020202020204" pitchFamily="34" charset="0"/>
                <a:ea typeface="微软雅黑" panose="020B0503020204020204" charset="-122"/>
              </a:defRPr>
            </a:lvl3pPr>
            <a:lvl4pPr eaLnBrk="1" fontAlgn="auto" latinLnBrk="0" hangingPunct="1">
              <a:defRPr sz="1200">
                <a:solidFill>
                  <a:schemeClr val="tx1"/>
                </a:solidFill>
                <a:latin typeface="Arial" panose="020B0604020202020204" pitchFamily="34" charset="0"/>
                <a:ea typeface="微软雅黑" panose="020B0503020204020204" charset="-122"/>
              </a:defRPr>
            </a:lvl4pPr>
            <a:lvl5pPr eaLnBrk="1" fontAlgn="auto" latinLnBrk="0" hangingPunct="1">
              <a:defRPr sz="12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10" name="图片 9"/>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502448" y="952508"/>
            <a:ext cx="396243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502444" y="1406525"/>
            <a:ext cx="3962400"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4676813" y="952508"/>
            <a:ext cx="396243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4676813" y="1406525"/>
            <a:ext cx="3962432"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5623560" y="2194560"/>
            <a:ext cx="3291840" cy="2468880"/>
          </a:xfrm>
          <a:prstGeom prst="rect">
            <a:avLst/>
          </a:prstGeom>
        </p:spPr>
      </p:pic>
      <p:sp>
        <p:nvSpPr>
          <p:cNvPr id="6" name="任意多边形 6"/>
          <p:cNvSpPr/>
          <p:nvPr>
            <p:custDataLst>
              <p:tags r:id="rId5"/>
            </p:custDataLst>
          </p:nvPr>
        </p:nvSpPr>
        <p:spPr>
          <a:xfrm flipH="1">
            <a:off x="0" y="0"/>
            <a:ext cx="5484971"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2" name="标题 1"/>
          <p:cNvSpPr>
            <a:spLocks noGrp="1"/>
          </p:cNvSpPr>
          <p:nvPr>
            <p:ph type="title"/>
            <p:custDataLst>
              <p:tags r:id="rId6"/>
            </p:custDataLst>
          </p:nvPr>
        </p:nvSpPr>
        <p:spPr>
          <a:xfrm>
            <a:off x="502412" y="443230"/>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48"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502448" y="952508"/>
            <a:ext cx="396243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4679194"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竖排标题 1"/>
          <p:cNvSpPr>
            <a:spLocks noGrp="1"/>
          </p:cNvSpPr>
          <p:nvPr>
            <p:ph type="title" orient="vert"/>
            <p:custDataLst>
              <p:tags r:id="rId8"/>
            </p:custDataLst>
          </p:nvPr>
        </p:nvSpPr>
        <p:spPr>
          <a:xfrm>
            <a:off x="7928351" y="952508"/>
            <a:ext cx="713238"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502444" y="952500"/>
            <a:ext cx="7371076"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3" name="日期占位符 2"/>
          <p:cNvSpPr>
            <a:spLocks noGrp="1"/>
          </p:cNvSpPr>
          <p:nvPr>
            <p:ph type="dt" sz="half" idx="10"/>
            <p:custDataLst>
              <p:tags r:id="rId8"/>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502448" y="952508"/>
            <a:ext cx="8139178"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日期占位符 2"/>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2516981" y="3913822"/>
            <a:ext cx="4110038"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 name="文本占位符 6"/>
          <p:cNvSpPr>
            <a:spLocks noGrp="1"/>
          </p:cNvSpPr>
          <p:nvPr>
            <p:ph type="body" idx="14" hasCustomPrompt="1"/>
            <p:custDataLst>
              <p:tags r:id="rId9"/>
            </p:custDataLst>
          </p:nvPr>
        </p:nvSpPr>
        <p:spPr>
          <a:xfrm>
            <a:off x="2560320" y="4117022"/>
            <a:ext cx="4023836" cy="764943"/>
          </a:xfrm>
        </p:spPr>
        <p:txBody>
          <a:bodyPr vert="horz" wrap="square" lIns="0" tIns="0" rIns="0" bIns="0" anchor="t" anchorCtr="0">
            <a:normAutofit/>
          </a:bodyPr>
          <a:lstStyle>
            <a:lvl1pPr marL="342900" marR="0" indent="-342900" algn="ctr" rtl="0" eaLnBrk="1" fontAlgn="auto">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endParaRPr lang="zh-CN" altLang="en-US"/>
          </a:p>
        </p:txBody>
      </p:sp>
      <p:sp>
        <p:nvSpPr>
          <p:cNvPr id="2" name="标题 1"/>
          <p:cNvSpPr>
            <a:spLocks noGrp="1"/>
          </p:cNvSpPr>
          <p:nvPr>
            <p:ph type="title" idx="13" hasCustomPrompt="1"/>
            <p:custDataLst>
              <p:tags r:id="rId10"/>
            </p:custDataLst>
          </p:nvPr>
        </p:nvSpPr>
        <p:spPr>
          <a:xfrm>
            <a:off x="2559844" y="2379663"/>
            <a:ext cx="4024313" cy="1398905"/>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8000"/>
              <a:buNone/>
              <a:defRPr sz="6000" b="0" spc="10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0"/>
            <a:ext cx="8139178"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9"/>
            </p:custDataLst>
          </p:nvPr>
        </p:nvSpPr>
        <p:spPr>
          <a:xfrm>
            <a:off x="961200" y="1249200"/>
            <a:ext cx="7219800" cy="723600"/>
          </a:xfrm>
        </p:spPr>
        <p:txBody>
          <a:bodyPr wrap="square" anchor="ctr">
            <a:normAutofit/>
          </a:bodyPr>
          <a:lstStyle>
            <a:lvl1pP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960835" y="2163600"/>
            <a:ext cx="721995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7"/>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6"/>
            </p:custDataLst>
          </p:nvPr>
        </p:nvSpPr>
        <p:spPr>
          <a:xfrm>
            <a:off x="437400" y="770400"/>
            <a:ext cx="2970000" cy="8820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440100" y="1764000"/>
            <a:ext cx="29673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3825900" y="769938"/>
            <a:ext cx="486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9000" y="781200"/>
            <a:ext cx="8232300" cy="626400"/>
          </a:xfrm>
        </p:spPr>
        <p:txBody>
          <a:bodyPr wrap="square" anchor="ctr">
            <a:normAutofit/>
          </a:bodyPr>
          <a:lstStyle>
            <a:lvl1pPr algn="ctr">
              <a:defRPr sz="27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459000" y="1659600"/>
            <a:ext cx="8231981"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459581" y="2808000"/>
            <a:ext cx="82242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5028971"/>
            <a:ext cx="9144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3600" y="669600"/>
            <a:ext cx="8232300" cy="565200"/>
          </a:xfrm>
        </p:spPr>
        <p:txBody>
          <a:bodyPr wrap="square" anchor="ctr" anchorCtr="0">
            <a:normAutofit/>
          </a:bodyPr>
          <a:lstStyle>
            <a:lvl1pPr algn="ct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53628" y="1681200"/>
            <a:ext cx="82431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445500" y="5180400"/>
            <a:ext cx="82512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2"/>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11"/>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6343650"/>
            <a:ext cx="540068" cy="514350"/>
          </a:xfrm>
          <a:prstGeom prst="rect">
            <a:avLst/>
          </a:prstGeom>
        </p:spPr>
      </p:pic>
      <p:pic>
        <p:nvPicPr>
          <p:cNvPr id="10" name="图片 9"/>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43650"/>
            <a:ext cx="540068" cy="514350"/>
          </a:xfrm>
          <a:prstGeom prst="rect">
            <a:avLst/>
          </a:prstGeom>
        </p:spPr>
      </p:pic>
      <p:sp>
        <p:nvSpPr>
          <p:cNvPr id="2" name="标题 1"/>
          <p:cNvSpPr>
            <a:spLocks noGrp="1"/>
          </p:cNvSpPr>
          <p:nvPr>
            <p:ph type="title"/>
            <p:custDataLst>
              <p:tags r:id="rId9"/>
            </p:custDataLst>
          </p:nvPr>
        </p:nvSpPr>
        <p:spPr>
          <a:xfrm>
            <a:off x="434700" y="237600"/>
            <a:ext cx="82782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34700" y="1663200"/>
            <a:ext cx="40068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4681800" y="1663200"/>
            <a:ext cx="40257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429300" y="4816800"/>
            <a:ext cx="40068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4689900" y="4813200"/>
            <a:ext cx="40257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953691"/>
            <a:ext cx="9144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7928848" y="5700713"/>
            <a:ext cx="1215152" cy="1157288"/>
          </a:xfrm>
          <a:prstGeom prst="rect">
            <a:avLst/>
          </a:prstGeom>
        </p:spPr>
      </p:pic>
      <p:pic>
        <p:nvPicPr>
          <p:cNvPr id="8" name="图片 7"/>
          <p:cNvPicPr/>
          <p:nvPr>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700713"/>
            <a:ext cx="1215152" cy="1157288"/>
          </a:xfrm>
          <a:prstGeom prst="rect">
            <a:avLst/>
          </a:prstGeom>
        </p:spPr>
      </p:pic>
      <p:sp>
        <p:nvSpPr>
          <p:cNvPr id="2" name="标题 1"/>
          <p:cNvSpPr>
            <a:spLocks noGrp="1"/>
          </p:cNvSpPr>
          <p:nvPr>
            <p:ph type="title" hasCustomPrompt="1"/>
            <p:custDataLst>
              <p:tags r:id="rId9"/>
            </p:custDataLst>
          </p:nvPr>
        </p:nvSpPr>
        <p:spPr>
          <a:xfrm>
            <a:off x="1142100" y="1339200"/>
            <a:ext cx="6858000" cy="23868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141810" y="3862800"/>
            <a:ext cx="6858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cent Project Info">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2001441" y="2019300"/>
            <a:ext cx="2209800" cy="3810000"/>
          </a:xfrm>
          <a:prstGeom prst="rect">
            <a:avLst/>
          </a:prstGeom>
          <a:solidFill>
            <a:schemeClr val="bg1">
              <a:lumMod val="85000"/>
            </a:schemeClr>
          </a:solidFill>
        </p:spPr>
        <p:txBody>
          <a:bodyPr/>
          <a:lstStyle/>
          <a:p>
            <a:endParaRPr lang="en-US"/>
          </a:p>
        </p:txBody>
      </p:sp>
      <p:sp>
        <p:nvSpPr>
          <p:cNvPr id="12" name="Picture Placeholder 10"/>
          <p:cNvSpPr>
            <a:spLocks noGrp="1"/>
          </p:cNvSpPr>
          <p:nvPr>
            <p:ph type="pic" sz="quarter" idx="11"/>
          </p:nvPr>
        </p:nvSpPr>
        <p:spPr>
          <a:xfrm>
            <a:off x="6220809" y="2019300"/>
            <a:ext cx="2209800" cy="3810000"/>
          </a:xfrm>
          <a:prstGeom prst="rect">
            <a:avLst/>
          </a:prstGeom>
          <a:solidFill>
            <a:schemeClr val="bg1">
              <a:lumMod val="85000"/>
            </a:schemeClr>
          </a:solidFill>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443230"/>
            <a:ext cx="8139178"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961398"/>
            <a:ext cx="8139178"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6349833"/>
            <a:ext cx="2025000" cy="3168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6349833"/>
            <a:ext cx="2970000" cy="3168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6349833"/>
            <a:ext cx="2025000" cy="3168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3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4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4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5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5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idx="4294967295"/>
          </p:nvPr>
        </p:nvPicPr>
        <p:blipFill>
          <a:blip r:embed="rId1">
            <a:extLst>
              <a:ext uri="{28A0092B-C50C-407E-A947-70E740481C1C}">
                <a14:useLocalDpi xmlns:a14="http://schemas.microsoft.com/office/drawing/2010/main" val="0"/>
              </a:ext>
            </a:extLst>
          </a:blip>
          <a:srcRect t="28923" b="28923"/>
          <a:stretch>
            <a:fillRect/>
          </a:stretch>
        </p:blipFill>
        <p:spPr>
          <a:xfrm>
            <a:off x="0" y="857250"/>
            <a:ext cx="9144000" cy="2227898"/>
          </a:xfrm>
          <a:prstGeom prst="rect">
            <a:avLst/>
          </a:prstGeom>
          <a:solidFill>
            <a:schemeClr val="bg1">
              <a:lumMod val="65000"/>
            </a:schemeClr>
          </a:solidFill>
        </p:spPr>
      </p:pic>
      <p:sp>
        <p:nvSpPr>
          <p:cNvPr id="5" name="TextBox 1"/>
          <p:cNvSpPr txBox="1"/>
          <p:nvPr/>
        </p:nvSpPr>
        <p:spPr>
          <a:xfrm>
            <a:off x="1831624" y="3480582"/>
            <a:ext cx="5481320" cy="1649730"/>
          </a:xfrm>
          <a:prstGeom prst="rect">
            <a:avLst/>
          </a:prstGeom>
          <a:noFill/>
        </p:spPr>
        <p:txBody>
          <a:bodyPr wrap="none" rtlCol="0">
            <a:spAutoFit/>
          </a:bodyPr>
          <a:lstStyle/>
          <a:p>
            <a:pPr algn="ctr"/>
            <a:r>
              <a:rPr lang="zh-CN" altLang="en-US" sz="8625" b="1" dirty="0">
                <a:solidFill>
                  <a:schemeClr val="accent5">
                    <a:lumMod val="75000"/>
                  </a:schemeClr>
                </a:solidFill>
                <a:effectLst>
                  <a:outerShdw blurRad="38100" dist="25400" dir="5400000" algn="ctr" rotWithShape="0">
                    <a:srgbClr val="6E747A">
                      <a:alpha val="43000"/>
                    </a:srgbClr>
                  </a:outerShdw>
                </a:effectLst>
                <a:cs typeface="+mn-ea"/>
                <a:sym typeface="+mn-ea"/>
              </a:rPr>
              <a:t>智 能 指 针</a:t>
            </a:r>
            <a:endParaRPr lang="en-US" altLang="zh-CN" sz="2700" b="1" dirty="0">
              <a:solidFill>
                <a:schemeClr val="tx1">
                  <a:lumMod val="50000"/>
                  <a:lumOff val="50000"/>
                </a:schemeClr>
              </a:solidFill>
              <a:cs typeface="+mn-ea"/>
              <a:sym typeface="+mn-lt"/>
            </a:endParaRPr>
          </a:p>
          <a:p>
            <a:pPr algn="ctr"/>
            <a:endParaRPr lang="en-US" altLang="zh-CN" sz="750" dirty="0" smtClean="0">
              <a:solidFill>
                <a:schemeClr val="tx1">
                  <a:lumMod val="50000"/>
                  <a:lumOff val="50000"/>
                </a:schemeClr>
              </a:solidFill>
              <a:cs typeface="+mn-ea"/>
              <a:sym typeface="+mn-lt"/>
            </a:endParaRPr>
          </a:p>
          <a:p>
            <a:pPr algn="ctr"/>
            <a:endParaRPr lang="en-US" sz="750" dirty="0">
              <a:solidFill>
                <a:schemeClr val="tx1">
                  <a:lumMod val="50000"/>
                  <a:lumOff val="50000"/>
                </a:schemeClr>
              </a:solidFill>
              <a:cs typeface="+mn-ea"/>
              <a:sym typeface="+mn-lt"/>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3132901" y="3162185"/>
            <a:ext cx="235204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内存管理</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132391"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01</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p:transition spd="med" advTm="0">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indent="0">
              <a:buNone/>
            </a:pPr>
            <a:r>
              <a:rPr sz="2700" b="1" dirty="0" err="1">
                <a:latin typeface="微软雅黑" panose="020B0503020204020204" charset="-122"/>
                <a:cs typeface="微软雅黑" panose="020B0503020204020204" charset="-122"/>
                <a:sym typeface="+mn-ea"/>
              </a:rPr>
              <a:t>基本概念</a:t>
            </a:r>
            <a:endParaRPr lang="en-US" altLang="zh-CN" sz="2400" b="1" dirty="0" err="1">
              <a:latin typeface="微软雅黑" panose="020B0503020204020204" charset="-122"/>
              <a:cs typeface="微软雅黑" panose="020B0503020204020204" charset="-122"/>
              <a:sym typeface="+mn-ea"/>
            </a:endParaRPr>
          </a:p>
          <a:p>
            <a:pPr marL="0" indent="0">
              <a:lnSpc>
                <a:spcPct val="160000"/>
              </a:lnSpc>
              <a:buNone/>
            </a:pPr>
            <a:r>
              <a:rPr sz="2400" b="1" spc="0" dirty="0">
                <a:solidFill>
                  <a:schemeClr val="tx1"/>
                </a:solidFill>
                <a:latin typeface="微软雅黑" panose="020B0503020204020204" charset="-122"/>
                <a:sym typeface="+mn-ea"/>
              </a:rPr>
              <a:t>堆</a:t>
            </a:r>
            <a:endParaRPr lang="en-US" altLang="zh-CN" dirty="0"/>
          </a:p>
          <a:p>
            <a:pPr marL="0" indent="0">
              <a:lnSpc>
                <a:spcPct val="150000"/>
              </a:lnSpc>
              <a:buNone/>
            </a:pPr>
            <a:r>
              <a:rPr sz="1600" b="1" spc="0" dirty="0">
                <a:solidFill>
                  <a:schemeClr val="tx1">
                    <a:lumMod val="65000"/>
                    <a:lumOff val="35000"/>
                  </a:schemeClr>
                </a:solidFill>
                <a:sym typeface="+mn-ea"/>
              </a:rPr>
              <a:t>堆(heap)</a:t>
            </a:r>
            <a:r>
              <a:rPr sz="1600" spc="0" dirty="0">
                <a:solidFill>
                  <a:schemeClr val="tx1">
                    <a:lumMod val="65000"/>
                    <a:lumOff val="35000"/>
                  </a:schemeClr>
                </a:solidFill>
                <a:sym typeface="+mn-ea"/>
              </a:rPr>
              <a:t>，指的是动态分配内存的区域</a:t>
            </a:r>
            <a:r>
              <a:rPr sz="1600" spc="0" dirty="0" smtClean="0">
                <a:solidFill>
                  <a:schemeClr val="tx1">
                    <a:lumMod val="65000"/>
                    <a:lumOff val="35000"/>
                  </a:schemeClr>
                </a:solidFill>
                <a:sym typeface="+mn-ea"/>
              </a:rPr>
              <a:t>。操作堆用以下两种方式进行</a:t>
            </a:r>
            <a:r>
              <a:rPr sz="1600" spc="0" dirty="0">
                <a:solidFill>
                  <a:schemeClr val="tx1">
                    <a:lumMod val="65000"/>
                    <a:lumOff val="35000"/>
                  </a:schemeClr>
                </a:solidFill>
                <a:sym typeface="+mn-ea"/>
              </a:rPr>
              <a:t>：</a:t>
            </a:r>
            <a:endParaRPr sz="1600" spc="0" dirty="0">
              <a:solidFill>
                <a:schemeClr val="tx1">
                  <a:lumMod val="65000"/>
                  <a:lumOff val="35000"/>
                </a:schemeClr>
              </a:solidFill>
              <a:sym typeface="+mn-ea"/>
            </a:endParaRPr>
          </a:p>
          <a:p>
            <a:pPr>
              <a:lnSpc>
                <a:spcPct val="150000"/>
              </a:lnSpc>
            </a:pPr>
            <a:r>
              <a:rPr sz="1800" spc="0" dirty="0">
                <a:solidFill>
                  <a:schemeClr val="tx1">
                    <a:lumMod val="65000"/>
                    <a:lumOff val="35000"/>
                  </a:schemeClr>
                </a:solidFill>
                <a:latin typeface="微软雅黑" panose="020B0503020204020204" charset="-122"/>
                <a:cs typeface="微软雅黑" panose="020B0503020204020204" charset="-122"/>
                <a:sym typeface="+mn-ea"/>
              </a:rPr>
              <a:t>new和delete</a:t>
            </a:r>
            <a:endParaRPr sz="1600" spc="0" dirty="0">
              <a:solidFill>
                <a:schemeClr val="tx1">
                  <a:lumMod val="65000"/>
                  <a:lumOff val="35000"/>
                </a:schemeClr>
              </a:solidFill>
            </a:endParaRPr>
          </a:p>
          <a:p>
            <a:pPr>
              <a:lnSpc>
                <a:spcPct val="150000"/>
              </a:lnSpc>
            </a:pPr>
            <a:r>
              <a:rPr sz="1800" spc="0" dirty="0">
                <a:solidFill>
                  <a:schemeClr val="tx1">
                    <a:lumMod val="65000"/>
                    <a:lumOff val="35000"/>
                  </a:schemeClr>
                </a:solidFill>
                <a:latin typeface="微软雅黑" panose="020B0503020204020204" charset="-122"/>
                <a:cs typeface="微软雅黑" panose="020B0503020204020204" charset="-122"/>
                <a:sym typeface="+mn-ea"/>
              </a:rPr>
              <a:t>malloc和free</a:t>
            </a:r>
            <a:endParaRPr sz="1800" spc="0" dirty="0">
              <a:solidFill>
                <a:schemeClr val="tx1">
                  <a:lumMod val="65000"/>
                  <a:lumOff val="35000"/>
                </a:schemeClr>
              </a:solidFill>
              <a:latin typeface="微软雅黑" panose="020B0503020204020204" charset="-122"/>
              <a:cs typeface="微软雅黑" panose="020B0503020204020204" charset="-122"/>
              <a:sym typeface="+mn-ea"/>
            </a:endParaRPr>
          </a:p>
          <a:p>
            <a:pPr marL="0" indent="0">
              <a:buNone/>
            </a:pPr>
            <a:r>
              <a:rPr sz="2400" b="1" spc="0" dirty="0">
                <a:latin typeface="微软雅黑" panose="020B0503020204020204" charset="-122"/>
                <a:sym typeface="+mn-ea"/>
              </a:rPr>
              <a:t>栈</a:t>
            </a:r>
            <a:endParaRPr lang="en-US" altLang="zh-CN" sz="1600" b="1" dirty="0"/>
          </a:p>
          <a:p>
            <a:pPr marL="0" indent="0">
              <a:lnSpc>
                <a:spcPct val="150000"/>
              </a:lnSpc>
              <a:buNone/>
            </a:pPr>
            <a:r>
              <a:rPr sz="1600" b="1" spc="0" dirty="0">
                <a:solidFill>
                  <a:schemeClr val="tx1">
                    <a:lumMod val="65000"/>
                    <a:lumOff val="35000"/>
                  </a:schemeClr>
                </a:solidFill>
                <a:sym typeface="+mn-ea"/>
              </a:rPr>
              <a:t>栈(stack)</a:t>
            </a:r>
            <a:r>
              <a:rPr sz="1600" spc="0" dirty="0">
                <a:solidFill>
                  <a:schemeClr val="tx1">
                    <a:lumMod val="65000"/>
                    <a:lumOff val="35000"/>
                  </a:schemeClr>
                </a:solidFill>
                <a:sym typeface="+mn-ea"/>
              </a:rPr>
              <a:t>，指的是函数调用过程中产生的本地变量和调用数据区域。这个栈和数据结构的栈相似，都满足后进先出</a:t>
            </a:r>
            <a:endParaRPr lang="zh-CN" altLang="en-US" sz="1600" b="1" dirty="0"/>
          </a:p>
          <a:p>
            <a:pPr>
              <a:lnSpc>
                <a:spcPct val="150000"/>
              </a:lnSpc>
            </a:pPr>
            <a:endParaRPr lang="en-US" altLang="zh-CN" sz="1600" dirty="0"/>
          </a:p>
          <a:p>
            <a:pPr marL="0" indent="0">
              <a:buNone/>
            </a:pPr>
            <a:endParaRPr lang="en-US" altLang="zh-CN" sz="1600" spc="0" dirty="0">
              <a:solidFill>
                <a:schemeClr val="tx1">
                  <a:lumMod val="65000"/>
                  <a:lumOff val="35000"/>
                </a:schemeClr>
              </a:solidFill>
              <a:ea typeface="微软雅黑" panose="020B0503020204020204" charset="-122"/>
              <a:sym typeface="+mn-ea"/>
            </a:endParaRPr>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indent="0">
              <a:buNone/>
            </a:pPr>
            <a:r>
              <a:rPr sz="2700" b="1" dirty="0" err="1">
                <a:latin typeface="微软雅黑" panose="020B0503020204020204" charset="-122"/>
                <a:cs typeface="微软雅黑" panose="020B0503020204020204" charset="-122"/>
                <a:sym typeface="+mn-ea"/>
              </a:rPr>
              <a:t>RAII</a:t>
            </a:r>
            <a:endParaRPr lang="en-US" altLang="zh-CN" sz="2400" b="1" dirty="0">
              <a:latin typeface="微软雅黑" panose="020B0503020204020204" charset="-122"/>
              <a:cs typeface="微软雅黑" panose="020B0503020204020204" charset="-122"/>
              <a:sym typeface="+mn-ea"/>
            </a:endParaRPr>
          </a:p>
          <a:p>
            <a:pPr marL="0" indent="0">
              <a:lnSpc>
                <a:spcPct val="200000"/>
              </a:lnSpc>
              <a:buNone/>
            </a:pPr>
            <a:r>
              <a:rPr sz="1600" spc="0" dirty="0">
                <a:solidFill>
                  <a:schemeClr val="tx1">
                    <a:lumMod val="65000"/>
                    <a:lumOff val="35000"/>
                  </a:schemeClr>
                </a:solidFill>
                <a:sym typeface="+mn-ea"/>
              </a:rPr>
              <a:t>RAII，完整的英文是Resource Acquisition Is Initialization，是C++所特有的资源管理方式</a:t>
            </a:r>
            <a:r>
              <a:rPr sz="1600" spc="0" dirty="0" smtClean="0">
                <a:solidFill>
                  <a:schemeClr val="tx1">
                    <a:lumMod val="65000"/>
                    <a:lumOff val="35000"/>
                  </a:schemeClr>
                </a:solidFill>
                <a:sym typeface="+mn-ea"/>
              </a:rPr>
              <a:t>，它依托栈和析构函数，来对所有的资源</a:t>
            </a:r>
            <a:r>
              <a:rPr sz="1600" spc="0" dirty="0">
                <a:solidFill>
                  <a:schemeClr val="tx1">
                    <a:lumMod val="65000"/>
                    <a:lumOff val="35000"/>
                  </a:schemeClr>
                </a:solidFill>
                <a:sym typeface="+mn-ea"/>
              </a:rPr>
              <a:t>（包括堆内存在内）进行管理</a:t>
            </a:r>
            <a:r>
              <a:rPr sz="1600" spc="0" dirty="0" smtClean="0">
                <a:solidFill>
                  <a:schemeClr val="tx1">
                    <a:lumMod val="65000"/>
                    <a:lumOff val="35000"/>
                  </a:schemeClr>
                </a:solidFill>
                <a:sym typeface="+mn-ea"/>
              </a:rPr>
              <a:t>。</a:t>
            </a:r>
            <a:r>
              <a:rPr lang="zh-CN" altLang="en-US" sz="1600" spc="0" dirty="0" smtClean="0">
                <a:solidFill>
                  <a:schemeClr val="tx1">
                    <a:lumMod val="65000"/>
                    <a:lumOff val="35000"/>
                  </a:schemeClr>
                </a:solidFill>
                <a:sym typeface="+mn-ea"/>
              </a:rPr>
              <a:t>它</a:t>
            </a:r>
            <a:r>
              <a:rPr lang="zh-CN" altLang="en-US" sz="1600" spc="0" dirty="0" smtClean="0">
                <a:solidFill>
                  <a:schemeClr val="tx1">
                    <a:lumMod val="65000"/>
                    <a:lumOff val="35000"/>
                  </a:schemeClr>
                </a:solidFill>
              </a:rPr>
              <a:t>提供</a:t>
            </a:r>
            <a:r>
              <a:rPr lang="zh-CN" altLang="en-US" sz="1600" spc="0" dirty="0">
                <a:solidFill>
                  <a:schemeClr val="tx1">
                    <a:lumMod val="65000"/>
                    <a:lumOff val="35000"/>
                  </a:schemeClr>
                </a:solidFill>
              </a:rPr>
              <a:t>了一种异常安全的资源管理方式，</a:t>
            </a:r>
            <a:r>
              <a:rPr sz="1600" spc="0" dirty="0" smtClean="0">
                <a:solidFill>
                  <a:schemeClr val="tx1">
                    <a:lumMod val="65000"/>
                    <a:lumOff val="35000"/>
                  </a:schemeClr>
                </a:solidFill>
                <a:sym typeface="+mn-ea"/>
              </a:rPr>
              <a:t>对</a:t>
            </a:r>
            <a:r>
              <a:rPr sz="1600" spc="0" dirty="0">
                <a:solidFill>
                  <a:schemeClr val="tx1">
                    <a:lumMod val="65000"/>
                    <a:lumOff val="35000"/>
                  </a:schemeClr>
                </a:solidFill>
                <a:sym typeface="+mn-ea"/>
              </a:rPr>
              <a:t>RAII的使用，使C++ 不需要类似于Java那样的垃圾收集方法，</a:t>
            </a:r>
            <a:r>
              <a:rPr sz="1600" spc="0" dirty="0" smtClean="0">
                <a:solidFill>
                  <a:schemeClr val="tx1">
                    <a:lumMod val="65000"/>
                    <a:lumOff val="35000"/>
                  </a:schemeClr>
                </a:solidFill>
                <a:sym typeface="+mn-ea"/>
              </a:rPr>
              <a:t>也能有效的内存进行管理</a:t>
            </a:r>
            <a:endParaRPr lang="en-US" altLang="zh-CN" sz="1600" b="1" spc="0" dirty="0" smtClean="0">
              <a:solidFill>
                <a:schemeClr val="tx1">
                  <a:lumMod val="65000"/>
                  <a:lumOff val="35000"/>
                </a:schemeClr>
              </a:solidFill>
            </a:endParaRPr>
          </a:p>
          <a:p>
            <a:pPr marL="0" indent="0">
              <a:lnSpc>
                <a:spcPct val="200000"/>
              </a:lnSpc>
              <a:buNone/>
            </a:pPr>
            <a:r>
              <a:rPr lang="en-US" altLang="zh-CN" sz="1600" b="1" spc="0" dirty="0" err="1">
                <a:solidFill>
                  <a:schemeClr val="tx1">
                    <a:lumMod val="65000"/>
                    <a:lumOff val="35000"/>
                  </a:schemeClr>
                </a:solidFill>
              </a:rPr>
              <a:t>s</a:t>
            </a:r>
            <a:r>
              <a:rPr lang="en-US" altLang="zh-CN" sz="1600" b="1" spc="0" dirty="0" err="1" smtClean="0">
                <a:solidFill>
                  <a:schemeClr val="tx1">
                    <a:lumMod val="65000"/>
                    <a:lumOff val="35000"/>
                  </a:schemeClr>
                </a:solidFill>
              </a:rPr>
              <a:t>td</a:t>
            </a:r>
            <a:r>
              <a:rPr lang="en-US" altLang="zh-CN" sz="1600" b="1" spc="0" dirty="0" smtClean="0">
                <a:solidFill>
                  <a:schemeClr val="tx1">
                    <a:lumMod val="65000"/>
                    <a:lumOff val="35000"/>
                  </a:schemeClr>
                </a:solidFill>
              </a:rPr>
              <a:t>::</a:t>
            </a:r>
            <a:r>
              <a:rPr lang="en-US" altLang="zh-CN" sz="1600" b="1" spc="0" dirty="0" err="1" smtClean="0">
                <a:solidFill>
                  <a:schemeClr val="tx1">
                    <a:lumMod val="65000"/>
                    <a:lumOff val="35000"/>
                  </a:schemeClr>
                </a:solidFill>
              </a:rPr>
              <a:t>mutex</a:t>
            </a:r>
            <a:r>
              <a:rPr lang="en-US" altLang="zh-CN" sz="1600" b="1" spc="0" dirty="0" smtClean="0">
                <a:solidFill>
                  <a:schemeClr val="tx1">
                    <a:lumMod val="65000"/>
                    <a:lumOff val="35000"/>
                  </a:schemeClr>
                </a:solidFill>
              </a:rPr>
              <a:t> </a:t>
            </a:r>
            <a:r>
              <a:rPr lang="en-US" altLang="zh-CN" sz="1600" b="1" spc="0" dirty="0" err="1" smtClean="0">
                <a:solidFill>
                  <a:schemeClr val="tx1">
                    <a:lumMod val="65000"/>
                    <a:lumOff val="35000"/>
                  </a:schemeClr>
                </a:solidFill>
              </a:rPr>
              <a:t>mtx</a:t>
            </a:r>
            <a:r>
              <a:rPr lang="en-US" altLang="zh-CN" sz="1600" b="1" spc="0" dirty="0" smtClean="0">
                <a:solidFill>
                  <a:schemeClr val="tx1">
                    <a:lumMod val="65000"/>
                    <a:lumOff val="35000"/>
                  </a:schemeClr>
                </a:solidFill>
              </a:rPr>
              <a:t>; </a:t>
            </a:r>
            <a:endParaRPr lang="en-US" altLang="zh-CN" sz="1600" b="1" spc="0" dirty="0">
              <a:solidFill>
                <a:schemeClr val="tx1">
                  <a:lumMod val="65000"/>
                  <a:lumOff val="35000"/>
                </a:schemeClr>
              </a:solidFill>
            </a:endParaRPr>
          </a:p>
          <a:p>
            <a:pPr marL="0" indent="0">
              <a:lnSpc>
                <a:spcPct val="100000"/>
              </a:lnSpc>
              <a:buNone/>
            </a:pPr>
            <a:r>
              <a:rPr lang="en-US" altLang="zh-CN" sz="1600" b="1" spc="0" dirty="0" smtClean="0">
                <a:solidFill>
                  <a:schemeClr val="tx1">
                    <a:lumMod val="65000"/>
                    <a:lumOff val="35000"/>
                  </a:schemeClr>
                </a:solidFill>
              </a:rPr>
              <a:t>Void foo()</a:t>
            </a:r>
            <a:endParaRPr lang="en-US" altLang="zh-CN" sz="1600" b="1" spc="0" dirty="0" smtClean="0">
              <a:solidFill>
                <a:schemeClr val="tx1">
                  <a:lumMod val="65000"/>
                  <a:lumOff val="35000"/>
                </a:schemeClr>
              </a:solidFill>
            </a:endParaRPr>
          </a:p>
          <a:p>
            <a:pPr marL="0" indent="0">
              <a:lnSpc>
                <a:spcPct val="100000"/>
              </a:lnSpc>
              <a:buNone/>
            </a:pPr>
            <a:r>
              <a:rPr lang="en-US" altLang="zh-CN" sz="1600" b="1" spc="0" dirty="0" smtClean="0">
                <a:solidFill>
                  <a:schemeClr val="tx1">
                    <a:lumMod val="65000"/>
                    <a:lumOff val="35000"/>
                  </a:schemeClr>
                </a:solidFill>
              </a:rPr>
              <a:t>{</a:t>
            </a:r>
            <a:endParaRPr lang="en-US" altLang="zh-CN" sz="1600" b="1" spc="0" dirty="0" smtClean="0">
              <a:solidFill>
                <a:schemeClr val="tx1">
                  <a:lumMod val="65000"/>
                  <a:lumOff val="35000"/>
                </a:schemeClr>
              </a:solidFill>
            </a:endParaRPr>
          </a:p>
          <a:p>
            <a:pPr marL="0" indent="0">
              <a:lnSpc>
                <a:spcPct val="100000"/>
              </a:lnSpc>
              <a:buNone/>
            </a:pPr>
            <a:r>
              <a:rPr lang="en-US" altLang="zh-CN" sz="1600" b="1" spc="0" dirty="0">
                <a:solidFill>
                  <a:schemeClr val="tx1">
                    <a:lumMod val="65000"/>
                    <a:lumOff val="35000"/>
                  </a:schemeClr>
                </a:solidFill>
              </a:rPr>
              <a:t> </a:t>
            </a:r>
            <a:r>
              <a:rPr lang="en-US" altLang="zh-CN" sz="1600" b="1" spc="0" dirty="0" smtClean="0">
                <a:solidFill>
                  <a:schemeClr val="tx1">
                    <a:lumMod val="65000"/>
                    <a:lumOff val="35000"/>
                  </a:schemeClr>
                </a:solidFill>
              </a:rPr>
              <a:t>   </a:t>
            </a:r>
            <a:r>
              <a:rPr lang="en-US" altLang="zh-CN" sz="1600" b="1" spc="0" dirty="0" err="1" smtClean="0">
                <a:solidFill>
                  <a:schemeClr val="tx1">
                    <a:lumMod val="65000"/>
                    <a:lumOff val="35000"/>
                  </a:schemeClr>
                </a:solidFill>
              </a:rPr>
              <a:t>std</a:t>
            </a:r>
            <a:r>
              <a:rPr lang="en-US" altLang="zh-CN" sz="1600" b="1" spc="0" dirty="0" smtClean="0">
                <a:solidFill>
                  <a:schemeClr val="tx1">
                    <a:lumMod val="65000"/>
                    <a:lumOff val="35000"/>
                  </a:schemeClr>
                </a:solidFill>
              </a:rPr>
              <a:t>::</a:t>
            </a:r>
            <a:r>
              <a:rPr lang="en-US" altLang="zh-CN" sz="1600" b="1" spc="0" dirty="0" err="1" smtClean="0">
                <a:solidFill>
                  <a:schemeClr val="tx1">
                    <a:lumMod val="65000"/>
                    <a:lumOff val="35000"/>
                  </a:schemeClr>
                </a:solidFill>
              </a:rPr>
              <a:t>lock_gruad</a:t>
            </a:r>
            <a:r>
              <a:rPr lang="en-US" altLang="zh-CN" sz="1600" b="1" spc="0" dirty="0" smtClean="0">
                <a:solidFill>
                  <a:schemeClr val="tx1">
                    <a:lumMod val="65000"/>
                    <a:lumOff val="35000"/>
                  </a:schemeClr>
                </a:solidFill>
              </a:rPr>
              <a:t>&lt;</a:t>
            </a:r>
            <a:r>
              <a:rPr lang="en-US" altLang="zh-CN" sz="1600" b="1" spc="0" dirty="0" err="1" smtClean="0">
                <a:solidFill>
                  <a:schemeClr val="tx1">
                    <a:lumMod val="65000"/>
                    <a:lumOff val="35000"/>
                  </a:schemeClr>
                </a:solidFill>
              </a:rPr>
              <a:t>std</a:t>
            </a:r>
            <a:r>
              <a:rPr lang="en-US" altLang="zh-CN" sz="1600" b="1" spc="0" dirty="0" smtClean="0">
                <a:solidFill>
                  <a:schemeClr val="tx1">
                    <a:lumMod val="65000"/>
                    <a:lumOff val="35000"/>
                  </a:schemeClr>
                </a:solidFill>
              </a:rPr>
              <a:t>::</a:t>
            </a:r>
            <a:r>
              <a:rPr lang="en-US" altLang="zh-CN" sz="1600" b="1" spc="0" dirty="0" err="1" smtClean="0">
                <a:solidFill>
                  <a:schemeClr val="tx1">
                    <a:lumMod val="65000"/>
                    <a:lumOff val="35000"/>
                  </a:schemeClr>
                </a:solidFill>
              </a:rPr>
              <a:t>mutex</a:t>
            </a:r>
            <a:r>
              <a:rPr lang="en-US" altLang="zh-CN" sz="1600" b="1" spc="0" dirty="0" smtClean="0">
                <a:solidFill>
                  <a:schemeClr val="tx1">
                    <a:lumMod val="65000"/>
                    <a:lumOff val="35000"/>
                  </a:schemeClr>
                </a:solidFill>
              </a:rPr>
              <a:t>&gt; lock(&amp;</a:t>
            </a:r>
            <a:r>
              <a:rPr lang="en-US" altLang="zh-CN" sz="1600" b="1" spc="0" dirty="0" err="1" smtClean="0">
                <a:solidFill>
                  <a:schemeClr val="tx1">
                    <a:lumMod val="65000"/>
                    <a:lumOff val="35000"/>
                  </a:schemeClr>
                </a:solidFill>
              </a:rPr>
              <a:t>mtx</a:t>
            </a:r>
            <a:r>
              <a:rPr lang="en-US" altLang="zh-CN" sz="1600" b="1" spc="0" dirty="0" smtClean="0">
                <a:solidFill>
                  <a:schemeClr val="tx1">
                    <a:lumMod val="65000"/>
                    <a:lumOff val="35000"/>
                  </a:schemeClr>
                </a:solidFill>
              </a:rPr>
              <a:t>)</a:t>
            </a:r>
            <a:endParaRPr lang="en-US" altLang="zh-CN" sz="1600" b="1" spc="0" dirty="0" smtClean="0">
              <a:solidFill>
                <a:schemeClr val="tx1">
                  <a:lumMod val="65000"/>
                  <a:lumOff val="35000"/>
                </a:schemeClr>
              </a:solidFill>
            </a:endParaRPr>
          </a:p>
          <a:p>
            <a:pPr marL="0" indent="0">
              <a:lnSpc>
                <a:spcPct val="100000"/>
              </a:lnSpc>
              <a:buNone/>
            </a:pPr>
            <a:r>
              <a:rPr lang="en-US" altLang="zh-CN" sz="1600" b="1" spc="0" dirty="0">
                <a:solidFill>
                  <a:schemeClr val="tx1">
                    <a:lumMod val="65000"/>
                    <a:lumOff val="35000"/>
                  </a:schemeClr>
                </a:solidFill>
              </a:rPr>
              <a:t> </a:t>
            </a:r>
            <a:r>
              <a:rPr lang="en-US" altLang="zh-CN" sz="1600" b="1" spc="0" dirty="0" smtClean="0">
                <a:solidFill>
                  <a:schemeClr val="tx1">
                    <a:lumMod val="65000"/>
                    <a:lumOff val="35000"/>
                  </a:schemeClr>
                </a:solidFill>
              </a:rPr>
              <a:t>   …</a:t>
            </a:r>
            <a:endParaRPr lang="en-US" altLang="zh-CN" sz="1600" b="1" spc="0" dirty="0" smtClean="0">
              <a:solidFill>
                <a:schemeClr val="tx1">
                  <a:lumMod val="65000"/>
                  <a:lumOff val="35000"/>
                </a:schemeClr>
              </a:solidFill>
            </a:endParaRPr>
          </a:p>
          <a:p>
            <a:pPr marL="0" indent="0">
              <a:lnSpc>
                <a:spcPct val="100000"/>
              </a:lnSpc>
              <a:buNone/>
            </a:pPr>
            <a:r>
              <a:rPr lang="en-US" altLang="zh-CN" sz="1600" b="1" spc="0" dirty="0" smtClean="0">
                <a:solidFill>
                  <a:schemeClr val="tx1">
                    <a:lumMod val="65000"/>
                    <a:lumOff val="35000"/>
                  </a:schemeClr>
                </a:solidFill>
              </a:rPr>
              <a:t>}</a:t>
            </a:r>
            <a:endParaRPr lang="zh-CN" altLang="en-US" sz="1600" b="1" dirty="0"/>
          </a:p>
          <a:p>
            <a:pPr>
              <a:lnSpc>
                <a:spcPct val="150000"/>
              </a:lnSpc>
            </a:pPr>
            <a:endParaRPr lang="en-US" altLang="zh-CN" sz="1600" dirty="0"/>
          </a:p>
          <a:p>
            <a:pPr marL="0" indent="0">
              <a:buNone/>
            </a:pPr>
            <a:endParaRPr lang="en-US" altLang="zh-CN" sz="1600" spc="0" dirty="0">
              <a:solidFill>
                <a:schemeClr val="tx1">
                  <a:lumMod val="65000"/>
                  <a:lumOff val="35000"/>
                </a:schemeClr>
              </a:solidFill>
              <a:ea typeface="微软雅黑" panose="020B0503020204020204" charset="-122"/>
              <a:sym typeface="+mn-ea"/>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66130"/>
          </a:xfrm>
        </p:spPr>
        <p:txBody>
          <a:bodyPr/>
          <a:lstStyle/>
          <a:p>
            <a:r>
              <a:rPr lang="zh-CN" altLang="en-US" sz="2700" spc="150" dirty="0" err="1">
                <a:latin typeface="微软雅黑" panose="020B0503020204020204" charset="-122"/>
                <a:cs typeface="微软雅黑" panose="020B0503020204020204" charset="-122"/>
              </a:rPr>
              <a:t>智能指针</a:t>
            </a:r>
            <a:endParaRPr lang="zh-CN" altLang="en-US" sz="2700" spc="150" dirty="0" err="1">
              <a:latin typeface="微软雅黑" panose="020B0503020204020204" charset="-122"/>
              <a:cs typeface="微软雅黑" panose="020B0503020204020204" charset="-122"/>
            </a:endParaRPr>
          </a:p>
        </p:txBody>
      </p:sp>
      <p:sp>
        <p:nvSpPr>
          <p:cNvPr id="3" name="内容占位符 2"/>
          <p:cNvSpPr>
            <a:spLocks noGrp="1"/>
          </p:cNvSpPr>
          <p:nvPr>
            <p:ph idx="1"/>
          </p:nvPr>
        </p:nvSpPr>
        <p:spPr>
          <a:xfrm>
            <a:off x="323528" y="1340768"/>
            <a:ext cx="8363272" cy="4824536"/>
          </a:xfrm>
        </p:spPr>
        <p:txBody>
          <a:bodyPr/>
          <a:lstStyle/>
          <a:p>
            <a:pPr>
              <a:lnSpc>
                <a:spcPct val="150000"/>
              </a:lnSpc>
            </a:pPr>
            <a:r>
              <a:rPr lang="zh-CN" altLang="en-US" sz="1600" spc="0" dirty="0">
                <a:solidFill>
                  <a:schemeClr val="tx1">
                    <a:lumMod val="65000"/>
                    <a:lumOff val="35000"/>
                  </a:schemeClr>
                </a:solidFill>
              </a:rPr>
              <a:t>智能指针的基本原理就是通过</a:t>
            </a:r>
            <a:r>
              <a:rPr sz="1600" spc="0" dirty="0">
                <a:solidFill>
                  <a:schemeClr val="tx1">
                    <a:lumMod val="65000"/>
                    <a:lumOff val="35000"/>
                  </a:schemeClr>
                </a:solidFill>
              </a:rPr>
              <a:t>RAII</a:t>
            </a:r>
            <a:r>
              <a:rPr lang="zh-CN" altLang="en-US" sz="1600" spc="0" dirty="0">
                <a:solidFill>
                  <a:schemeClr val="tx1">
                    <a:lumMod val="65000"/>
                    <a:lumOff val="35000"/>
                  </a:schemeClr>
                </a:solidFill>
              </a:rPr>
              <a:t>实现对内存的管理</a:t>
            </a:r>
            <a:r>
              <a:rPr lang="zh-CN" altLang="en-US" sz="1600" spc="0" dirty="0" smtClean="0">
                <a:solidFill>
                  <a:schemeClr val="tx1">
                    <a:lumMod val="65000"/>
                    <a:lumOff val="35000"/>
                  </a:schemeClr>
                </a:solidFill>
              </a:rPr>
              <a:t>，</a:t>
            </a:r>
            <a:r>
              <a:rPr lang="zh-CN" altLang="en-US" sz="1600" spc="0" dirty="0">
                <a:solidFill>
                  <a:schemeClr val="tx1">
                    <a:lumMod val="65000"/>
                    <a:lumOff val="35000"/>
                  </a:schemeClr>
                </a:solidFill>
              </a:rPr>
              <a:t>从</a:t>
            </a:r>
            <a:r>
              <a:rPr sz="1600" spc="0" dirty="0" smtClean="0">
                <a:solidFill>
                  <a:schemeClr val="tx1">
                    <a:lumMod val="65000"/>
                    <a:lumOff val="35000"/>
                  </a:schemeClr>
                </a:solidFill>
              </a:rPr>
              <a:t>C</a:t>
            </a:r>
            <a:r>
              <a:rPr sz="1600" spc="0" dirty="0">
                <a:solidFill>
                  <a:schemeClr val="tx1">
                    <a:lumMod val="65000"/>
                    <a:lumOff val="35000"/>
                  </a:schemeClr>
                </a:solidFill>
              </a:rPr>
              <a:t>++ </a:t>
            </a:r>
            <a:r>
              <a:rPr sz="1600" spc="0" dirty="0" smtClean="0">
                <a:solidFill>
                  <a:schemeClr val="tx1">
                    <a:lumMod val="65000"/>
                    <a:lumOff val="35000"/>
                  </a:schemeClr>
                </a:solidFill>
              </a:rPr>
              <a:t>11</a:t>
            </a:r>
            <a:r>
              <a:rPr lang="zh-CN" altLang="en-US" sz="1600" spc="0" dirty="0">
                <a:solidFill>
                  <a:schemeClr val="tx1">
                    <a:lumMod val="65000"/>
                    <a:lumOff val="35000"/>
                  </a:schemeClr>
                </a:solidFill>
              </a:rPr>
              <a:t>开始</a:t>
            </a:r>
            <a:r>
              <a:rPr lang="zh-CN" altLang="en-US" sz="1600" spc="0" dirty="0" smtClean="0">
                <a:solidFill>
                  <a:schemeClr val="tx1">
                    <a:lumMod val="65000"/>
                    <a:lumOff val="35000"/>
                  </a:schemeClr>
                </a:solidFill>
              </a:rPr>
              <a:t>已经</a:t>
            </a:r>
            <a:r>
              <a:rPr lang="zh-CN" altLang="en-US" sz="1600" spc="0" dirty="0">
                <a:solidFill>
                  <a:schemeClr val="tx1">
                    <a:lumMod val="65000"/>
                    <a:lumOff val="35000"/>
                  </a:schemeClr>
                </a:solidFill>
              </a:rPr>
              <a:t>不推荐再使用裸指针</a:t>
            </a:r>
            <a:endParaRPr lang="zh-CN" altLang="en-US" sz="1600" spc="0" dirty="0">
              <a:solidFill>
                <a:schemeClr val="tx1">
                  <a:lumMod val="65000"/>
                  <a:lumOff val="35000"/>
                </a:schemeClr>
              </a:solidFill>
            </a:endParaRPr>
          </a:p>
          <a:p>
            <a:pPr marL="0" indent="0">
              <a:lnSpc>
                <a:spcPct val="150000"/>
              </a:lnSpc>
              <a:buNone/>
            </a:pPr>
            <a:endParaRPr lang="zh-CN" altLang="en-US" dirty="0"/>
          </a:p>
          <a:p>
            <a:pPr>
              <a:lnSpc>
                <a:spcPct val="150000"/>
              </a:lnSpc>
            </a:pPr>
            <a:r>
              <a:rPr lang="zh-CN" altLang="en-US" sz="1600" spc="0" dirty="0">
                <a:solidFill>
                  <a:schemeClr val="tx1">
                    <a:lumMod val="65000"/>
                    <a:lumOff val="35000"/>
                  </a:schemeClr>
                </a:solidFill>
              </a:rPr>
              <a:t>智能指针支持裸指针的所有操作，如：*，</a:t>
            </a:r>
            <a:r>
              <a:rPr sz="1600" spc="0" dirty="0">
                <a:solidFill>
                  <a:schemeClr val="tx1">
                    <a:lumMod val="65000"/>
                    <a:lumOff val="35000"/>
                  </a:schemeClr>
                </a:solidFill>
              </a:rPr>
              <a:t>++</a:t>
            </a:r>
            <a:r>
              <a:rPr lang="zh-CN" altLang="en-US" sz="1600" spc="0" dirty="0">
                <a:solidFill>
                  <a:schemeClr val="tx1">
                    <a:lumMod val="65000"/>
                    <a:lumOff val="35000"/>
                  </a:schemeClr>
                </a:solidFill>
              </a:rPr>
              <a:t>，</a:t>
            </a:r>
            <a:r>
              <a:rPr sz="1600" spc="0" dirty="0">
                <a:solidFill>
                  <a:schemeClr val="tx1">
                    <a:lumMod val="65000"/>
                    <a:lumOff val="35000"/>
                  </a:schemeClr>
                </a:solidFill>
              </a:rPr>
              <a:t>--</a:t>
            </a:r>
            <a:r>
              <a:rPr lang="zh-CN" altLang="en-US" sz="1600" spc="0" dirty="0">
                <a:solidFill>
                  <a:schemeClr val="tx1">
                    <a:lumMod val="65000"/>
                    <a:lumOff val="35000"/>
                  </a:schemeClr>
                </a:solidFill>
              </a:rPr>
              <a:t>，</a:t>
            </a:r>
            <a:r>
              <a:rPr sz="1600" spc="0" dirty="0">
                <a:solidFill>
                  <a:schemeClr val="tx1">
                    <a:lumMod val="65000"/>
                    <a:lumOff val="35000"/>
                  </a:schemeClr>
                </a:solidFill>
              </a:rPr>
              <a:t>+=</a:t>
            </a:r>
            <a:r>
              <a:rPr lang="zh-CN" altLang="en-US" sz="1600" spc="0" dirty="0">
                <a:solidFill>
                  <a:schemeClr val="tx1">
                    <a:lumMod val="65000"/>
                    <a:lumOff val="35000"/>
                  </a:schemeClr>
                </a:solidFill>
              </a:rPr>
              <a:t>，</a:t>
            </a:r>
            <a:r>
              <a:rPr sz="1600" spc="0" dirty="0">
                <a:solidFill>
                  <a:schemeClr val="tx1">
                    <a:lumMod val="65000"/>
                    <a:lumOff val="35000"/>
                  </a:schemeClr>
                </a:solidFill>
              </a:rPr>
              <a:t>&lt;</a:t>
            </a:r>
            <a:r>
              <a:rPr lang="zh-CN" altLang="en-US" sz="1600" spc="0" dirty="0">
                <a:solidFill>
                  <a:schemeClr val="tx1">
                    <a:lumMod val="65000"/>
                    <a:lumOff val="35000"/>
                  </a:schemeClr>
                </a:solidFill>
              </a:rPr>
              <a:t>，</a:t>
            </a:r>
            <a:r>
              <a:rPr sz="1600" spc="0" dirty="0">
                <a:solidFill>
                  <a:schemeClr val="tx1">
                    <a:lumMod val="65000"/>
                    <a:lumOff val="35000"/>
                  </a:schemeClr>
                </a:solidFill>
              </a:rPr>
              <a:t>&gt;</a:t>
            </a:r>
            <a:endParaRPr sz="1600" spc="0" dirty="0">
              <a:solidFill>
                <a:schemeClr val="tx1">
                  <a:lumMod val="65000"/>
                  <a:lumOff val="35000"/>
                </a:schemeClr>
              </a:solidFill>
            </a:endParaRPr>
          </a:p>
          <a:p>
            <a:pPr marL="0" indent="0">
              <a:lnSpc>
                <a:spcPct val="150000"/>
              </a:lnSpc>
              <a:buNone/>
            </a:pPr>
            <a:endParaRPr lang="en-US" altLang="zh-CN" dirty="0"/>
          </a:p>
          <a:p>
            <a:pPr>
              <a:lnSpc>
                <a:spcPct val="150000"/>
              </a:lnSpc>
            </a:pPr>
            <a:r>
              <a:rPr sz="1600" spc="0" dirty="0">
                <a:solidFill>
                  <a:schemeClr val="tx1">
                    <a:lumMod val="65000"/>
                    <a:lumOff val="35000"/>
                  </a:schemeClr>
                </a:solidFill>
              </a:rPr>
              <a:t>C++ 11 加入了shared_ptr</a:t>
            </a:r>
            <a:r>
              <a:rPr lang="zh-CN" altLang="en-US" sz="1600" spc="0" dirty="0">
                <a:solidFill>
                  <a:schemeClr val="tx1">
                    <a:lumMod val="65000"/>
                    <a:lumOff val="35000"/>
                  </a:schemeClr>
                </a:solidFill>
              </a:rPr>
              <a:t>，</a:t>
            </a:r>
            <a:r>
              <a:rPr sz="1600" spc="0" dirty="0">
                <a:solidFill>
                  <a:schemeClr val="tx1">
                    <a:lumMod val="65000"/>
                    <a:lumOff val="35000"/>
                  </a:schemeClr>
                </a:solidFill>
              </a:rPr>
              <a:t>unique_ptr</a:t>
            </a:r>
            <a:r>
              <a:rPr lang="zh-CN" altLang="en-US" sz="1600" spc="0" dirty="0">
                <a:solidFill>
                  <a:schemeClr val="tx1">
                    <a:lumMod val="65000"/>
                    <a:lumOff val="35000"/>
                  </a:schemeClr>
                </a:solidFill>
              </a:rPr>
              <a:t>，</a:t>
            </a:r>
            <a:r>
              <a:rPr sz="1600" spc="0" dirty="0">
                <a:solidFill>
                  <a:schemeClr val="tx1">
                    <a:lumMod val="65000"/>
                    <a:lumOff val="35000"/>
                  </a:schemeClr>
                </a:solidFill>
              </a:rPr>
              <a:t>weak_ptr</a:t>
            </a:r>
            <a:r>
              <a:rPr lang="zh-CN" altLang="en-US" sz="1600" spc="0" dirty="0">
                <a:solidFill>
                  <a:schemeClr val="tx1">
                    <a:lumMod val="65000"/>
                    <a:lumOff val="35000"/>
                  </a:schemeClr>
                </a:solidFill>
              </a:rPr>
              <a:t>，</a:t>
            </a:r>
            <a:r>
              <a:rPr sz="1600" spc="0" dirty="0">
                <a:solidFill>
                  <a:schemeClr val="tx1">
                    <a:lumMod val="65000"/>
                    <a:lumOff val="35000"/>
                  </a:schemeClr>
                </a:solidFill>
              </a:rPr>
              <a:t>(</a:t>
            </a:r>
            <a:r>
              <a:rPr lang="zh-CN" altLang="en-US" sz="1600" spc="0" dirty="0">
                <a:solidFill>
                  <a:schemeClr val="tx1">
                    <a:lumMod val="65000"/>
                    <a:lumOff val="35000"/>
                  </a:schemeClr>
                </a:solidFill>
              </a:rPr>
              <a:t>还可以算上</a:t>
            </a:r>
            <a:r>
              <a:rPr sz="1600" spc="0" dirty="0">
                <a:solidFill>
                  <a:schemeClr val="tx1">
                    <a:lumMod val="65000"/>
                    <a:lumOff val="35000"/>
                  </a:schemeClr>
                </a:solidFill>
              </a:rPr>
              <a:t>Boost</a:t>
            </a:r>
            <a:r>
              <a:rPr lang="zh-CN" altLang="en-US" sz="1600" spc="0" dirty="0">
                <a:solidFill>
                  <a:schemeClr val="tx1">
                    <a:lumMod val="65000"/>
                    <a:lumOff val="35000"/>
                  </a:schemeClr>
                </a:solidFill>
              </a:rPr>
              <a:t>库中的</a:t>
            </a:r>
            <a:r>
              <a:rPr sz="1600" spc="0" dirty="0">
                <a:solidFill>
                  <a:schemeClr val="tx1">
                    <a:lumMod val="65000"/>
                    <a:lumOff val="35000"/>
                  </a:schemeClr>
                </a:solidFill>
              </a:rPr>
              <a:t>socpe_ptr)，三种智能指针都有各自的语义，对所管理的对象代表了不同的所有权，适用于不同的场景</a:t>
            </a:r>
            <a:endParaRPr sz="1600" spc="0" dirty="0">
              <a:solidFill>
                <a:schemeClr val="tx1">
                  <a:lumMod val="65000"/>
                  <a:lumOff val="35000"/>
                </a:schemeClr>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1414591" y="3162185"/>
            <a:ext cx="407035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shared_ptr概述</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132391"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02</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p:transition spd="med" advTm="0">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700" dirty="0" err="1" smtClean="0">
                <a:latin typeface="微软雅黑" panose="020B0503020204020204" charset="-122"/>
                <a:cs typeface="微软雅黑" panose="020B0503020204020204" charset="-122"/>
              </a:rPr>
              <a:t>shared_ptr</a:t>
            </a:r>
            <a:r>
              <a:rPr lang="zh-CN" altLang="en-US" sz="2700" dirty="0" smtClean="0">
                <a:latin typeface="微软雅黑" panose="020B0503020204020204" charset="-122"/>
                <a:cs typeface="微软雅黑" panose="020B0503020204020204" charset="-122"/>
              </a:rPr>
              <a:t>概述</a:t>
            </a:r>
            <a:endParaRPr lang="zh-CN" altLang="en-US" sz="2700" dirty="0">
              <a:latin typeface="微软雅黑" panose="020B0503020204020204" charset="-122"/>
              <a:cs typeface="微软雅黑" panose="020B0503020204020204" charset="-122"/>
            </a:endParaRPr>
          </a:p>
        </p:txBody>
      </p:sp>
      <p:sp>
        <p:nvSpPr>
          <p:cNvPr id="3" name="内容占位符 2"/>
          <p:cNvSpPr>
            <a:spLocks noGrp="1"/>
          </p:cNvSpPr>
          <p:nvPr>
            <p:ph idx="1"/>
          </p:nvPr>
        </p:nvSpPr>
        <p:spPr/>
        <p:txBody>
          <a:bodyPr/>
          <a:lstStyle/>
          <a:p>
            <a:pPr marL="0" indent="0">
              <a:lnSpc>
                <a:spcPct val="150000"/>
              </a:lnSpc>
              <a:buNone/>
            </a:pPr>
            <a:r>
              <a:rPr lang="zh-CN" altLang="en-US" sz="1600" spc="0" dirty="0" smtClean="0">
                <a:solidFill>
                  <a:schemeClr val="tx1">
                    <a:lumMod val="65000"/>
                    <a:lumOff val="35000"/>
                  </a:schemeClr>
                </a:solidFill>
                <a:latin typeface="+mn-ea"/>
                <a:ea typeface="+mn-ea"/>
                <a:cs typeface="微软雅黑" panose="020B0503020204020204" charset="-122"/>
              </a:rPr>
              <a:t>共享所有权，具有</a:t>
            </a:r>
            <a:r>
              <a:rPr lang="zh-CN" altLang="en-US" sz="1600" spc="0" dirty="0">
                <a:solidFill>
                  <a:schemeClr val="tx1">
                    <a:lumMod val="65000"/>
                    <a:lumOff val="35000"/>
                  </a:schemeClr>
                </a:solidFill>
                <a:latin typeface="+mn-ea"/>
                <a:ea typeface="+mn-ea"/>
                <a:cs typeface="微软雅黑" panose="020B0503020204020204" charset="-122"/>
              </a:rPr>
              <a:t>复制语义，多个</a:t>
            </a:r>
            <a:r>
              <a:rPr lang="en-US" altLang="zh-CN" sz="1600" spc="0" dirty="0" err="1" smtClean="0">
                <a:solidFill>
                  <a:schemeClr val="tx1">
                    <a:lumMod val="65000"/>
                    <a:lumOff val="35000"/>
                  </a:schemeClr>
                </a:solidFill>
                <a:latin typeface="+mn-ea"/>
                <a:ea typeface="+mn-ea"/>
                <a:cs typeface="微软雅黑" panose="020B0503020204020204" charset="-122"/>
              </a:rPr>
              <a:t>shared_ptr</a:t>
            </a:r>
            <a:r>
              <a:rPr lang="zh-CN" altLang="en-US" sz="1600" spc="0" dirty="0">
                <a:solidFill>
                  <a:schemeClr val="tx1">
                    <a:lumMod val="65000"/>
                    <a:lumOff val="35000"/>
                  </a:schemeClr>
                </a:solidFill>
                <a:latin typeface="+mn-ea"/>
                <a:ea typeface="+mn-ea"/>
                <a:cs typeface="微软雅黑" panose="020B0503020204020204" charset="-122"/>
              </a:rPr>
              <a:t>指向同一个对象时，每个</a:t>
            </a:r>
            <a:r>
              <a:rPr lang="en-US" altLang="zh-CN" sz="1600" spc="0" dirty="0" err="1">
                <a:solidFill>
                  <a:schemeClr val="tx1">
                    <a:lumMod val="65000"/>
                    <a:lumOff val="35000"/>
                  </a:schemeClr>
                </a:solidFill>
                <a:latin typeface="+mn-ea"/>
                <a:ea typeface="+mn-ea"/>
                <a:cs typeface="微软雅黑" panose="020B0503020204020204" charset="-122"/>
              </a:rPr>
              <a:t>shared_ptr</a:t>
            </a:r>
            <a:r>
              <a:rPr lang="zh-CN" altLang="en-US" sz="1600" spc="0" dirty="0">
                <a:solidFill>
                  <a:schemeClr val="tx1">
                    <a:lumMod val="65000"/>
                    <a:lumOff val="35000"/>
                  </a:schemeClr>
                </a:solidFill>
                <a:latin typeface="+mn-ea"/>
                <a:ea typeface="+mn-ea"/>
                <a:cs typeface="微软雅黑" panose="020B0503020204020204" charset="-122"/>
              </a:rPr>
              <a:t>的引用计数都会</a:t>
            </a:r>
            <a:r>
              <a:rPr lang="zh-CN" altLang="en-US" sz="1600" spc="0" dirty="0" smtClean="0">
                <a:solidFill>
                  <a:schemeClr val="tx1">
                    <a:lumMod val="65000"/>
                    <a:lumOff val="35000"/>
                  </a:schemeClr>
                </a:solidFill>
                <a:latin typeface="+mn-ea"/>
                <a:ea typeface="+mn-ea"/>
                <a:cs typeface="微软雅黑" panose="020B0503020204020204" charset="-122"/>
              </a:rPr>
              <a:t>记录指向</a:t>
            </a:r>
            <a:r>
              <a:rPr lang="zh-CN" altLang="en-US" sz="1600" spc="0" dirty="0">
                <a:solidFill>
                  <a:schemeClr val="tx1">
                    <a:lumMod val="65000"/>
                    <a:lumOff val="35000"/>
                  </a:schemeClr>
                </a:solidFill>
                <a:latin typeface="+mn-ea"/>
                <a:ea typeface="+mn-ea"/>
                <a:cs typeface="微软雅黑" panose="020B0503020204020204" charset="-122"/>
              </a:rPr>
              <a:t>该对象的</a:t>
            </a:r>
            <a:r>
              <a:rPr lang="en-US" altLang="zh-CN" sz="1600" spc="0" dirty="0" err="1">
                <a:solidFill>
                  <a:schemeClr val="tx1">
                    <a:lumMod val="65000"/>
                    <a:lumOff val="35000"/>
                  </a:schemeClr>
                </a:solidFill>
                <a:latin typeface="+mn-ea"/>
                <a:ea typeface="+mn-ea"/>
                <a:cs typeface="微软雅黑" panose="020B0503020204020204" charset="-122"/>
              </a:rPr>
              <a:t>shared_ptr</a:t>
            </a:r>
            <a:r>
              <a:rPr lang="zh-CN" altLang="en-US" sz="1600" spc="0" dirty="0" smtClean="0">
                <a:solidFill>
                  <a:schemeClr val="tx1">
                    <a:lumMod val="65000"/>
                    <a:lumOff val="35000"/>
                  </a:schemeClr>
                </a:solidFill>
                <a:latin typeface="+mn-ea"/>
                <a:ea typeface="+mn-ea"/>
                <a:cs typeface="微软雅黑" panose="020B0503020204020204" charset="-122"/>
              </a:rPr>
              <a:t>的数量，</a:t>
            </a:r>
            <a:r>
              <a:rPr lang="zh-CN" altLang="en-US" sz="1600" spc="0" dirty="0" smtClean="0">
                <a:solidFill>
                  <a:schemeClr val="tx1">
                    <a:lumMod val="65000"/>
                    <a:lumOff val="35000"/>
                  </a:schemeClr>
                </a:solidFill>
                <a:latin typeface="+mn-ea"/>
                <a:ea typeface="+mn-ea"/>
              </a:rPr>
              <a:t>当</a:t>
            </a:r>
            <a:r>
              <a:rPr lang="zh-CN" altLang="en-US" sz="1600" spc="0" dirty="0">
                <a:solidFill>
                  <a:schemeClr val="tx1">
                    <a:lumMod val="65000"/>
                    <a:lumOff val="35000"/>
                  </a:schemeClr>
                </a:solidFill>
                <a:latin typeface="+mn-ea"/>
                <a:ea typeface="+mn-ea"/>
              </a:rPr>
              <a:t>最后一个指向对象（和共享计数）的 </a:t>
            </a:r>
            <a:r>
              <a:rPr lang="en-US" altLang="zh-CN" sz="1600" spc="0" dirty="0" err="1">
                <a:solidFill>
                  <a:schemeClr val="tx1">
                    <a:lumMod val="65000"/>
                    <a:lumOff val="35000"/>
                  </a:schemeClr>
                </a:solidFill>
                <a:latin typeface="+mn-ea"/>
                <a:ea typeface="+mn-ea"/>
              </a:rPr>
              <a:t>shared_ptr</a:t>
            </a:r>
            <a:r>
              <a:rPr lang="en-US" altLang="zh-CN" sz="1600" spc="0" dirty="0">
                <a:solidFill>
                  <a:schemeClr val="tx1">
                    <a:lumMod val="65000"/>
                    <a:lumOff val="35000"/>
                  </a:schemeClr>
                </a:solidFill>
                <a:latin typeface="+mn-ea"/>
                <a:ea typeface="+mn-ea"/>
              </a:rPr>
              <a:t> </a:t>
            </a:r>
            <a:r>
              <a:rPr lang="zh-CN" altLang="en-US" sz="1600" spc="0" dirty="0">
                <a:solidFill>
                  <a:schemeClr val="tx1">
                    <a:lumMod val="65000"/>
                    <a:lumOff val="35000"/>
                  </a:schemeClr>
                </a:solidFill>
                <a:latin typeface="+mn-ea"/>
                <a:ea typeface="+mn-ea"/>
              </a:rPr>
              <a:t>析构时，</a:t>
            </a:r>
            <a:r>
              <a:rPr lang="zh-CN" altLang="en-US" sz="1600" spc="0" dirty="0" smtClean="0">
                <a:solidFill>
                  <a:schemeClr val="tx1">
                    <a:lumMod val="65000"/>
                    <a:lumOff val="35000"/>
                  </a:schemeClr>
                </a:solidFill>
                <a:latin typeface="+mn-ea"/>
                <a:ea typeface="+mn-ea"/>
              </a:rPr>
              <a:t>它</a:t>
            </a:r>
            <a:r>
              <a:rPr lang="zh-CN" altLang="en-US" sz="1600" spc="0" dirty="0">
                <a:solidFill>
                  <a:schemeClr val="tx1">
                    <a:lumMod val="65000"/>
                    <a:lumOff val="35000"/>
                  </a:schemeClr>
                </a:solidFill>
                <a:latin typeface="+mn-ea"/>
                <a:ea typeface="+mn-ea"/>
              </a:rPr>
              <a:t>会</a:t>
            </a:r>
            <a:r>
              <a:rPr lang="zh-CN" altLang="en-US" sz="1600" spc="0" dirty="0" smtClean="0">
                <a:solidFill>
                  <a:schemeClr val="tx1">
                    <a:lumMod val="65000"/>
                    <a:lumOff val="35000"/>
                  </a:schemeClr>
                </a:solidFill>
                <a:latin typeface="+mn-ea"/>
                <a:ea typeface="+mn-ea"/>
              </a:rPr>
              <a:t>删除</a:t>
            </a:r>
            <a:r>
              <a:rPr lang="zh-CN" altLang="en-US" sz="1600" spc="0" dirty="0">
                <a:solidFill>
                  <a:schemeClr val="tx1">
                    <a:lumMod val="65000"/>
                    <a:lumOff val="35000"/>
                  </a:schemeClr>
                </a:solidFill>
                <a:latin typeface="+mn-ea"/>
                <a:ea typeface="+mn-ea"/>
              </a:rPr>
              <a:t>对象和共享</a:t>
            </a:r>
            <a:r>
              <a:rPr lang="zh-CN" altLang="en-US" sz="1600" spc="0" dirty="0" smtClean="0">
                <a:solidFill>
                  <a:schemeClr val="tx1">
                    <a:lumMod val="65000"/>
                    <a:lumOff val="35000"/>
                  </a:schemeClr>
                </a:solidFill>
                <a:latin typeface="+mn-ea"/>
                <a:ea typeface="+mn-ea"/>
              </a:rPr>
              <a:t>计数，通过</a:t>
            </a:r>
            <a:r>
              <a:rPr lang="en-US" altLang="zh-CN" sz="1600" spc="0" dirty="0" err="1" smtClean="0">
                <a:solidFill>
                  <a:schemeClr val="tx1">
                    <a:lumMod val="65000"/>
                    <a:lumOff val="35000"/>
                  </a:schemeClr>
                </a:solidFill>
                <a:latin typeface="+mn-ea"/>
                <a:ea typeface="+mn-ea"/>
              </a:rPr>
              <a:t>use_count</a:t>
            </a:r>
            <a:r>
              <a:rPr lang="zh-CN" altLang="en-US" sz="1600" spc="0" dirty="0" smtClean="0">
                <a:solidFill>
                  <a:schemeClr val="tx1">
                    <a:lumMod val="65000"/>
                    <a:lumOff val="35000"/>
                  </a:schemeClr>
                </a:solidFill>
                <a:latin typeface="+mn-ea"/>
                <a:ea typeface="+mn-ea"/>
              </a:rPr>
              <a:t>方法可以获取</a:t>
            </a:r>
            <a:r>
              <a:rPr lang="en-US" altLang="zh-CN" sz="1600" spc="0" dirty="0" err="1" smtClean="0">
                <a:solidFill>
                  <a:schemeClr val="tx1">
                    <a:lumMod val="65000"/>
                    <a:lumOff val="35000"/>
                  </a:schemeClr>
                </a:solidFill>
                <a:latin typeface="+mn-ea"/>
                <a:ea typeface="+mn-ea"/>
              </a:rPr>
              <a:t>shared_ptr</a:t>
            </a:r>
            <a:r>
              <a:rPr lang="zh-CN" altLang="en-US" sz="1600" spc="0" dirty="0" smtClean="0">
                <a:solidFill>
                  <a:schemeClr val="tx1">
                    <a:lumMod val="65000"/>
                    <a:lumOff val="35000"/>
                  </a:schemeClr>
                </a:solidFill>
                <a:latin typeface="+mn-ea"/>
                <a:ea typeface="+mn-ea"/>
              </a:rPr>
              <a:t>对象的共享计数值</a:t>
            </a:r>
            <a:endParaRPr lang="zh-CN" altLang="en-US" sz="1600" spc="0" dirty="0">
              <a:solidFill>
                <a:schemeClr val="tx1">
                  <a:lumMod val="65000"/>
                  <a:lumOff val="35000"/>
                </a:schemeClr>
              </a:solidFill>
              <a:latin typeface="+mn-ea"/>
              <a:ea typeface="+mn-ea"/>
              <a:cs typeface="微软雅黑" panose="020B0503020204020204" charset="-122"/>
            </a:endParaRPr>
          </a:p>
          <a:p>
            <a:pPr marL="0" indent="0">
              <a:lnSpc>
                <a:spcPct val="150000"/>
              </a:lnSpc>
              <a:buFont typeface="+mj-lt"/>
              <a:buNone/>
            </a:pPr>
            <a:endParaRPr lang="zh-CN" altLang="en-US" spc="0" dirty="0">
              <a:solidFill>
                <a:schemeClr val="tx1">
                  <a:lumMod val="65000"/>
                  <a:lumOff val="35000"/>
                </a:schemeClr>
              </a:solidFill>
              <a:latin typeface="微软雅黑" panose="020B0503020204020204" charset="-122"/>
              <a:cs typeface="微软雅黑" panose="020B0503020204020204" charset="-122"/>
            </a:endParaRPr>
          </a:p>
        </p:txBody>
      </p:sp>
      <p:sp>
        <p:nvSpPr>
          <p:cNvPr id="4" name="矩形 3"/>
          <p:cNvSpPr/>
          <p:nvPr/>
        </p:nvSpPr>
        <p:spPr>
          <a:xfrm>
            <a:off x="1907704" y="3212976"/>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err="1"/>
              <a:t>s</a:t>
            </a:r>
            <a:r>
              <a:rPr lang="en-US" altLang="zh-CN" sz="900" dirty="0" err="1" smtClean="0"/>
              <a:t>hared_ptr</a:t>
            </a:r>
            <a:endParaRPr lang="en-US" altLang="zh-CN" sz="900" dirty="0" smtClean="0"/>
          </a:p>
        </p:txBody>
      </p:sp>
      <p:sp>
        <p:nvSpPr>
          <p:cNvPr id="14" name="矩形 13"/>
          <p:cNvSpPr/>
          <p:nvPr/>
        </p:nvSpPr>
        <p:spPr>
          <a:xfrm>
            <a:off x="5004048" y="3212976"/>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t>shared_ptr</a:t>
            </a:r>
            <a:endParaRPr lang="en-US" altLang="zh-CN" sz="1050" dirty="0"/>
          </a:p>
        </p:txBody>
      </p:sp>
      <p:sp>
        <p:nvSpPr>
          <p:cNvPr id="5" name="矩形 4"/>
          <p:cNvSpPr/>
          <p:nvPr/>
        </p:nvSpPr>
        <p:spPr>
          <a:xfrm>
            <a:off x="3635896" y="4077072"/>
            <a:ext cx="792088" cy="2880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050" dirty="0" smtClean="0">
                <a:solidFill>
                  <a:schemeClr val="tx1"/>
                </a:solidFill>
              </a:rPr>
              <a:t>共享计数</a:t>
            </a:r>
            <a:endParaRPr lang="zh-CN" altLang="en-US" sz="1050" dirty="0">
              <a:solidFill>
                <a:schemeClr val="tx1"/>
              </a:solidFill>
            </a:endParaRPr>
          </a:p>
        </p:txBody>
      </p:sp>
      <p:sp>
        <p:nvSpPr>
          <p:cNvPr id="6" name="矩形 5"/>
          <p:cNvSpPr/>
          <p:nvPr/>
        </p:nvSpPr>
        <p:spPr>
          <a:xfrm>
            <a:off x="3635896" y="4653136"/>
            <a:ext cx="79208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对象</a:t>
            </a:r>
            <a:endParaRPr lang="zh-CN" altLang="en-US" sz="1100" dirty="0"/>
          </a:p>
        </p:txBody>
      </p:sp>
      <p:cxnSp>
        <p:nvCxnSpPr>
          <p:cNvPr id="8" name="曲线连接符 7"/>
          <p:cNvCxnSpPr/>
          <p:nvPr/>
        </p:nvCxnSpPr>
        <p:spPr>
          <a:xfrm>
            <a:off x="2357778" y="3532988"/>
            <a:ext cx="1206110" cy="6881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a:endCxn id="5" idx="3"/>
          </p:cNvCxnSpPr>
          <p:nvPr/>
        </p:nvCxnSpPr>
        <p:spPr>
          <a:xfrm rot="10800000" flipV="1">
            <a:off x="4427984" y="3568318"/>
            <a:ext cx="1044116" cy="65277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p:nvPr/>
        </p:nvCxnSpPr>
        <p:spPr>
          <a:xfrm>
            <a:off x="2032337" y="3532988"/>
            <a:ext cx="1531551" cy="1228160"/>
          </a:xfrm>
          <a:prstGeom prst="curvedConnector3">
            <a:avLst>
              <a:gd name="adj1" fmla="val 5000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2" name="曲线连接符 21"/>
          <p:cNvCxnSpPr>
            <a:endCxn id="6" idx="3"/>
          </p:cNvCxnSpPr>
          <p:nvPr/>
        </p:nvCxnSpPr>
        <p:spPr>
          <a:xfrm rot="10800000" flipV="1">
            <a:off x="4427984" y="3568318"/>
            <a:ext cx="1224136" cy="1192830"/>
          </a:xfrm>
          <a:prstGeom prst="curved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文本框 36"/>
          <p:cNvSpPr txBox="1"/>
          <p:nvPr/>
        </p:nvSpPr>
        <p:spPr>
          <a:xfrm>
            <a:off x="5501007" y="4307468"/>
            <a:ext cx="2779395" cy="1123384"/>
          </a:xfrm>
          <a:prstGeom prst="rect">
            <a:avLst/>
          </a:prstGeom>
          <a:noFill/>
        </p:spPr>
        <p:txBody>
          <a:bodyPr wrap="square" rtlCol="0">
            <a:spAutoFit/>
          </a:bodyPr>
          <a:lstStyle/>
          <a:p>
            <a:pPr>
              <a:lnSpc>
                <a:spcPct val="130000"/>
              </a:lnSpc>
            </a:pPr>
            <a:r>
              <a:rPr lang="zh-CN" altLang="en-US" sz="1000" b="1" dirty="0" smtClean="0">
                <a:solidFill>
                  <a:srgbClr val="C00000"/>
                </a:solidFill>
                <a:sym typeface="+mn-ea"/>
              </a:rPr>
              <a:t>避免</a:t>
            </a:r>
            <a:r>
              <a:rPr lang="zh-CN" altLang="en-US" sz="1000" b="1" dirty="0">
                <a:solidFill>
                  <a:srgbClr val="C00000"/>
                </a:solidFill>
                <a:sym typeface="+mn-ea"/>
              </a:rPr>
              <a:t>通过同一个裸指针创建多个shared_ptr对象</a:t>
            </a:r>
            <a:endParaRPr lang="zh-CN" altLang="en-US" sz="1000" dirty="0">
              <a:solidFill>
                <a:srgbClr val="C00000"/>
              </a:solidFill>
              <a:sym typeface="+mn-ea"/>
            </a:endParaRPr>
          </a:p>
          <a:p>
            <a:endParaRPr lang="zh-CN" altLang="en-US" sz="1200" dirty="0">
              <a:solidFill>
                <a:srgbClr val="C00000"/>
              </a:solidFill>
              <a:sym typeface="+mn-ea"/>
            </a:endParaRPr>
          </a:p>
          <a:p>
            <a:pPr>
              <a:lnSpc>
                <a:spcPct val="140000"/>
              </a:lnSpc>
            </a:pPr>
            <a:r>
              <a:rPr lang="zh-CN" altLang="en-US" sz="1000" b="1" dirty="0">
                <a:solidFill>
                  <a:srgbClr val="C00000"/>
                </a:solidFill>
                <a:sym typeface="+mn-ea"/>
              </a:rPr>
              <a:t>避免通过</a:t>
            </a:r>
            <a:r>
              <a:rPr lang="en-US" altLang="zh-CN" sz="1000" b="1" dirty="0">
                <a:solidFill>
                  <a:srgbClr val="C00000"/>
                </a:solidFill>
                <a:sym typeface="+mn-ea"/>
              </a:rPr>
              <a:t>this</a:t>
            </a:r>
            <a:r>
              <a:rPr lang="zh-CN" altLang="en-US" sz="1000" b="1" dirty="0">
                <a:solidFill>
                  <a:srgbClr val="C00000"/>
                </a:solidFill>
                <a:sym typeface="+mn-ea"/>
              </a:rPr>
              <a:t>指针创建</a:t>
            </a:r>
            <a:r>
              <a:rPr lang="en-US" altLang="zh-CN" sz="1000" b="1" dirty="0" err="1">
                <a:solidFill>
                  <a:srgbClr val="C00000"/>
                </a:solidFill>
                <a:sym typeface="+mn-ea"/>
              </a:rPr>
              <a:t>shared_ptr</a:t>
            </a:r>
            <a:r>
              <a:rPr lang="zh-CN" altLang="en-US" sz="1000" b="1" dirty="0">
                <a:solidFill>
                  <a:srgbClr val="C00000"/>
                </a:solidFill>
                <a:sym typeface="+mn-ea"/>
              </a:rPr>
              <a:t>对象</a:t>
            </a:r>
            <a:endParaRPr lang="zh-CN" altLang="en-US" sz="1000" b="1" dirty="0">
              <a:solidFill>
                <a:srgbClr val="C00000"/>
              </a:solidFill>
              <a:sym typeface="+mn-ea"/>
            </a:endParaRPr>
          </a:p>
          <a:p>
            <a:pPr>
              <a:lnSpc>
                <a:spcPct val="150000"/>
              </a:lnSpc>
            </a:pPr>
            <a:endParaRPr lang="zh-CN" altLang="en-US" sz="1000" b="1" dirty="0">
              <a:solidFill>
                <a:srgbClr val="C00000"/>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ppt_y</p:attrName>
                                        </p:attrNameLst>
                                      </p:cBhvr>
                                      <p:tavLst>
                                        <p:tav tm="0">
                                          <p:val>
                                            <p:strVal val="#ppt_y+#ppt_h*1.125000"/>
                                          </p:val>
                                        </p:tav>
                                        <p:tav tm="100000">
                                          <p:val>
                                            <p:strVal val="#ppt_y"/>
                                          </p:val>
                                        </p:tav>
                                      </p:tavLst>
                                    </p:anim>
                                    <p:animEffect transition="in" filter="wipe(up)">
                                      <p:cBhvr>
                                        <p:cTn id="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700" dirty="0" err="1">
                <a:latin typeface="微软雅黑" panose="020B0503020204020204" charset="-122"/>
                <a:cs typeface="微软雅黑" panose="020B0503020204020204" charset="-122"/>
              </a:rPr>
              <a:t>shared_ptr</a:t>
            </a:r>
            <a:r>
              <a:rPr lang="zh-CN" altLang="en-US" sz="2700" dirty="0">
                <a:latin typeface="微软雅黑" panose="020B0503020204020204" charset="-122"/>
                <a:cs typeface="微软雅黑" panose="020B0503020204020204" charset="-122"/>
              </a:rPr>
              <a:t>的细节</a:t>
            </a:r>
            <a:endParaRPr lang="zh-CN" altLang="en-US" sz="2700" dirty="0">
              <a:latin typeface="微软雅黑" panose="020B0503020204020204" charset="-122"/>
              <a:cs typeface="微软雅黑" panose="020B0503020204020204" charset="-122"/>
            </a:endParaRPr>
          </a:p>
        </p:txBody>
      </p:sp>
      <p:sp>
        <p:nvSpPr>
          <p:cNvPr id="3" name="内容占位符 2"/>
          <p:cNvSpPr>
            <a:spLocks noGrp="1"/>
          </p:cNvSpPr>
          <p:nvPr>
            <p:ph idx="1"/>
          </p:nvPr>
        </p:nvSpPr>
        <p:spPr/>
        <p:txBody>
          <a:bodyPr/>
          <a:lstStyle/>
          <a:p>
            <a:pPr marL="0" indent="0">
              <a:buNone/>
            </a:pPr>
            <a:endParaRPr lang="en-US" altLang="zh-CN" dirty="0"/>
          </a:p>
          <a:p>
            <a:pPr>
              <a:lnSpc>
                <a:spcPct val="150000"/>
              </a:lnSpc>
            </a:pPr>
            <a:r>
              <a:rPr sz="1600" spc="0" dirty="0">
                <a:solidFill>
                  <a:schemeClr val="tx1">
                    <a:lumMod val="65000"/>
                    <a:lumOff val="35000"/>
                  </a:schemeClr>
                </a:solidFill>
                <a:latin typeface="微软雅黑" panose="020B0503020204020204" charset="-122"/>
                <a:cs typeface="微软雅黑" panose="020B0503020204020204" charset="-122"/>
              </a:rPr>
              <a:t>std::shared_ptr</a:t>
            </a:r>
            <a:r>
              <a:rPr lang="zh-CN" altLang="en-US" sz="1600" spc="0" dirty="0">
                <a:solidFill>
                  <a:schemeClr val="tx1">
                    <a:lumMod val="65000"/>
                    <a:lumOff val="35000"/>
                  </a:schemeClr>
                </a:solidFill>
                <a:latin typeface="微软雅黑" panose="020B0503020204020204" charset="-122"/>
                <a:cs typeface="微软雅黑" panose="020B0503020204020204" charset="-122"/>
              </a:rPr>
              <a:t>的尺寸大于裸指针</a:t>
            </a:r>
            <a:r>
              <a:rPr sz="1600" spc="0" dirty="0">
                <a:solidFill>
                  <a:schemeClr val="tx1">
                    <a:lumMod val="65000"/>
                    <a:lumOff val="35000"/>
                  </a:schemeClr>
                </a:solidFill>
                <a:latin typeface="微软雅黑" panose="020B0503020204020204" charset="-122"/>
                <a:cs typeface="微软雅黑" panose="020B0503020204020204" charset="-122"/>
              </a:rPr>
              <a:t>,</a:t>
            </a:r>
            <a:r>
              <a:rPr lang="zh-CN" altLang="en-US" sz="1600" spc="0" dirty="0">
                <a:solidFill>
                  <a:schemeClr val="tx1">
                    <a:lumMod val="65000"/>
                    <a:lumOff val="35000"/>
                  </a:schemeClr>
                </a:solidFill>
                <a:latin typeface="微软雅黑" panose="020B0503020204020204" charset="-122"/>
                <a:cs typeface="微软雅黑" panose="020B0503020204020204" charset="-122"/>
              </a:rPr>
              <a:t>一般是裸指针的</a:t>
            </a:r>
            <a:r>
              <a:rPr lang="zh-CN" altLang="en-US" sz="1600" spc="0" dirty="0" smtClean="0">
                <a:solidFill>
                  <a:schemeClr val="tx1">
                    <a:lumMod val="65000"/>
                    <a:lumOff val="35000"/>
                  </a:schemeClr>
                </a:solidFill>
                <a:latin typeface="微软雅黑" panose="020B0503020204020204" charset="-122"/>
                <a:cs typeface="微软雅黑" panose="020B0503020204020204" charset="-122"/>
              </a:rPr>
              <a:t>两倍</a:t>
            </a:r>
            <a:r>
              <a:rPr lang="zh-CN" altLang="en-US" sz="1600" spc="0" dirty="0">
                <a:solidFill>
                  <a:schemeClr val="tx1">
                    <a:lumMod val="65000"/>
                    <a:lumOff val="35000"/>
                  </a:schemeClr>
                </a:solidFill>
                <a:latin typeface="微软雅黑" panose="020B0503020204020204" charset="-122"/>
                <a:cs typeface="微软雅黑" panose="020B0503020204020204" charset="-122"/>
              </a:rPr>
              <a:t>，</a:t>
            </a:r>
            <a:r>
              <a:rPr lang="zh-CN" altLang="en-US" sz="1600" spc="0" dirty="0" smtClean="0">
                <a:solidFill>
                  <a:schemeClr val="tx1">
                    <a:lumMod val="65000"/>
                    <a:lumOff val="35000"/>
                  </a:schemeClr>
                </a:solidFill>
                <a:latin typeface="微软雅黑" panose="020B0503020204020204" charset="-122"/>
                <a:cs typeface="微软雅黑" panose="020B0503020204020204" charset="-122"/>
              </a:rPr>
              <a:t>因为</a:t>
            </a:r>
            <a:r>
              <a:rPr lang="zh-CN" altLang="en-US" sz="1600" spc="0" dirty="0">
                <a:solidFill>
                  <a:schemeClr val="tx1">
                    <a:lumMod val="65000"/>
                    <a:lumOff val="35000"/>
                  </a:schemeClr>
                </a:solidFill>
                <a:latin typeface="微软雅黑" panose="020B0503020204020204" charset="-122"/>
                <a:cs typeface="微软雅黑" panose="020B0503020204020204" charset="-122"/>
              </a:rPr>
              <a:t>它</a:t>
            </a:r>
            <a:r>
              <a:rPr lang="zh-CN" altLang="en-US" sz="1600" spc="0" dirty="0" smtClean="0">
                <a:solidFill>
                  <a:schemeClr val="tx1">
                    <a:lumMod val="65000"/>
                    <a:lumOff val="35000"/>
                  </a:schemeClr>
                </a:solidFill>
                <a:latin typeface="微软雅黑" panose="020B0503020204020204" charset="-122"/>
                <a:cs typeface="微软雅黑" panose="020B0503020204020204" charset="-122"/>
              </a:rPr>
              <a:t>内部既包含</a:t>
            </a:r>
            <a:r>
              <a:rPr lang="zh-CN" altLang="en-US" sz="1600" spc="0" dirty="0">
                <a:solidFill>
                  <a:schemeClr val="tx1">
                    <a:lumMod val="65000"/>
                    <a:lumOff val="35000"/>
                  </a:schemeClr>
                </a:solidFill>
                <a:latin typeface="微软雅黑" panose="020B0503020204020204" charset="-122"/>
                <a:cs typeface="微软雅黑" panose="020B0503020204020204" charset="-122"/>
              </a:rPr>
              <a:t>一个指向到资源的裸指针</a:t>
            </a:r>
            <a:r>
              <a:rPr sz="1600" spc="0" dirty="0">
                <a:solidFill>
                  <a:schemeClr val="tx1">
                    <a:lumMod val="65000"/>
                    <a:lumOff val="35000"/>
                  </a:schemeClr>
                </a:solidFill>
                <a:latin typeface="微软雅黑" panose="020B0503020204020204" charset="-122"/>
                <a:cs typeface="微软雅黑" panose="020B0503020204020204" charset="-122"/>
              </a:rPr>
              <a:t>,</a:t>
            </a:r>
            <a:r>
              <a:rPr lang="zh-CN" altLang="en-US" sz="1600" spc="0" dirty="0">
                <a:solidFill>
                  <a:schemeClr val="tx1">
                    <a:lumMod val="65000"/>
                    <a:lumOff val="35000"/>
                  </a:schemeClr>
                </a:solidFill>
                <a:latin typeface="微软雅黑" panose="020B0503020204020204" charset="-122"/>
                <a:cs typeface="微软雅黑" panose="020B0503020204020204" charset="-122"/>
              </a:rPr>
              <a:t>也包含一个指向该资源的引用计数的裸指针</a:t>
            </a:r>
            <a:endParaRPr lang="en-US" altLang="zh-CN" sz="1600" dirty="0">
              <a:latin typeface="微软雅黑" panose="020B0503020204020204" charset="-122"/>
              <a:cs typeface="微软雅黑" panose="020B0503020204020204" charset="-122"/>
            </a:endParaRPr>
          </a:p>
          <a:p>
            <a:pPr>
              <a:lnSpc>
                <a:spcPct val="150000"/>
              </a:lnSpc>
            </a:pPr>
            <a:r>
              <a:rPr lang="zh-CN" altLang="en-US" sz="1600" spc="0" dirty="0">
                <a:solidFill>
                  <a:schemeClr val="tx1">
                    <a:lumMod val="65000"/>
                    <a:lumOff val="35000"/>
                  </a:schemeClr>
                </a:solidFill>
                <a:latin typeface="微软雅黑" panose="020B0503020204020204" charset="-122"/>
                <a:cs typeface="微软雅黑" panose="020B0503020204020204" charset="-122"/>
              </a:rPr>
              <a:t>引用计数的内存是动态分配的</a:t>
            </a:r>
            <a:endParaRPr sz="1600" spc="0" dirty="0">
              <a:solidFill>
                <a:schemeClr val="tx1">
                  <a:lumMod val="65000"/>
                  <a:lumOff val="35000"/>
                </a:schemeClr>
              </a:solidFill>
              <a:latin typeface="微软雅黑" panose="020B0503020204020204" charset="-122"/>
              <a:cs typeface="微软雅黑" panose="020B0503020204020204" charset="-122"/>
            </a:endParaRPr>
          </a:p>
          <a:p>
            <a:pPr>
              <a:lnSpc>
                <a:spcPct val="150000"/>
              </a:lnSpc>
            </a:pPr>
            <a:r>
              <a:rPr lang="zh-CN" altLang="en-US" sz="1600" spc="0" dirty="0">
                <a:solidFill>
                  <a:schemeClr val="tx1">
                    <a:lumMod val="65000"/>
                    <a:lumOff val="35000"/>
                  </a:schemeClr>
                </a:solidFill>
                <a:latin typeface="微软雅黑" panose="020B0503020204020204" charset="-122"/>
                <a:cs typeface="微软雅黑" panose="020B0503020204020204" charset="-122"/>
              </a:rPr>
              <a:t>引用计数的递增和递减是原子</a:t>
            </a:r>
            <a:r>
              <a:rPr lang="zh-CN" altLang="en-US" sz="1600" spc="0" dirty="0" smtClean="0">
                <a:solidFill>
                  <a:schemeClr val="tx1">
                    <a:lumMod val="65000"/>
                    <a:lumOff val="35000"/>
                  </a:schemeClr>
                </a:solidFill>
                <a:latin typeface="微软雅黑" panose="020B0503020204020204" charset="-122"/>
                <a:cs typeface="微软雅黑" panose="020B0503020204020204" charset="-122"/>
              </a:rPr>
              <a:t>操作</a:t>
            </a:r>
            <a:endParaRPr lang="zh-CN" altLang="en-US" spc="0" dirty="0">
              <a:solidFill>
                <a:schemeClr val="tx1">
                  <a:lumMod val="65000"/>
                  <a:lumOff val="35000"/>
                </a:schemeClr>
              </a:solidFill>
              <a:latin typeface="微软雅黑" panose="020B0503020204020204" charset="-122"/>
              <a:cs typeface="微软雅黑" panose="020B0503020204020204" charset="-122"/>
            </a:endParaRPr>
          </a:p>
          <a:p>
            <a:pPr marL="0" indent="0">
              <a:lnSpc>
                <a:spcPct val="150000"/>
              </a:lnSpc>
              <a:buFont typeface="+mj-lt"/>
              <a:buNone/>
            </a:pPr>
            <a:endParaRPr lang="zh-CN" altLang="en-US" spc="0" dirty="0">
              <a:solidFill>
                <a:schemeClr val="tx1">
                  <a:lumMod val="65000"/>
                  <a:lumOff val="35000"/>
                </a:schemeClr>
              </a:solidFill>
              <a:latin typeface="微软雅黑" panose="020B0503020204020204" charset="-122"/>
              <a:cs typeface="微软雅黑" panose="020B0503020204020204" charset="-122"/>
            </a:endParaRPr>
          </a:p>
        </p:txBody>
      </p:sp>
      <p:sp>
        <p:nvSpPr>
          <p:cNvPr id="10" name="矩形 9"/>
          <p:cNvSpPr/>
          <p:nvPr/>
        </p:nvSpPr>
        <p:spPr>
          <a:xfrm>
            <a:off x="3782189" y="5574764"/>
            <a:ext cx="1656184"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100" b="1" dirty="0"/>
              <a:t>其它</a:t>
            </a:r>
            <a:endParaRPr lang="zh-CN" altLang="en-US" sz="1100" b="1" dirty="0"/>
          </a:p>
        </p:txBody>
      </p:sp>
      <p:cxnSp>
        <p:nvCxnSpPr>
          <p:cNvPr id="13" name="直接箭头连接符 12"/>
          <p:cNvCxnSpPr/>
          <p:nvPr/>
        </p:nvCxnSpPr>
        <p:spPr>
          <a:xfrm>
            <a:off x="1654778" y="4104526"/>
            <a:ext cx="2124075" cy="99949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 name="直接箭头连接符 15"/>
          <p:cNvCxnSpPr/>
          <p:nvPr/>
        </p:nvCxnSpPr>
        <p:spPr>
          <a:xfrm>
            <a:off x="2414290" y="3688988"/>
            <a:ext cx="136815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矩形 37"/>
          <p:cNvSpPr/>
          <p:nvPr/>
        </p:nvSpPr>
        <p:spPr>
          <a:xfrm>
            <a:off x="3782189" y="5287367"/>
            <a:ext cx="165618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100" b="1" dirty="0"/>
              <a:t>弱计数</a:t>
            </a:r>
            <a:endParaRPr lang="zh-CN" altLang="en-US" sz="1100" b="1" dirty="0"/>
          </a:p>
        </p:txBody>
      </p:sp>
      <p:sp>
        <p:nvSpPr>
          <p:cNvPr id="40" name="矩形 39"/>
          <p:cNvSpPr/>
          <p:nvPr/>
        </p:nvSpPr>
        <p:spPr>
          <a:xfrm>
            <a:off x="3778632" y="3413692"/>
            <a:ext cx="1585456" cy="46804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对象</a:t>
            </a:r>
            <a:endParaRPr lang="zh-CN" altLang="en-US" dirty="0"/>
          </a:p>
        </p:txBody>
      </p:sp>
      <p:sp>
        <p:nvSpPr>
          <p:cNvPr id="41" name="矩形 40"/>
          <p:cNvSpPr/>
          <p:nvPr/>
        </p:nvSpPr>
        <p:spPr>
          <a:xfrm>
            <a:off x="3782189" y="4999335"/>
            <a:ext cx="165618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t>引用计数</a:t>
            </a:r>
            <a:endParaRPr lang="zh-CN" altLang="en-US" sz="900" b="1" dirty="0"/>
          </a:p>
        </p:txBody>
      </p:sp>
      <p:sp>
        <p:nvSpPr>
          <p:cNvPr id="42" name="矩形 41"/>
          <p:cNvSpPr/>
          <p:nvPr/>
        </p:nvSpPr>
        <p:spPr>
          <a:xfrm>
            <a:off x="758106" y="3784744"/>
            <a:ext cx="165618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100" b="1" dirty="0"/>
              <a:t>指向控制块的指针</a:t>
            </a:r>
            <a:endParaRPr lang="zh-CN" altLang="en-US" sz="1100" b="1" dirty="0"/>
          </a:p>
        </p:txBody>
      </p:sp>
      <p:sp>
        <p:nvSpPr>
          <p:cNvPr id="43" name="矩形 42"/>
          <p:cNvSpPr/>
          <p:nvPr/>
        </p:nvSpPr>
        <p:spPr>
          <a:xfrm>
            <a:off x="758106" y="3503697"/>
            <a:ext cx="165618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t>指向所管理对象的指针</a:t>
            </a:r>
            <a:endParaRPr lang="zh-CN" altLang="en-US" sz="1050" b="1" dirty="0"/>
          </a:p>
        </p:txBody>
      </p:sp>
      <p:sp>
        <p:nvSpPr>
          <p:cNvPr id="4" name="文本框 3"/>
          <p:cNvSpPr txBox="1"/>
          <p:nvPr/>
        </p:nvSpPr>
        <p:spPr>
          <a:xfrm>
            <a:off x="5722856" y="2564904"/>
            <a:ext cx="2881591" cy="1962076"/>
          </a:xfrm>
          <a:prstGeom prst="rect">
            <a:avLst/>
          </a:prstGeom>
          <a:noFill/>
        </p:spPr>
        <p:txBody>
          <a:bodyPr wrap="square" rtlCol="0">
            <a:spAutoFit/>
          </a:bodyPr>
          <a:lstStyle/>
          <a:p>
            <a:r>
              <a:rPr lang="zh-CN" altLang="en-US" sz="900" b="1" dirty="0">
                <a:solidFill>
                  <a:srgbClr val="C00000"/>
                </a:solidFill>
                <a:latin typeface="+mn-ea"/>
              </a:rPr>
              <a:t>控制块的</a:t>
            </a:r>
            <a:r>
              <a:rPr lang="zh-CN" altLang="en-US" sz="900" b="1" dirty="0" smtClean="0">
                <a:solidFill>
                  <a:srgbClr val="C00000"/>
                </a:solidFill>
                <a:latin typeface="+mn-ea"/>
              </a:rPr>
              <a:t>创建</a:t>
            </a:r>
            <a:r>
              <a:rPr lang="en-US" altLang="zh-CN" sz="900" b="1" dirty="0" smtClean="0">
                <a:solidFill>
                  <a:srgbClr val="C00000"/>
                </a:solidFill>
                <a:latin typeface="+mn-ea"/>
              </a:rPr>
              <a:t>:</a:t>
            </a:r>
            <a:endParaRPr lang="en-US" altLang="zh-CN" sz="900" b="1" dirty="0" smtClean="0">
              <a:solidFill>
                <a:srgbClr val="C00000"/>
              </a:solidFill>
              <a:latin typeface="+mn-ea"/>
            </a:endParaRPr>
          </a:p>
          <a:p>
            <a:endParaRPr lang="en-US" altLang="zh-CN" sz="900" b="1" dirty="0" smtClean="0">
              <a:solidFill>
                <a:srgbClr val="C00000"/>
              </a:solidFill>
              <a:latin typeface="+mn-ea"/>
            </a:endParaRPr>
          </a:p>
          <a:p>
            <a:pPr marL="171450" indent="-171450">
              <a:lnSpc>
                <a:spcPct val="150000"/>
              </a:lnSpc>
              <a:buFont typeface="Arial" panose="020B0604020202020204" pitchFamily="34" charset="0"/>
              <a:buChar char="•"/>
            </a:pPr>
            <a:r>
              <a:rPr lang="en-US" altLang="zh-CN" sz="900" b="1" dirty="0" err="1">
                <a:solidFill>
                  <a:srgbClr val="C00000"/>
                </a:solidFill>
                <a:latin typeface="+mn-ea"/>
              </a:rPr>
              <a:t>std</a:t>
            </a:r>
            <a:r>
              <a:rPr lang="en-US" altLang="zh-CN" sz="900" b="1" dirty="0">
                <a:solidFill>
                  <a:srgbClr val="C00000"/>
                </a:solidFill>
                <a:latin typeface="+mn-ea"/>
              </a:rPr>
              <a:t>::</a:t>
            </a:r>
            <a:r>
              <a:rPr lang="en-US" altLang="zh-CN" sz="900" b="1" dirty="0" err="1">
                <a:solidFill>
                  <a:srgbClr val="C00000"/>
                </a:solidFill>
                <a:latin typeface="+mn-ea"/>
              </a:rPr>
              <a:t>make_shared</a:t>
            </a:r>
            <a:r>
              <a:rPr lang="zh-CN" altLang="en-US" sz="900" b="1" dirty="0">
                <a:solidFill>
                  <a:srgbClr val="C00000"/>
                </a:solidFill>
                <a:latin typeface="+mn-ea"/>
              </a:rPr>
              <a:t>总是创建一个控制</a:t>
            </a:r>
            <a:r>
              <a:rPr lang="zh-CN" altLang="en-US" sz="900" b="1" dirty="0" smtClean="0">
                <a:solidFill>
                  <a:srgbClr val="C00000"/>
                </a:solidFill>
                <a:latin typeface="+mn-ea"/>
              </a:rPr>
              <a:t>块</a:t>
            </a:r>
            <a:endParaRPr lang="en-US" altLang="zh-CN" sz="900" dirty="0" smtClean="0">
              <a:solidFill>
                <a:srgbClr val="C00000"/>
              </a:solidFill>
              <a:latin typeface="+mn-ea"/>
            </a:endParaRPr>
          </a:p>
          <a:p>
            <a:pPr marL="171450" indent="-171450">
              <a:lnSpc>
                <a:spcPct val="150000"/>
              </a:lnSpc>
              <a:buFont typeface="Arial" panose="020B0604020202020204" pitchFamily="34" charset="0"/>
              <a:buChar char="•"/>
            </a:pPr>
            <a:r>
              <a:rPr lang="zh-CN" altLang="en-US" sz="900" b="1" dirty="0">
                <a:solidFill>
                  <a:srgbClr val="C00000"/>
                </a:solidFill>
                <a:latin typeface="+mn-ea"/>
              </a:rPr>
              <a:t>从具备专属所有权的指针</a:t>
            </a:r>
            <a:r>
              <a:rPr lang="en-US" altLang="zh-CN" sz="900" b="1" dirty="0">
                <a:solidFill>
                  <a:srgbClr val="C00000"/>
                </a:solidFill>
                <a:latin typeface="+mn-ea"/>
              </a:rPr>
              <a:t>(</a:t>
            </a:r>
            <a:r>
              <a:rPr lang="en-US" altLang="zh-CN" sz="900" b="1" dirty="0" err="1">
                <a:solidFill>
                  <a:srgbClr val="C00000"/>
                </a:solidFill>
                <a:latin typeface="+mn-ea"/>
              </a:rPr>
              <a:t>std</a:t>
            </a:r>
            <a:r>
              <a:rPr lang="en-US" altLang="zh-CN" sz="900" b="1" dirty="0">
                <a:solidFill>
                  <a:srgbClr val="C00000"/>
                </a:solidFill>
                <a:latin typeface="+mn-ea"/>
              </a:rPr>
              <a:t>::</a:t>
            </a:r>
            <a:r>
              <a:rPr lang="en-US" altLang="zh-CN" sz="900" b="1" dirty="0" err="1">
                <a:solidFill>
                  <a:srgbClr val="C00000"/>
                </a:solidFill>
                <a:latin typeface="+mn-ea"/>
              </a:rPr>
              <a:t>unique_ptr</a:t>
            </a:r>
            <a:r>
              <a:rPr lang="en-US" altLang="zh-CN" sz="900" b="1" dirty="0">
                <a:solidFill>
                  <a:srgbClr val="C00000"/>
                </a:solidFill>
                <a:latin typeface="+mn-ea"/>
              </a:rPr>
              <a:t>)</a:t>
            </a:r>
            <a:r>
              <a:rPr lang="zh-CN" altLang="en-US" sz="900" b="1" dirty="0">
                <a:solidFill>
                  <a:srgbClr val="C00000"/>
                </a:solidFill>
                <a:latin typeface="+mn-ea"/>
              </a:rPr>
              <a:t>构造一个</a:t>
            </a:r>
            <a:r>
              <a:rPr lang="en-US" altLang="zh-CN" sz="900" b="1" dirty="0" err="1">
                <a:solidFill>
                  <a:srgbClr val="C00000"/>
                </a:solidFill>
                <a:latin typeface="+mn-ea"/>
              </a:rPr>
              <a:t>std</a:t>
            </a:r>
            <a:r>
              <a:rPr lang="en-US" altLang="zh-CN" sz="900" b="1" dirty="0">
                <a:solidFill>
                  <a:srgbClr val="C00000"/>
                </a:solidFill>
                <a:latin typeface="+mn-ea"/>
              </a:rPr>
              <a:t>::</a:t>
            </a:r>
            <a:r>
              <a:rPr lang="en-US" altLang="zh-CN" sz="900" b="1" dirty="0" err="1">
                <a:solidFill>
                  <a:srgbClr val="C00000"/>
                </a:solidFill>
                <a:latin typeface="+mn-ea"/>
              </a:rPr>
              <a:t>shared_ptr</a:t>
            </a:r>
            <a:r>
              <a:rPr lang="zh-CN" altLang="en-US" sz="900" b="1" dirty="0">
                <a:solidFill>
                  <a:srgbClr val="C00000"/>
                </a:solidFill>
                <a:latin typeface="+mn-ea"/>
              </a:rPr>
              <a:t>时</a:t>
            </a:r>
            <a:r>
              <a:rPr lang="en-US" altLang="zh-CN" sz="900" b="1" dirty="0">
                <a:solidFill>
                  <a:srgbClr val="C00000"/>
                </a:solidFill>
                <a:latin typeface="+mn-ea"/>
              </a:rPr>
              <a:t>,</a:t>
            </a:r>
            <a:r>
              <a:rPr lang="zh-CN" altLang="en-US" sz="900" b="1" dirty="0">
                <a:solidFill>
                  <a:srgbClr val="C00000"/>
                </a:solidFill>
                <a:latin typeface="+mn-ea"/>
              </a:rPr>
              <a:t>会创建一个控制</a:t>
            </a:r>
            <a:r>
              <a:rPr lang="zh-CN" altLang="en-US" sz="900" b="1" dirty="0" smtClean="0">
                <a:solidFill>
                  <a:srgbClr val="C00000"/>
                </a:solidFill>
                <a:latin typeface="+mn-ea"/>
              </a:rPr>
              <a:t>块</a:t>
            </a:r>
            <a:endParaRPr lang="en-US" altLang="zh-CN" sz="900" dirty="0" smtClean="0">
              <a:solidFill>
                <a:srgbClr val="C00000"/>
              </a:solidFill>
              <a:latin typeface="+mn-ea"/>
            </a:endParaRPr>
          </a:p>
          <a:p>
            <a:pPr marL="171450" indent="-171450">
              <a:lnSpc>
                <a:spcPct val="150000"/>
              </a:lnSpc>
              <a:buFont typeface="Arial" panose="020B0604020202020204" pitchFamily="34" charset="0"/>
              <a:buChar char="•"/>
            </a:pPr>
            <a:r>
              <a:rPr lang="zh-CN" altLang="en-US" sz="900" b="1" dirty="0">
                <a:solidFill>
                  <a:srgbClr val="C00000"/>
                </a:solidFill>
                <a:latin typeface="+mn-ea"/>
              </a:rPr>
              <a:t>当</a:t>
            </a:r>
            <a:r>
              <a:rPr lang="en-US" altLang="zh-CN" sz="900" b="1" dirty="0" err="1">
                <a:solidFill>
                  <a:srgbClr val="C00000"/>
                </a:solidFill>
                <a:latin typeface="+mn-ea"/>
              </a:rPr>
              <a:t>std</a:t>
            </a:r>
            <a:r>
              <a:rPr lang="en-US" altLang="zh-CN" sz="900" b="1" dirty="0">
                <a:solidFill>
                  <a:srgbClr val="C00000"/>
                </a:solidFill>
                <a:latin typeface="+mn-ea"/>
              </a:rPr>
              <a:t>::</a:t>
            </a:r>
            <a:r>
              <a:rPr lang="en-US" altLang="zh-CN" sz="900" b="1" dirty="0" err="1">
                <a:solidFill>
                  <a:srgbClr val="C00000"/>
                </a:solidFill>
                <a:latin typeface="+mn-ea"/>
              </a:rPr>
              <a:t>shard_ptr</a:t>
            </a:r>
            <a:r>
              <a:rPr lang="zh-CN" altLang="en-US" sz="900" b="1" dirty="0">
                <a:solidFill>
                  <a:srgbClr val="C00000"/>
                </a:solidFill>
                <a:latin typeface="+mn-ea"/>
              </a:rPr>
              <a:t>构造函数使用裸指针作为实参来调用时</a:t>
            </a:r>
            <a:r>
              <a:rPr lang="en-US" altLang="zh-CN" sz="900" b="1" dirty="0">
                <a:solidFill>
                  <a:srgbClr val="C00000"/>
                </a:solidFill>
                <a:latin typeface="+mn-ea"/>
              </a:rPr>
              <a:t>,</a:t>
            </a:r>
            <a:r>
              <a:rPr lang="zh-CN" altLang="en-US" sz="900" b="1" dirty="0">
                <a:solidFill>
                  <a:srgbClr val="C00000"/>
                </a:solidFill>
                <a:latin typeface="+mn-ea"/>
              </a:rPr>
              <a:t>它会创建一个控制</a:t>
            </a:r>
            <a:r>
              <a:rPr lang="zh-CN" altLang="en-US" sz="900" b="1" dirty="0" smtClean="0">
                <a:solidFill>
                  <a:srgbClr val="C00000"/>
                </a:solidFill>
                <a:latin typeface="+mn-ea"/>
              </a:rPr>
              <a:t>块</a:t>
            </a:r>
            <a:endParaRPr lang="zh-CN" altLang="en-US" sz="900" b="1" dirty="0">
              <a:solidFill>
                <a:srgbClr val="C00000"/>
              </a:solidFill>
              <a:latin typeface="+mn-ea"/>
            </a:endParaRPr>
          </a:p>
          <a:p>
            <a:pPr marL="342900" indent="-342900">
              <a:buFont typeface="+mj-lt"/>
              <a:buAutoNum type="arabicPeriod"/>
            </a:pPr>
            <a:endParaRPr lang="zh-CN" altLang="en-US" dirty="0"/>
          </a:p>
          <a:p>
            <a:endParaRPr lang="zh-CN" altLang="en-US" b="1" dirty="0"/>
          </a:p>
        </p:txBody>
      </p:sp>
      <p:sp>
        <p:nvSpPr>
          <p:cNvPr id="14" name="文本框 13"/>
          <p:cNvSpPr txBox="1"/>
          <p:nvPr/>
        </p:nvSpPr>
        <p:spPr>
          <a:xfrm>
            <a:off x="5761667" y="4604271"/>
            <a:ext cx="2881591" cy="1892826"/>
          </a:xfrm>
          <a:prstGeom prst="rect">
            <a:avLst/>
          </a:prstGeom>
          <a:noFill/>
        </p:spPr>
        <p:txBody>
          <a:bodyPr wrap="square" rtlCol="0">
            <a:spAutoFit/>
          </a:bodyPr>
          <a:lstStyle/>
          <a:p>
            <a:r>
              <a:rPr lang="zh-CN" altLang="en-US" sz="900" b="1" dirty="0" smtClean="0">
                <a:solidFill>
                  <a:srgbClr val="C00000"/>
                </a:solidFill>
                <a:latin typeface="+mn-ea"/>
              </a:rPr>
              <a:t>创建</a:t>
            </a:r>
            <a:r>
              <a:rPr lang="en-US" altLang="zh-CN" sz="900" b="1" dirty="0" err="1" smtClean="0">
                <a:solidFill>
                  <a:srgbClr val="C00000"/>
                </a:solidFill>
                <a:latin typeface="+mn-ea"/>
              </a:rPr>
              <a:t>shared_ptr</a:t>
            </a:r>
            <a:r>
              <a:rPr lang="zh-CN" altLang="en-US" sz="900" b="1" dirty="0" smtClean="0">
                <a:solidFill>
                  <a:srgbClr val="C00000"/>
                </a:solidFill>
                <a:latin typeface="+mn-ea"/>
              </a:rPr>
              <a:t>应该优先使用</a:t>
            </a:r>
            <a:r>
              <a:rPr lang="en-US" altLang="zh-CN" sz="900" b="1" dirty="0" err="1" smtClean="0">
                <a:solidFill>
                  <a:srgbClr val="C00000"/>
                </a:solidFill>
                <a:latin typeface="+mn-ea"/>
              </a:rPr>
              <a:t>make_shared</a:t>
            </a:r>
            <a:r>
              <a:rPr lang="en-US" altLang="zh-CN" sz="900" b="1" dirty="0" smtClean="0">
                <a:solidFill>
                  <a:srgbClr val="C00000"/>
                </a:solidFill>
                <a:latin typeface="+mn-ea"/>
              </a:rPr>
              <a:t>:</a:t>
            </a:r>
            <a:endParaRPr lang="en-US" altLang="zh-CN" sz="900" b="1" dirty="0" smtClean="0">
              <a:solidFill>
                <a:srgbClr val="C00000"/>
              </a:solidFill>
              <a:latin typeface="+mn-ea"/>
            </a:endParaRPr>
          </a:p>
          <a:p>
            <a:endParaRPr lang="en-US" altLang="zh-CN" sz="900" b="1" dirty="0" smtClean="0">
              <a:solidFill>
                <a:srgbClr val="C00000"/>
              </a:solidFill>
              <a:latin typeface="+mn-ea"/>
            </a:endParaRPr>
          </a:p>
          <a:p>
            <a:pPr marL="171450" indent="-171450">
              <a:buFont typeface="Arial" panose="020B0604020202020204" pitchFamily="34" charset="0"/>
              <a:buChar char="•"/>
            </a:pPr>
            <a:r>
              <a:rPr lang="zh-CN" altLang="en-US" sz="900" b="1" dirty="0" smtClean="0">
                <a:solidFill>
                  <a:srgbClr val="C00000"/>
                </a:solidFill>
                <a:latin typeface="+mn-ea"/>
              </a:rPr>
              <a:t>只会 产生一次内存分配，对象与计数对象共用一块区域</a:t>
            </a:r>
            <a:endParaRPr lang="en-US" altLang="zh-CN" sz="900" b="1" dirty="0" smtClean="0">
              <a:solidFill>
                <a:srgbClr val="C00000"/>
              </a:solidFill>
              <a:latin typeface="+mn-ea"/>
            </a:endParaRPr>
          </a:p>
          <a:p>
            <a:pPr marL="171450" indent="-171450">
              <a:buFont typeface="Arial" panose="020B0604020202020204" pitchFamily="34" charset="0"/>
              <a:buChar char="•"/>
            </a:pPr>
            <a:endParaRPr lang="en-US" altLang="zh-CN" sz="900" b="1" dirty="0" smtClean="0">
              <a:solidFill>
                <a:srgbClr val="C00000"/>
              </a:solidFill>
              <a:latin typeface="+mn-ea"/>
            </a:endParaRPr>
          </a:p>
          <a:p>
            <a:pPr marL="171450" indent="-171450">
              <a:buFont typeface="Arial" panose="020B0604020202020204" pitchFamily="34" charset="0"/>
              <a:buChar char="•"/>
            </a:pPr>
            <a:r>
              <a:rPr lang="zh-CN" altLang="en-US" sz="900" b="1" dirty="0" smtClean="0">
                <a:solidFill>
                  <a:srgbClr val="C00000"/>
                </a:solidFill>
                <a:latin typeface="+mn-ea"/>
              </a:rPr>
              <a:t>效率更高</a:t>
            </a:r>
            <a:endParaRPr lang="en-US" altLang="zh-CN" sz="900" b="1" dirty="0">
              <a:solidFill>
                <a:srgbClr val="C00000"/>
              </a:solidFill>
              <a:latin typeface="+mn-ea"/>
            </a:endParaRPr>
          </a:p>
          <a:p>
            <a:pPr marL="171450" indent="-171450">
              <a:buFont typeface="Arial" panose="020B0604020202020204" pitchFamily="34" charset="0"/>
              <a:buChar char="•"/>
            </a:pPr>
            <a:endParaRPr lang="en-US" altLang="zh-CN" sz="900" b="1" dirty="0" smtClean="0">
              <a:solidFill>
                <a:srgbClr val="C00000"/>
              </a:solidFill>
              <a:latin typeface="+mn-ea"/>
            </a:endParaRPr>
          </a:p>
          <a:p>
            <a:pPr marL="171450" indent="-171450">
              <a:buFont typeface="Arial" panose="020B0604020202020204" pitchFamily="34" charset="0"/>
              <a:buChar char="•"/>
            </a:pPr>
            <a:r>
              <a:rPr lang="zh-CN" altLang="en-US" sz="900" b="1" dirty="0" smtClean="0">
                <a:solidFill>
                  <a:srgbClr val="C00000"/>
                </a:solidFill>
                <a:latin typeface="+mn-ea"/>
              </a:rPr>
              <a:t>异常安全的构造</a:t>
            </a:r>
            <a:r>
              <a:rPr lang="en-US" altLang="zh-CN" sz="900" b="1" dirty="0" err="1" smtClean="0">
                <a:solidFill>
                  <a:srgbClr val="C00000"/>
                </a:solidFill>
                <a:latin typeface="+mn-ea"/>
              </a:rPr>
              <a:t>shared_ptr</a:t>
            </a:r>
            <a:endParaRPr lang="en-US" altLang="zh-CN" sz="900" b="1" dirty="0" smtClean="0">
              <a:solidFill>
                <a:srgbClr val="C00000"/>
              </a:solidFill>
              <a:latin typeface="+mn-ea"/>
            </a:endParaRPr>
          </a:p>
          <a:p>
            <a:pPr marL="171450" indent="-171450">
              <a:buFont typeface="Arial" panose="020B0604020202020204" pitchFamily="34" charset="0"/>
              <a:buChar char="•"/>
            </a:pPr>
            <a:endParaRPr lang="en-US" altLang="zh-CN" sz="900" b="1" dirty="0" smtClean="0">
              <a:solidFill>
                <a:srgbClr val="FF0000"/>
              </a:solidFill>
              <a:latin typeface="+mn-ea"/>
            </a:endParaRPr>
          </a:p>
          <a:p>
            <a:endParaRPr lang="zh-CN" altLang="en-US" dirty="0"/>
          </a:p>
          <a:p>
            <a:endParaRPr lang="zh-CN" alt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blinds(horizontal)">
                                      <p:cBhvr>
                                        <p:cTn id="10" dur="500"/>
                                        <p:tgtEl>
                                          <p:spTgt spid="42"/>
                                        </p:tgtEl>
                                      </p:cBhvr>
                                    </p:animEffect>
                                  </p:childTnLst>
                                </p:cTn>
                              </p:par>
                              <p:par>
                                <p:cTn id="11" presetID="3" presetClass="entr" presetSubtype="1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blinds(horizontal)">
                                      <p:cBhvr>
                                        <p:cTn id="16" dur="500"/>
                                        <p:tgtEl>
                                          <p:spTgt spid="40"/>
                                        </p:tgtEl>
                                      </p:cBhvr>
                                    </p:animEffect>
                                  </p:childTnLst>
                                </p:cTn>
                              </p:par>
                              <p:par>
                                <p:cTn id="17" presetID="3" presetClass="entr" presetSubtype="1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500"/>
                                        <p:tgtEl>
                                          <p:spTgt spid="1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blinds(horizontal)">
                                      <p:cBhvr>
                                        <p:cTn id="22" dur="500"/>
                                        <p:tgtEl>
                                          <p:spTgt spid="4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blinds(horizontal)">
                                      <p:cBhvr>
                                        <p:cTn id="25" dur="500"/>
                                        <p:tgtEl>
                                          <p:spTgt spid="3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38" grpId="0" animBg="1"/>
      <p:bldP spid="38" grpId="1" animBg="1"/>
      <p:bldP spid="40" grpId="0" animBg="1"/>
      <p:bldP spid="40" grpId="1" animBg="1"/>
      <p:bldP spid="41" grpId="0" animBg="1"/>
      <p:bldP spid="41" grpId="1" animBg="1"/>
      <p:bldP spid="42" grpId="0" animBg="1"/>
      <p:bldP spid="42" grpId="1" animBg="1"/>
      <p:bldP spid="43" grpId="0" animBg="1"/>
      <p:bldP spid="43" grpId="1" animBg="1"/>
      <p:bldP spid="4"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872301" y="3162185"/>
            <a:ext cx="461264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shared_ptr的应用</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132391"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03</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2" name="Text Box 3"/>
          <p:cNvSpPr>
            <a:spLocks noChangeArrowheads="1"/>
          </p:cNvSpPr>
          <p:nvPr/>
        </p:nvSpPr>
        <p:spPr bwMode="auto">
          <a:xfrm>
            <a:off x="867856" y="3162185"/>
            <a:ext cx="461264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shared_ptr的应用</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3" name="淘宝网chenying0907出品 10"/>
          <p:cNvSpPr>
            <a:spLocks noChangeArrowheads="1"/>
          </p:cNvSpPr>
          <p:nvPr/>
        </p:nvSpPr>
        <p:spPr bwMode="auto">
          <a:xfrm>
            <a:off x="4127946"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03</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indent="0">
              <a:buNone/>
            </a:pPr>
            <a:r>
              <a:rPr lang="en-US" altLang="zh-CN" sz="2700" b="1" dirty="0" err="1">
                <a:latin typeface="微软雅黑" panose="020B0503020204020204" charset="-122"/>
                <a:cs typeface="微软雅黑" panose="020B0503020204020204" charset="-122"/>
                <a:sym typeface="+mn-ea"/>
              </a:rPr>
              <a:t>weak_ptr</a:t>
            </a:r>
            <a:endParaRPr lang="en-US" altLang="zh-CN" sz="2400" b="1" dirty="0" err="1">
              <a:latin typeface="微软雅黑" panose="020B0503020204020204" charset="-122"/>
              <a:cs typeface="微软雅黑" panose="020B0503020204020204" charset="-122"/>
              <a:sym typeface="+mn-ea"/>
            </a:endParaRPr>
          </a:p>
          <a:p>
            <a:pPr>
              <a:lnSpc>
                <a:spcPct val="160000"/>
              </a:lnSpc>
            </a:pPr>
            <a:r>
              <a:rPr sz="1600" spc="0" dirty="0" smtClean="0">
                <a:solidFill>
                  <a:schemeClr val="tx1">
                    <a:lumMod val="65000"/>
                    <a:lumOff val="35000"/>
                  </a:schemeClr>
                </a:solidFill>
                <a:sym typeface="+mn-ea"/>
              </a:rPr>
              <a:t>weak_ptr</a:t>
            </a:r>
            <a:r>
              <a:rPr sz="1600" spc="0" dirty="0">
                <a:solidFill>
                  <a:schemeClr val="tx1">
                    <a:lumMod val="65000"/>
                    <a:lumOff val="35000"/>
                  </a:schemeClr>
                </a:solidFill>
                <a:sym typeface="+mn-ea"/>
              </a:rPr>
              <a:t>用来表示临时所有权(弱引用，不会增加引用计数)，它需要配合shared_ptr使用</a:t>
            </a:r>
            <a:r>
              <a:rPr sz="1600" spc="0" dirty="0" smtClean="0">
                <a:solidFill>
                  <a:schemeClr val="tx1">
                    <a:lumMod val="65000"/>
                    <a:lumOff val="35000"/>
                  </a:schemeClr>
                </a:solidFill>
                <a:sym typeface="+mn-ea"/>
              </a:rPr>
              <a:t>，追踪</a:t>
            </a:r>
            <a:r>
              <a:rPr sz="1600" spc="0" dirty="0">
                <a:solidFill>
                  <a:schemeClr val="tx1">
                    <a:lumMod val="65000"/>
                    <a:lumOff val="35000"/>
                  </a:schemeClr>
                </a:solidFill>
                <a:sym typeface="+mn-ea"/>
              </a:rPr>
              <a:t>shared_ptr所管理的对象是否有效，当需要</a:t>
            </a:r>
            <a:r>
              <a:rPr sz="1600" b="1" spc="0" dirty="0">
                <a:solidFill>
                  <a:srgbClr val="C00000"/>
                </a:solidFill>
                <a:sym typeface="+mn-ea"/>
              </a:rPr>
              <a:t>临时所有权时</a:t>
            </a:r>
            <a:r>
              <a:rPr sz="1600" spc="0" dirty="0">
                <a:solidFill>
                  <a:schemeClr val="tx1">
                    <a:lumMod val="65000"/>
                    <a:lumOff val="35000"/>
                  </a:schemeClr>
                </a:solidFill>
                <a:sym typeface="+mn-ea"/>
              </a:rPr>
              <a:t>，则将其转换为shared_ptr，这样对象的引用计数会加1，</a:t>
            </a:r>
            <a:r>
              <a:rPr sz="1600" spc="0" dirty="0" smtClean="0">
                <a:solidFill>
                  <a:schemeClr val="tx1">
                    <a:lumMod val="65000"/>
                    <a:lumOff val="35000"/>
                  </a:schemeClr>
                </a:solidFill>
                <a:sym typeface="+mn-ea"/>
              </a:rPr>
              <a:t>来保证正在访问的对象有效性</a:t>
            </a:r>
            <a:r>
              <a:rPr lang="zh-CN" altLang="en-US" sz="1600" spc="0" dirty="0">
                <a:solidFill>
                  <a:schemeClr val="tx1">
                    <a:lumMod val="65000"/>
                    <a:lumOff val="35000"/>
                  </a:schemeClr>
                </a:solidFill>
              </a:rPr>
              <a:t>，</a:t>
            </a:r>
            <a:r>
              <a:rPr lang="zh-CN" altLang="en-US" sz="1600" spc="0" dirty="0" smtClean="0">
                <a:solidFill>
                  <a:schemeClr val="tx1">
                    <a:lumMod val="65000"/>
                    <a:lumOff val="35000"/>
                  </a:schemeClr>
                </a:solidFill>
              </a:rPr>
              <a:t>它</a:t>
            </a:r>
            <a:r>
              <a:rPr lang="zh-CN" altLang="en-US" sz="1600" spc="0" dirty="0">
                <a:solidFill>
                  <a:schemeClr val="tx1">
                    <a:lumMod val="65000"/>
                    <a:lumOff val="35000"/>
                  </a:schemeClr>
                </a:solidFill>
              </a:rPr>
              <a:t>有</a:t>
            </a:r>
            <a:r>
              <a:rPr sz="1600" spc="0" dirty="0">
                <a:solidFill>
                  <a:schemeClr val="tx1">
                    <a:lumMod val="65000"/>
                    <a:lumOff val="35000"/>
                  </a:schemeClr>
                </a:solidFill>
                <a:sym typeface="+mn-ea"/>
              </a:rPr>
              <a:t>三个关键方法:</a:t>
            </a:r>
            <a:r>
              <a:rPr sz="1600" b="1" spc="0" dirty="0">
                <a:solidFill>
                  <a:srgbClr val="C00000"/>
                </a:solidFill>
                <a:sym typeface="+mn-ea"/>
              </a:rPr>
              <a:t>use_count()，expired()，</a:t>
            </a:r>
            <a:r>
              <a:rPr sz="1600" b="1" spc="0" dirty="0" smtClean="0">
                <a:solidFill>
                  <a:srgbClr val="C00000"/>
                </a:solidFill>
                <a:sym typeface="+mn-ea"/>
              </a:rPr>
              <a:t>lock()</a:t>
            </a:r>
            <a:endParaRPr lang="en-US" sz="1600" b="1" spc="0" dirty="0">
              <a:solidFill>
                <a:srgbClr val="C00000"/>
              </a:solidFill>
            </a:endParaRPr>
          </a:p>
          <a:p>
            <a:pPr>
              <a:lnSpc>
                <a:spcPct val="160000"/>
              </a:lnSpc>
            </a:pPr>
            <a:endParaRPr lang="en-US" sz="1600" b="1" spc="0" dirty="0" smtClean="0">
              <a:solidFill>
                <a:srgbClr val="C00000"/>
              </a:solidFill>
              <a:sym typeface="+mn-ea"/>
            </a:endParaRPr>
          </a:p>
          <a:p>
            <a:pPr>
              <a:lnSpc>
                <a:spcPct val="160000"/>
              </a:lnSpc>
            </a:pPr>
            <a:r>
              <a:rPr lang="en-US" altLang="en-US" sz="1600" spc="0" dirty="0" err="1">
                <a:solidFill>
                  <a:schemeClr val="tx1">
                    <a:lumMod val="65000"/>
                    <a:lumOff val="35000"/>
                  </a:schemeClr>
                </a:solidFill>
              </a:rPr>
              <a:t>weak_ptr</a:t>
            </a:r>
            <a:r>
              <a:rPr lang="zh-CN" altLang="en-US" sz="1600" spc="0" dirty="0">
                <a:solidFill>
                  <a:schemeClr val="tx1">
                    <a:lumMod val="65000"/>
                    <a:lumOff val="35000"/>
                  </a:schemeClr>
                </a:solidFill>
              </a:rPr>
              <a:t>具有复制语义，</a:t>
            </a:r>
            <a:r>
              <a:rPr lang="zh-CN" altLang="en-US" sz="1600" b="1" spc="0" dirty="0" smtClean="0">
                <a:solidFill>
                  <a:srgbClr val="C00000"/>
                </a:solidFill>
              </a:rPr>
              <a:t>可以通过一个</a:t>
            </a:r>
            <a:r>
              <a:rPr lang="en-US" altLang="zh-CN" sz="1600" b="1" spc="0" dirty="0" err="1" smtClean="0">
                <a:solidFill>
                  <a:srgbClr val="C00000"/>
                </a:solidFill>
              </a:rPr>
              <a:t>weak_ptr</a:t>
            </a:r>
            <a:r>
              <a:rPr lang="zh-CN" altLang="en-US" sz="1600" b="1" spc="0" dirty="0" smtClean="0">
                <a:solidFill>
                  <a:srgbClr val="C00000"/>
                </a:solidFill>
              </a:rPr>
              <a:t>对象构造另一个</a:t>
            </a:r>
            <a:r>
              <a:rPr lang="en-US" altLang="zh-CN" sz="1600" b="1" spc="0" dirty="0" err="1" smtClean="0">
                <a:solidFill>
                  <a:srgbClr val="C00000"/>
                </a:solidFill>
              </a:rPr>
              <a:t>weak_ptr</a:t>
            </a:r>
            <a:r>
              <a:rPr lang="zh-CN" altLang="en-US" sz="1600" b="1" spc="0" dirty="0" smtClean="0">
                <a:solidFill>
                  <a:srgbClr val="C00000"/>
                </a:solidFill>
              </a:rPr>
              <a:t>对象，通过一个</a:t>
            </a:r>
            <a:r>
              <a:rPr lang="en-US" altLang="zh-CN" sz="1600" b="1" spc="0" dirty="0" err="1" smtClean="0">
                <a:solidFill>
                  <a:srgbClr val="C00000"/>
                </a:solidFill>
              </a:rPr>
              <a:t>shared_ptr</a:t>
            </a:r>
            <a:r>
              <a:rPr lang="zh-CN" altLang="en-US" sz="1600" b="1" spc="0" dirty="0" smtClean="0">
                <a:solidFill>
                  <a:srgbClr val="C00000"/>
                </a:solidFill>
              </a:rPr>
              <a:t>构造一个</a:t>
            </a:r>
            <a:r>
              <a:rPr lang="en-US" altLang="zh-CN" sz="1600" b="1" spc="0" dirty="0" err="1" smtClean="0">
                <a:solidFill>
                  <a:srgbClr val="C00000"/>
                </a:solidFill>
              </a:rPr>
              <a:t>weak_ptr</a:t>
            </a:r>
            <a:r>
              <a:rPr lang="zh-CN" altLang="en-US" sz="1600" b="1" spc="0" dirty="0" smtClean="0">
                <a:solidFill>
                  <a:srgbClr val="C00000"/>
                </a:solidFill>
              </a:rPr>
              <a:t>对象</a:t>
            </a:r>
            <a:endParaRPr lang="en-US" sz="1600" b="1" spc="0" dirty="0" smtClean="0">
              <a:solidFill>
                <a:srgbClr val="C00000"/>
              </a:solidFill>
              <a:sym typeface="+mn-ea"/>
            </a:endParaRPr>
          </a:p>
          <a:p>
            <a:pPr marL="0" indent="0">
              <a:lnSpc>
                <a:spcPct val="160000"/>
              </a:lnSpc>
              <a:buNone/>
            </a:pPr>
            <a:endParaRPr lang="en-US" altLang="zh-CN" sz="1600" b="1" spc="0" dirty="0">
              <a:solidFill>
                <a:srgbClr val="C00000"/>
              </a:solidFill>
              <a:ea typeface="微软雅黑" panose="020B0503020204020204" charset="-122"/>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8767" y="542933"/>
            <a:ext cx="8139178" cy="5388907"/>
          </a:xfrm>
        </p:spPr>
        <p:txBody>
          <a:bodyPr>
            <a:normAutofit/>
          </a:bodyPr>
          <a:lstStyle/>
          <a:p>
            <a:pPr marL="0" indent="0">
              <a:lnSpc>
                <a:spcPct val="200000"/>
              </a:lnSpc>
              <a:buNone/>
            </a:pPr>
            <a:r>
              <a:rPr lang="en-US" altLang="zh-CN" sz="2700" b="1" spc="200" dirty="0" err="1">
                <a:latin typeface="微软雅黑" panose="020B0503020204020204" charset="-122"/>
                <a:cs typeface="微软雅黑" panose="020B0503020204020204" charset="-122"/>
              </a:rPr>
              <a:t>w</a:t>
            </a:r>
            <a:r>
              <a:rPr lang="en-US" altLang="zh-CN" sz="2700" b="1" spc="200" dirty="0" err="1" smtClean="0">
                <a:latin typeface="微软雅黑" panose="020B0503020204020204" charset="-122"/>
                <a:cs typeface="微软雅黑" panose="020B0503020204020204" charset="-122"/>
              </a:rPr>
              <a:t>eak_ptr</a:t>
            </a:r>
            <a:r>
              <a:rPr lang="zh-CN" altLang="en-US" sz="2700" b="1" spc="200" dirty="0" smtClean="0">
                <a:latin typeface="微软雅黑" panose="020B0503020204020204" charset="-122"/>
                <a:cs typeface="微软雅黑" panose="020B0503020204020204" charset="-122"/>
              </a:rPr>
              <a:t>与</a:t>
            </a:r>
            <a:r>
              <a:rPr lang="en-US" altLang="zh-CN" sz="2700" b="1" spc="200" dirty="0" err="1" smtClean="0">
                <a:latin typeface="微软雅黑" panose="020B0503020204020204" charset="-122"/>
                <a:cs typeface="微软雅黑" panose="020B0503020204020204" charset="-122"/>
              </a:rPr>
              <a:t>shared_ptr</a:t>
            </a:r>
            <a:endParaRPr lang="en-US" altLang="zh-CN" sz="2700" b="1" spc="200" dirty="0" smtClean="0">
              <a:latin typeface="微软雅黑" panose="020B0503020204020204" charset="-122"/>
              <a:cs typeface="微软雅黑" panose="020B0503020204020204" charset="-122"/>
            </a:endParaRPr>
          </a:p>
          <a:p>
            <a:pPr>
              <a:lnSpc>
                <a:spcPct val="200000"/>
              </a:lnSpc>
            </a:pPr>
            <a:r>
              <a:rPr lang="zh-CN" altLang="en-US" sz="1400" spc="0" dirty="0">
                <a:solidFill>
                  <a:schemeClr val="tx1">
                    <a:lumMod val="65000"/>
                    <a:lumOff val="35000"/>
                  </a:schemeClr>
                </a:solidFill>
                <a:latin typeface="微软雅黑" panose="020B0503020204020204" charset="-122"/>
                <a:cs typeface="微软雅黑" panose="020B0503020204020204" charset="-122"/>
              </a:rPr>
              <a:t>在多线程程序中通过裸指针来管理共享对象是一个很让人头疼的场景，最大的困难之处就是</a:t>
            </a:r>
            <a:r>
              <a:rPr lang="zh-CN" altLang="en-US" sz="1400" spc="0" dirty="0" smtClean="0">
                <a:solidFill>
                  <a:schemeClr val="tx1">
                    <a:lumMod val="65000"/>
                    <a:lumOff val="35000"/>
                  </a:schemeClr>
                </a:solidFill>
                <a:latin typeface="微软雅黑" panose="020B0503020204020204" charset="-122"/>
                <a:cs typeface="微软雅黑" panose="020B0503020204020204" charset="-122"/>
              </a:rPr>
              <a:t>保证共享</a:t>
            </a:r>
            <a:r>
              <a:rPr lang="zh-CN" altLang="en-US" sz="1400" spc="0" dirty="0">
                <a:solidFill>
                  <a:schemeClr val="tx1">
                    <a:lumMod val="65000"/>
                    <a:lumOff val="35000"/>
                  </a:schemeClr>
                </a:solidFill>
                <a:latin typeface="微软雅黑" panose="020B0503020204020204" charset="-122"/>
                <a:cs typeface="微软雅黑" panose="020B0503020204020204" charset="-122"/>
              </a:rPr>
              <a:t>对象的有效性和共享对象的有效性的检测。一不小心就会造成共享对象被某个线程释放，而造成线程访问无效内存导致程序崩溃的问题。</a:t>
            </a:r>
            <a:r>
              <a:rPr lang="zh-CN" altLang="en-US" sz="1400" b="1" spc="0" dirty="0">
                <a:solidFill>
                  <a:srgbClr val="C00000"/>
                </a:solidFill>
                <a:latin typeface="微软雅黑" panose="020B0503020204020204" charset="-122"/>
                <a:cs typeface="微软雅黑" panose="020B0503020204020204" charset="-122"/>
              </a:rPr>
              <a:t>那么在</a:t>
            </a:r>
            <a:r>
              <a:rPr lang="en-US" altLang="zh-CN" sz="1400" b="1" spc="0" dirty="0">
                <a:solidFill>
                  <a:srgbClr val="C00000"/>
                </a:solidFill>
                <a:latin typeface="微软雅黑" panose="020B0503020204020204" charset="-122"/>
                <a:cs typeface="微软雅黑" panose="020B0503020204020204" charset="-122"/>
              </a:rPr>
              <a:t>C++11 </a:t>
            </a:r>
            <a:r>
              <a:rPr lang="zh-CN" altLang="en-US" sz="1400" b="1" spc="0" dirty="0" smtClean="0">
                <a:solidFill>
                  <a:srgbClr val="C00000"/>
                </a:solidFill>
                <a:latin typeface="微软雅黑" panose="020B0503020204020204" charset="-122"/>
                <a:cs typeface="微软雅黑" panose="020B0503020204020204" charset="-122"/>
              </a:rPr>
              <a:t>中通过</a:t>
            </a:r>
            <a:r>
              <a:rPr lang="en-US" altLang="zh-CN" sz="1400" b="1" spc="0" dirty="0" err="1">
                <a:solidFill>
                  <a:srgbClr val="C00000"/>
                </a:solidFill>
                <a:latin typeface="微软雅黑" panose="020B0503020204020204" charset="-122"/>
                <a:cs typeface="微软雅黑" panose="020B0503020204020204" charset="-122"/>
              </a:rPr>
              <a:t>weak_ptr</a:t>
            </a:r>
            <a:r>
              <a:rPr lang="zh-CN" altLang="en-US" sz="1400" b="1" spc="0" dirty="0">
                <a:solidFill>
                  <a:srgbClr val="C00000"/>
                </a:solidFill>
                <a:latin typeface="微软雅黑" panose="020B0503020204020204" charset="-122"/>
                <a:cs typeface="微软雅黑" panose="020B0503020204020204" charset="-122"/>
              </a:rPr>
              <a:t>与</a:t>
            </a:r>
            <a:r>
              <a:rPr lang="en-US" altLang="zh-CN" sz="1400" b="1" spc="0" dirty="0" err="1">
                <a:solidFill>
                  <a:srgbClr val="C00000"/>
                </a:solidFill>
                <a:latin typeface="微软雅黑" panose="020B0503020204020204" charset="-122"/>
                <a:cs typeface="微软雅黑" panose="020B0503020204020204" charset="-122"/>
              </a:rPr>
              <a:t>shared_ptr</a:t>
            </a:r>
            <a:r>
              <a:rPr lang="zh-CN" altLang="en-US" sz="1400" b="1" spc="0" dirty="0">
                <a:solidFill>
                  <a:srgbClr val="C00000"/>
                </a:solidFill>
                <a:latin typeface="微软雅黑" panose="020B0503020204020204" charset="-122"/>
                <a:cs typeface="微软雅黑" panose="020B0503020204020204" charset="-122"/>
              </a:rPr>
              <a:t>的结合可以很方便</a:t>
            </a:r>
            <a:r>
              <a:rPr lang="zh-CN" altLang="en-US" sz="1400" b="1" spc="0" dirty="0" smtClean="0">
                <a:solidFill>
                  <a:srgbClr val="C00000"/>
                </a:solidFill>
                <a:latin typeface="微软雅黑" panose="020B0503020204020204" charset="-122"/>
                <a:cs typeface="微软雅黑" panose="020B0503020204020204" charset="-122"/>
              </a:rPr>
              <a:t>的在多线程环境下检测，管理共享</a:t>
            </a:r>
            <a:r>
              <a:rPr lang="zh-CN" altLang="en-US" sz="1400" b="1" spc="0" dirty="0">
                <a:solidFill>
                  <a:srgbClr val="C00000"/>
                </a:solidFill>
                <a:latin typeface="微软雅黑" panose="020B0503020204020204" charset="-122"/>
                <a:cs typeface="微软雅黑" panose="020B0503020204020204" charset="-122"/>
              </a:rPr>
              <a:t>对象的</a:t>
            </a:r>
            <a:r>
              <a:rPr lang="zh-CN" altLang="en-US" sz="1400" b="1" spc="0" dirty="0" smtClean="0">
                <a:solidFill>
                  <a:srgbClr val="C00000"/>
                </a:solidFill>
                <a:latin typeface="微软雅黑" panose="020B0503020204020204" charset="-122"/>
                <a:cs typeface="微软雅黑" panose="020B0503020204020204" charset="-122"/>
              </a:rPr>
              <a:t>有效性。</a:t>
            </a:r>
            <a:endParaRPr lang="en-US" altLang="zh-CN" sz="1400" b="1" spc="0" dirty="0" smtClean="0">
              <a:solidFill>
                <a:srgbClr val="C00000"/>
              </a:solidFill>
              <a:latin typeface="微软雅黑" panose="020B0503020204020204" charset="-122"/>
              <a:cs typeface="微软雅黑" panose="020B0503020204020204" charset="-122"/>
            </a:endParaRPr>
          </a:p>
          <a:p>
            <a:pPr marL="0" indent="0">
              <a:lnSpc>
                <a:spcPct val="200000"/>
              </a:lnSpc>
              <a:buNone/>
            </a:pPr>
            <a:endParaRPr sz="1400" b="1" spc="0" dirty="0" smtClean="0">
              <a:solidFill>
                <a:srgbClr val="C00000"/>
              </a:solidFill>
              <a:latin typeface="微软雅黑" panose="020B0503020204020204" charset="-122"/>
              <a:cs typeface="微软雅黑" panose="020B0503020204020204" charset="-122"/>
            </a:endParaRPr>
          </a:p>
          <a:p>
            <a:pPr>
              <a:lnSpc>
                <a:spcPct val="200000"/>
              </a:lnSpc>
            </a:pPr>
            <a:r>
              <a:rPr lang="zh-CN" altLang="en-US" sz="1400" spc="0" dirty="0" smtClean="0">
                <a:solidFill>
                  <a:schemeClr val="tx1">
                    <a:lumMod val="65000"/>
                    <a:lumOff val="35000"/>
                  </a:schemeClr>
                </a:solidFill>
                <a:latin typeface="微软雅黑" panose="020B0503020204020204" charset="-122"/>
                <a:cs typeface="微软雅黑" panose="020B0503020204020204" charset="-122"/>
              </a:rPr>
              <a:t>避免</a:t>
            </a:r>
            <a:r>
              <a:rPr lang="en-US" altLang="zh-CN" sz="1400" spc="0" dirty="0" err="1">
                <a:solidFill>
                  <a:schemeClr val="tx1">
                    <a:lumMod val="65000"/>
                    <a:lumOff val="35000"/>
                  </a:schemeClr>
                </a:solidFill>
                <a:latin typeface="微软雅黑" panose="020B0503020204020204" charset="-122"/>
                <a:cs typeface="微软雅黑" panose="020B0503020204020204" charset="-122"/>
              </a:rPr>
              <a:t>shared_ptr</a:t>
            </a:r>
            <a:r>
              <a:rPr lang="zh-CN" altLang="en-US" sz="1400" spc="0" dirty="0">
                <a:solidFill>
                  <a:schemeClr val="tx1">
                    <a:lumMod val="65000"/>
                    <a:lumOff val="35000"/>
                  </a:schemeClr>
                </a:solidFill>
                <a:latin typeface="微软雅黑" panose="020B0503020204020204" charset="-122"/>
                <a:cs typeface="微软雅黑" panose="020B0503020204020204" charset="-122"/>
              </a:rPr>
              <a:t>的循环</a:t>
            </a:r>
            <a:r>
              <a:rPr lang="zh-CN" altLang="en-US" sz="1400" spc="0" dirty="0" smtClean="0">
                <a:solidFill>
                  <a:schemeClr val="tx1">
                    <a:lumMod val="65000"/>
                    <a:lumOff val="35000"/>
                  </a:schemeClr>
                </a:solidFill>
                <a:latin typeface="微软雅黑" panose="020B0503020204020204" charset="-122"/>
                <a:cs typeface="微软雅黑" panose="020B0503020204020204" charset="-122"/>
              </a:rPr>
              <a:t>引用</a:t>
            </a:r>
            <a:endParaRPr lang="en-US" sz="1400" spc="0" dirty="0" smtClean="0">
              <a:solidFill>
                <a:schemeClr val="tx1">
                  <a:lumMod val="65000"/>
                  <a:lumOff val="35000"/>
                </a:schemeClr>
              </a:solidFill>
              <a:latin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indent="0">
              <a:buNone/>
            </a:pPr>
            <a:r>
              <a:rPr lang="en-US" altLang="zh-CN" sz="2700" b="1" dirty="0" err="1">
                <a:latin typeface="微软雅黑" panose="020B0503020204020204" charset="-122"/>
                <a:cs typeface="微软雅黑" panose="020B0503020204020204" charset="-122"/>
                <a:sym typeface="+mn-ea"/>
              </a:rPr>
              <a:t>shared_ptr</a:t>
            </a:r>
            <a:r>
              <a:rPr sz="2700" b="1" dirty="0" smtClean="0">
                <a:latin typeface="微软雅黑" panose="020B0503020204020204" charset="-122"/>
                <a:cs typeface="微软雅黑" panose="020B0503020204020204" charset="-122"/>
                <a:sym typeface="+mn-ea"/>
              </a:rPr>
              <a:t>的线程安全</a:t>
            </a:r>
            <a:endParaRPr lang="en-US" sz="2700" b="1" dirty="0" smtClean="0">
              <a:latin typeface="微软雅黑" panose="020B0503020204020204" charset="-122"/>
              <a:cs typeface="微软雅黑" panose="020B0503020204020204" charset="-122"/>
              <a:sym typeface="+mn-ea"/>
            </a:endParaRPr>
          </a:p>
          <a:p>
            <a:pPr marL="0" indent="0">
              <a:buNone/>
            </a:pPr>
            <a:endParaRPr lang="en-US" altLang="zh-CN" sz="2400" b="1" dirty="0" err="1">
              <a:latin typeface="微软雅黑" panose="020B0503020204020204" charset="-122"/>
              <a:cs typeface="微软雅黑" panose="020B0503020204020204" charset="-122"/>
              <a:sym typeface="+mn-ea"/>
            </a:endParaRPr>
          </a:p>
          <a:p>
            <a:pPr marL="0" indent="0">
              <a:lnSpc>
                <a:spcPct val="160000"/>
              </a:lnSpc>
              <a:buNone/>
            </a:pPr>
            <a:r>
              <a:rPr lang="zh-CN" altLang="en-US" sz="1600" spc="0" dirty="0" smtClean="0">
                <a:solidFill>
                  <a:schemeClr val="tx1">
                    <a:lumMod val="65000"/>
                    <a:lumOff val="35000"/>
                  </a:schemeClr>
                </a:solidFill>
              </a:rPr>
              <a:t>多个线程能在 shared_ptr 的不同实例上调用所有成员函数（包含复制构造函数与赋值函数）而不用附加同步，即使这些实例是副本，且共享同一对象的所有权。若多个执行线程访问同一 shared_ptr 而不同步，且任一线程使用 shared_ptr 的非 const 成员函数，则将出现数据竞争</a:t>
            </a:r>
            <a:endParaRPr lang="zh-CN" altLang="en-US" sz="1600" spc="0" dirty="0" smtClean="0">
              <a:solidFill>
                <a:schemeClr val="tx1">
                  <a:lumMod val="65000"/>
                  <a:lumOff val="35000"/>
                </a:schemeClr>
              </a:solidFill>
            </a:endParaRPr>
          </a:p>
          <a:p>
            <a:pPr marL="0" indent="0">
              <a:lnSpc>
                <a:spcPct val="160000"/>
              </a:lnSpc>
              <a:buNone/>
            </a:pPr>
            <a:r>
              <a:rPr b="1" spc="0" dirty="0" smtClean="0">
                <a:solidFill>
                  <a:srgbClr val="C00000"/>
                </a:solidFill>
              </a:rPr>
              <a:t>根据上面的描述可以归纳为以下几点</a:t>
            </a:r>
            <a:r>
              <a:rPr b="1" spc="0" dirty="0">
                <a:solidFill>
                  <a:srgbClr val="C00000"/>
                </a:solidFill>
              </a:rPr>
              <a:t>:</a:t>
            </a:r>
            <a:endParaRPr b="1" spc="0" dirty="0">
              <a:solidFill>
                <a:srgbClr val="C00000"/>
              </a:solidFill>
            </a:endParaRPr>
          </a:p>
          <a:p>
            <a:pPr marL="342900" indent="-342900">
              <a:buAutoNum type="arabicPeriod"/>
            </a:pPr>
            <a:r>
              <a:rPr b="1" spc="0" dirty="0" smtClean="0">
                <a:solidFill>
                  <a:srgbClr val="C00000"/>
                </a:solidFill>
                <a:sym typeface="+mn-ea"/>
              </a:rPr>
              <a:t>   一个</a:t>
            </a:r>
            <a:r>
              <a:rPr b="1" spc="0" dirty="0">
                <a:solidFill>
                  <a:srgbClr val="C00000"/>
                </a:solidFill>
                <a:sym typeface="+mn-ea"/>
              </a:rPr>
              <a:t>shared_ptr对象可以被多个线程同时读</a:t>
            </a:r>
            <a:endParaRPr b="1" spc="0" dirty="0">
              <a:solidFill>
                <a:srgbClr val="C00000"/>
              </a:solidFill>
            </a:endParaRPr>
          </a:p>
          <a:p>
            <a:pPr marL="514350" indent="-514350">
              <a:buFont typeface="+mj-lt"/>
              <a:buAutoNum type="arabicPeriod"/>
            </a:pPr>
            <a:r>
              <a:rPr b="1" spc="0" dirty="0">
                <a:solidFill>
                  <a:srgbClr val="C00000"/>
                </a:solidFill>
                <a:sym typeface="+mn-ea"/>
              </a:rPr>
              <a:t>两个shared_ptr对象实体可以被两个线程同时读写，即使它们管理的是同一个对象</a:t>
            </a:r>
            <a:endParaRPr b="1" spc="0" dirty="0">
              <a:solidFill>
                <a:srgbClr val="C00000"/>
              </a:solidFill>
            </a:endParaRPr>
          </a:p>
          <a:p>
            <a:pPr marL="514350" indent="-514350">
              <a:buFont typeface="+mj-lt"/>
              <a:buAutoNum type="arabicPeriod"/>
            </a:pPr>
            <a:r>
              <a:rPr b="1" spc="0" dirty="0">
                <a:solidFill>
                  <a:srgbClr val="C00000"/>
                </a:solidFill>
                <a:sym typeface="+mn-ea"/>
              </a:rPr>
              <a:t>多个线程读写同一个shared_ptr对象实体，那么需要加琐</a:t>
            </a:r>
            <a:endParaRPr lang="zh-CN" altLang="en-US" b="1" dirty="0">
              <a:solidFill>
                <a:srgbClr val="C00000"/>
              </a:solidFill>
            </a:endParaRPr>
          </a:p>
          <a:p>
            <a:pPr marL="0" indent="0">
              <a:lnSpc>
                <a:spcPct val="160000"/>
              </a:lnSpc>
              <a:buNone/>
            </a:pPr>
            <a:endParaRPr lang="en-US" altLang="zh-CN" sz="1600" dirty="0"/>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695910"/>
          </a:xfrm>
        </p:spPr>
        <p:txBody>
          <a:bodyPr>
            <a:normAutofit/>
          </a:bodyPr>
          <a:lstStyle/>
          <a:p>
            <a:pPr marL="0" indent="0">
              <a:buNone/>
            </a:pPr>
            <a:r>
              <a:rPr lang="zh-CN" altLang="en-US" sz="2700" b="1" dirty="0" smtClean="0">
                <a:latin typeface="微软雅黑" panose="020B0503020204020204" charset="-122"/>
                <a:cs typeface="微软雅黑" panose="020B0503020204020204" charset="-122"/>
                <a:sym typeface="+mn-ea"/>
              </a:rPr>
              <a:t>通过</a:t>
            </a:r>
            <a:r>
              <a:rPr lang="en-US" altLang="zh-CN" sz="2700" b="1" dirty="0" err="1" smtClean="0">
                <a:latin typeface="微软雅黑" panose="020B0503020204020204" charset="-122"/>
                <a:cs typeface="微软雅黑" panose="020B0503020204020204" charset="-122"/>
                <a:sym typeface="+mn-ea"/>
              </a:rPr>
              <a:t>shared_ptr</a:t>
            </a:r>
            <a:r>
              <a:rPr lang="zh-CN" altLang="en-US" sz="2700" b="1" dirty="0" smtClean="0">
                <a:latin typeface="微软雅黑" panose="020B0503020204020204" charset="-122"/>
                <a:cs typeface="微软雅黑" panose="020B0503020204020204" charset="-122"/>
                <a:sym typeface="+mn-ea"/>
              </a:rPr>
              <a:t>实现</a:t>
            </a:r>
            <a:r>
              <a:rPr lang="zh-CN" altLang="en-US" sz="2700" b="1" dirty="0" smtClean="0">
                <a:latin typeface="微软雅黑" panose="020B0503020204020204" charset="-122"/>
                <a:cs typeface="微软雅黑" panose="020B0503020204020204" charset="-122"/>
              </a:rPr>
              <a:t>“</a:t>
            </a:r>
            <a:r>
              <a:rPr lang="en-US" altLang="zh-CN" sz="2700" b="1" dirty="0" err="1" smtClean="0">
                <a:latin typeface="微软雅黑" panose="020B0503020204020204" charset="-122"/>
                <a:cs typeface="微软雅黑" panose="020B0503020204020204" charset="-122"/>
              </a:rPr>
              <a:t>写时复制</a:t>
            </a:r>
            <a:r>
              <a:rPr lang="zh-CN" altLang="en-US" sz="2700" b="1" dirty="0" smtClean="0">
                <a:latin typeface="微软雅黑" panose="020B0503020204020204" charset="-122"/>
                <a:cs typeface="微软雅黑" panose="020B0503020204020204" charset="-122"/>
              </a:rPr>
              <a:t>”</a:t>
            </a:r>
            <a:endParaRPr lang="en-US" altLang="zh-CN" sz="2400" b="1" dirty="0">
              <a:latin typeface="微软雅黑" panose="020B0503020204020204" charset="-122"/>
              <a:cs typeface="微软雅黑" panose="020B0503020204020204" charset="-122"/>
              <a:sym typeface="+mn-ea"/>
            </a:endParaRPr>
          </a:p>
          <a:p>
            <a:pPr>
              <a:lnSpc>
                <a:spcPct val="160000"/>
              </a:lnSpc>
            </a:pPr>
            <a:r>
              <a:rPr sz="1600" spc="0" dirty="0" smtClean="0">
                <a:solidFill>
                  <a:schemeClr val="tx1">
                    <a:lumMod val="65000"/>
                    <a:lumOff val="35000"/>
                  </a:schemeClr>
                </a:solidFill>
                <a:latin typeface="微软雅黑" panose="020B0503020204020204" charset="-122"/>
                <a:sym typeface="+mn-ea"/>
              </a:rPr>
              <a:t>写时复制</a:t>
            </a:r>
            <a:r>
              <a:rPr lang="en-US" sz="1600" spc="0" dirty="0">
                <a:solidFill>
                  <a:schemeClr val="tx1">
                    <a:lumMod val="65000"/>
                    <a:lumOff val="35000"/>
                  </a:schemeClr>
                </a:solidFill>
                <a:latin typeface="微软雅黑" panose="020B0503020204020204" charset="-122"/>
              </a:rPr>
              <a:t>(</a:t>
            </a:r>
            <a:r>
              <a:rPr lang="en-US" sz="1600" b="1" spc="0" dirty="0">
                <a:solidFill>
                  <a:srgbClr val="C00000"/>
                </a:solidFill>
                <a:latin typeface="微软雅黑" panose="020B0503020204020204" charset="-122"/>
              </a:rPr>
              <a:t>copy-on-write</a:t>
            </a:r>
            <a:r>
              <a:rPr lang="en-US" sz="1600" spc="0" dirty="0">
                <a:solidFill>
                  <a:schemeClr val="tx1">
                    <a:lumMod val="65000"/>
                    <a:lumOff val="35000"/>
                  </a:schemeClr>
                </a:solidFill>
                <a:latin typeface="微软雅黑" panose="020B0503020204020204" charset="-122"/>
              </a:rPr>
              <a:t>)</a:t>
            </a:r>
            <a:r>
              <a:rPr sz="1600" spc="0" dirty="0" smtClean="0">
                <a:solidFill>
                  <a:schemeClr val="tx1">
                    <a:lumMod val="65000"/>
                    <a:lumOff val="35000"/>
                  </a:schemeClr>
                </a:solidFill>
                <a:latin typeface="微软雅黑" panose="020B0503020204020204" charset="-122"/>
                <a:sym typeface="+mn-ea"/>
              </a:rPr>
              <a:t>的概念</a:t>
            </a:r>
            <a:endParaRPr lang="en-US" sz="1600" spc="0" dirty="0" smtClean="0">
              <a:solidFill>
                <a:schemeClr val="tx1">
                  <a:lumMod val="65000"/>
                  <a:lumOff val="35000"/>
                </a:schemeClr>
              </a:solidFill>
              <a:latin typeface="微软雅黑" panose="020B0503020204020204" charset="-122"/>
              <a:sym typeface="+mn-ea"/>
            </a:endParaRPr>
          </a:p>
          <a:p>
            <a:pPr marL="0" indent="0">
              <a:lnSpc>
                <a:spcPct val="160000"/>
              </a:lnSpc>
              <a:buNone/>
            </a:pPr>
            <a:r>
              <a:rPr sz="1600" spc="0" dirty="0" smtClean="0">
                <a:solidFill>
                  <a:schemeClr val="tx1">
                    <a:lumMod val="65000"/>
                    <a:lumOff val="35000"/>
                  </a:schemeClr>
                </a:solidFill>
                <a:latin typeface="微软雅黑" panose="020B0503020204020204" charset="-122"/>
                <a:sym typeface="+mn-ea"/>
              </a:rPr>
              <a:t>只有在真正需要资源时才去分配资源</a:t>
            </a:r>
            <a:endParaRPr lang="zh-CN" altLang="en-US" sz="1600" dirty="0"/>
          </a:p>
          <a:p>
            <a:pPr>
              <a:lnSpc>
                <a:spcPct val="160000"/>
              </a:lnSpc>
            </a:pPr>
            <a:r>
              <a:rPr sz="1600" spc="0" dirty="0">
                <a:solidFill>
                  <a:schemeClr val="tx1">
                    <a:lumMod val="65000"/>
                    <a:lumOff val="35000"/>
                  </a:schemeClr>
                </a:solidFill>
                <a:latin typeface="微软雅黑" panose="020B0503020204020204" charset="-122"/>
                <a:sym typeface="+mn-ea"/>
              </a:rPr>
              <a:t>写时复制应用在多线程同步的场景</a:t>
            </a:r>
            <a:endParaRPr sz="1600" spc="0" dirty="0">
              <a:solidFill>
                <a:schemeClr val="tx1">
                  <a:lumMod val="65000"/>
                  <a:lumOff val="35000"/>
                </a:schemeClr>
              </a:solidFill>
              <a:latin typeface="微软雅黑" panose="020B0503020204020204" charset="-122"/>
              <a:sym typeface="+mn-ea"/>
            </a:endParaRPr>
          </a:p>
          <a:p>
            <a:pPr marL="0" indent="0">
              <a:lnSpc>
                <a:spcPct val="160000"/>
              </a:lnSpc>
              <a:buNone/>
            </a:pPr>
            <a:r>
              <a:rPr sz="1600" spc="0" dirty="0">
                <a:solidFill>
                  <a:schemeClr val="tx1">
                    <a:lumMod val="65000"/>
                    <a:lumOff val="35000"/>
                  </a:schemeClr>
                </a:solidFill>
                <a:latin typeface="微软雅黑" panose="020B0503020204020204" charset="-122"/>
                <a:sym typeface="+mn-ea"/>
              </a:rPr>
              <a:t>在系统中，有多个读线程和写线程共享一个数据结构。如果系统中的读操作的概率远远大于写操作，因为读写互斥的需要也会造成读线程间也需要加锁互斥，这无疑降低了系统处理的速度。其实只有当写线程进行操作时，才需要读写线程间的加锁互斥而读线程间是无需加锁的。运用写时复制的概念，</a:t>
            </a:r>
            <a:r>
              <a:rPr sz="1600" spc="0" dirty="0" smtClean="0">
                <a:solidFill>
                  <a:schemeClr val="tx1">
                    <a:lumMod val="65000"/>
                    <a:lumOff val="35000"/>
                  </a:schemeClr>
                </a:solidFill>
                <a:latin typeface="微软雅黑" panose="020B0503020204020204" charset="-122"/>
                <a:sym typeface="+mn-ea"/>
              </a:rPr>
              <a:t>在写线程判断如果有读线程在操作则拷贝一份数据进行更新</a:t>
            </a:r>
            <a:endParaRPr lang="en-US" sz="1600" spc="0" dirty="0" smtClean="0">
              <a:solidFill>
                <a:schemeClr val="tx1">
                  <a:lumMod val="65000"/>
                  <a:lumOff val="35000"/>
                </a:schemeClr>
              </a:solidFill>
              <a:latin typeface="微软雅黑" panose="020B0503020204020204" charset="-122"/>
              <a:sym typeface="+mn-ea"/>
            </a:endParaRPr>
          </a:p>
          <a:p>
            <a:pPr marL="0" indent="0">
              <a:lnSpc>
                <a:spcPct val="160000"/>
              </a:lnSpc>
              <a:buNone/>
            </a:pPr>
            <a:r>
              <a:rPr lang="zh-CN" altLang="en-US" sz="1000" b="1" spc="0" dirty="0">
                <a:solidFill>
                  <a:srgbClr val="C00000"/>
                </a:solidFill>
                <a:latin typeface="微软雅黑" panose="020B0503020204020204" charset="-122"/>
              </a:rPr>
              <a:t>两个</a:t>
            </a:r>
            <a:r>
              <a:rPr lang="zh-CN" altLang="en-US" sz="1000" b="1" spc="0" dirty="0" smtClean="0">
                <a:solidFill>
                  <a:srgbClr val="C00000"/>
                </a:solidFill>
                <a:latin typeface="微软雅黑" panose="020B0503020204020204" charset="-122"/>
              </a:rPr>
              <a:t>前提</a:t>
            </a:r>
            <a:r>
              <a:rPr lang="en-US" altLang="zh-CN" sz="1000" b="1" spc="0" dirty="0" smtClean="0">
                <a:solidFill>
                  <a:srgbClr val="C00000"/>
                </a:solidFill>
                <a:latin typeface="微软雅黑" panose="020B0503020204020204" charset="-122"/>
              </a:rPr>
              <a:t>:</a:t>
            </a:r>
            <a:endParaRPr lang="en-US" altLang="zh-CN" sz="1000" b="1" spc="0" dirty="0" smtClean="0">
              <a:solidFill>
                <a:srgbClr val="C00000"/>
              </a:solidFill>
              <a:latin typeface="微软雅黑" panose="020B0503020204020204" charset="-122"/>
            </a:endParaRPr>
          </a:p>
          <a:p>
            <a:pPr marL="228600" indent="-228600">
              <a:lnSpc>
                <a:spcPct val="160000"/>
              </a:lnSpc>
              <a:buFont typeface="+mj-lt"/>
              <a:buAutoNum type="arabicPeriod"/>
            </a:pPr>
            <a:r>
              <a:rPr lang="en-US" altLang="zh-CN" sz="1000" b="1" spc="0" dirty="0" err="1" smtClean="0">
                <a:solidFill>
                  <a:srgbClr val="C00000"/>
                </a:solidFill>
                <a:latin typeface="微软雅黑" panose="020B0503020204020204" charset="-122"/>
              </a:rPr>
              <a:t>shared_ptr</a:t>
            </a:r>
            <a:r>
              <a:rPr lang="zh-CN" altLang="en-US" sz="1000" b="1" spc="0" dirty="0" smtClean="0">
                <a:solidFill>
                  <a:srgbClr val="C00000"/>
                </a:solidFill>
                <a:latin typeface="微软雅黑" panose="020B0503020204020204" charset="-122"/>
              </a:rPr>
              <a:t>的读方法是多线安全的</a:t>
            </a:r>
            <a:endParaRPr lang="en-US" altLang="zh-CN" sz="1000" b="1" spc="0" dirty="0" smtClean="0">
              <a:solidFill>
                <a:srgbClr val="C00000"/>
              </a:solidFill>
              <a:latin typeface="微软雅黑" panose="020B0503020204020204" charset="-122"/>
            </a:endParaRPr>
          </a:p>
          <a:p>
            <a:pPr marL="228600" indent="-228600">
              <a:lnSpc>
                <a:spcPct val="160000"/>
              </a:lnSpc>
              <a:buFont typeface="+mj-lt"/>
              <a:buAutoNum type="arabicPeriod"/>
            </a:pPr>
            <a:r>
              <a:rPr lang="en-US" altLang="zh-CN" sz="1000" b="1" spc="0" dirty="0" err="1" smtClean="0">
                <a:solidFill>
                  <a:srgbClr val="C00000"/>
                </a:solidFill>
                <a:latin typeface="微软雅黑" panose="020B0503020204020204" charset="-122"/>
              </a:rPr>
              <a:t>shared_ptr</a:t>
            </a:r>
            <a:r>
              <a:rPr lang="zh-CN" altLang="en-US" sz="1000" b="1" spc="0" dirty="0" smtClean="0">
                <a:solidFill>
                  <a:srgbClr val="C00000"/>
                </a:solidFill>
                <a:latin typeface="微软雅黑" panose="020B0503020204020204" charset="-122"/>
              </a:rPr>
              <a:t>所指向的对象的提供的读方法必须是多线程安全的</a:t>
            </a:r>
            <a:endParaRPr lang="en-US" altLang="zh-CN" sz="1000" b="1" spc="0" dirty="0" smtClean="0">
              <a:solidFill>
                <a:srgbClr val="C00000"/>
              </a:solidFill>
              <a:latin typeface="微软雅黑" panose="020B0503020204020204" charset="-122"/>
            </a:endParaRPr>
          </a:p>
          <a:p>
            <a:pPr marL="0" indent="0">
              <a:lnSpc>
                <a:spcPct val="160000"/>
              </a:lnSpc>
              <a:buNone/>
            </a:pPr>
            <a:endParaRPr lang="zh-CN" altLang="en-US" sz="1600" spc="0" dirty="0">
              <a:solidFill>
                <a:schemeClr val="tx1">
                  <a:lumMod val="65000"/>
                  <a:lumOff val="35000"/>
                </a:schemeClr>
              </a:solidFill>
              <a:latin typeface="微软雅黑" panose="020B0503020204020204" charset="-122"/>
            </a:endParaRPr>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2499806" y="3162185"/>
            <a:ext cx="2985135"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en-US" altLang="zh-CN" sz="4270" b="1" dirty="0">
                <a:solidFill>
                  <a:schemeClr val="accent5">
                    <a:lumMod val="75000"/>
                  </a:schemeClr>
                </a:solidFill>
                <a:latin typeface="Arial" panose="020B0604020202020204" pitchFamily="34" charset="0"/>
                <a:ea typeface="微软雅黑" panose="020B0503020204020204" charset="-122"/>
                <a:sym typeface="+mn-ea"/>
              </a:rPr>
              <a:t>unique_ptr</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132391"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04</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p:transition spd="med" advTm="0">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fontScale="97500" lnSpcReduction="10000"/>
          </a:bodyPr>
          <a:lstStyle/>
          <a:p>
            <a:pPr marL="0" indent="0">
              <a:buNone/>
            </a:pPr>
            <a:r>
              <a:rPr lang="en-US" altLang="zh-CN" sz="2700" b="1" dirty="0" err="1">
                <a:latin typeface="微软雅黑" panose="020B0503020204020204" charset="-122"/>
                <a:cs typeface="微软雅黑" panose="020B0503020204020204" charset="-122"/>
                <a:sym typeface="+mn-ea"/>
              </a:rPr>
              <a:t>unique_ptr</a:t>
            </a:r>
            <a:r>
              <a:rPr sz="2700" b="1" dirty="0" err="1">
                <a:latin typeface="微软雅黑" panose="020B0503020204020204" charset="-122"/>
                <a:cs typeface="微软雅黑" panose="020B0503020204020204" charset="-122"/>
                <a:sym typeface="+mn-ea"/>
              </a:rPr>
              <a:t>概述</a:t>
            </a:r>
            <a:endParaRPr lang="en-US" altLang="zh-CN" sz="2400" b="1" dirty="0" err="1">
              <a:latin typeface="微软雅黑" panose="020B0503020204020204" charset="-122"/>
              <a:cs typeface="微软雅黑" panose="020B0503020204020204" charset="-122"/>
              <a:sym typeface="+mn-ea"/>
            </a:endParaRPr>
          </a:p>
          <a:p>
            <a:pPr marL="0" indent="0">
              <a:lnSpc>
                <a:spcPct val="160000"/>
              </a:lnSpc>
              <a:buNone/>
            </a:pPr>
            <a:r>
              <a:rPr sz="1600" spc="0" dirty="0">
                <a:solidFill>
                  <a:schemeClr val="tx1">
                    <a:lumMod val="65000"/>
                    <a:lumOff val="35000"/>
                  </a:schemeClr>
                </a:solidFill>
                <a:latin typeface="微软雅黑" panose="020B0503020204020204" charset="-122"/>
                <a:cs typeface="微软雅黑" panose="020B0503020204020204" charset="-122"/>
                <a:sym typeface="+mn-ea"/>
              </a:rPr>
              <a:t>uinque_ptr代表的是</a:t>
            </a:r>
            <a:r>
              <a:rPr sz="1600" b="1" spc="0" dirty="0">
                <a:solidFill>
                  <a:srgbClr val="C00000"/>
                </a:solidFill>
                <a:latin typeface="微软雅黑" panose="020B0503020204020204" charset="-122"/>
                <a:cs typeface="微软雅黑" panose="020B0503020204020204" charset="-122"/>
                <a:sym typeface="+mn-ea"/>
              </a:rPr>
              <a:t>独占所有权</a:t>
            </a:r>
            <a:r>
              <a:rPr sz="1600" spc="0" dirty="0">
                <a:solidFill>
                  <a:schemeClr val="tx1">
                    <a:lumMod val="65000"/>
                    <a:lumOff val="35000"/>
                  </a:schemeClr>
                </a:solidFill>
                <a:latin typeface="微软雅黑" panose="020B0503020204020204" charset="-122"/>
                <a:cs typeface="微软雅黑" panose="020B0503020204020204" charset="-122"/>
                <a:sym typeface="+mn-ea"/>
              </a:rPr>
              <a:t>，它没有拷贝语义(没有赋值构造函数和赋值函数)，只可通过移动操作来</a:t>
            </a:r>
            <a:r>
              <a:rPr sz="1600" b="1" spc="0" dirty="0">
                <a:solidFill>
                  <a:srgbClr val="C00000"/>
                </a:solidFill>
                <a:latin typeface="微软雅黑" panose="020B0503020204020204" charset="-122"/>
                <a:cs typeface="微软雅黑" panose="020B0503020204020204" charset="-122"/>
                <a:sym typeface="+mn-ea"/>
              </a:rPr>
              <a:t>转移</a:t>
            </a:r>
            <a:r>
              <a:rPr sz="1600" spc="0" dirty="0">
                <a:solidFill>
                  <a:schemeClr val="tx1">
                    <a:lumMod val="65000"/>
                    <a:lumOff val="35000"/>
                  </a:schemeClr>
                </a:solidFill>
                <a:latin typeface="微软雅黑" panose="020B0503020204020204" charset="-122"/>
                <a:cs typeface="微软雅黑" panose="020B0503020204020204" charset="-122"/>
                <a:sym typeface="+mn-ea"/>
              </a:rPr>
              <a:t>所有权(只有移动语义)，它的三个核心接口：</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a:lnSpc>
                <a:spcPct val="160000"/>
              </a:lnSpc>
            </a:pPr>
            <a:r>
              <a:rPr sz="1600" spc="0" dirty="0">
                <a:solidFill>
                  <a:schemeClr val="tx1">
                    <a:lumMod val="65000"/>
                    <a:lumOff val="35000"/>
                  </a:schemeClr>
                </a:solidFill>
                <a:latin typeface="微软雅黑" panose="020B0503020204020204" charset="-122"/>
                <a:cs typeface="微软雅黑" panose="020B0503020204020204" charset="-122"/>
                <a:sym typeface="+mn-ea"/>
              </a:rPr>
              <a:t>release() </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marL="0" indent="0">
              <a:lnSpc>
                <a:spcPct val="160000"/>
              </a:lnSpc>
              <a:buNone/>
            </a:pPr>
            <a:r>
              <a:rPr sz="1600" spc="0" dirty="0">
                <a:solidFill>
                  <a:schemeClr val="tx1">
                    <a:lumMod val="65000"/>
                    <a:lumOff val="35000"/>
                  </a:schemeClr>
                </a:solidFill>
                <a:latin typeface="微软雅黑" panose="020B0503020204020204" charset="-122"/>
                <a:cs typeface="微软雅黑" panose="020B0503020204020204" charset="-122"/>
                <a:sym typeface="+mn-ea"/>
              </a:rPr>
              <a:t>返回指向被管理对象的指针，并释放所有权</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a:lnSpc>
                <a:spcPct val="160000"/>
              </a:lnSpc>
            </a:pPr>
            <a:r>
              <a:rPr sz="1600" spc="0" dirty="0">
                <a:solidFill>
                  <a:schemeClr val="tx1">
                    <a:lumMod val="65000"/>
                    <a:lumOff val="35000"/>
                  </a:schemeClr>
                </a:solidFill>
                <a:latin typeface="微软雅黑" panose="020B0503020204020204" charset="-122"/>
                <a:cs typeface="微软雅黑" panose="020B0503020204020204" charset="-122"/>
                <a:sym typeface="+mn-ea"/>
              </a:rPr>
              <a:t>reset()</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marL="0" indent="0">
              <a:lnSpc>
                <a:spcPct val="160000"/>
              </a:lnSpc>
              <a:buNone/>
            </a:pPr>
            <a:r>
              <a:rPr sz="1600" spc="0" dirty="0">
                <a:solidFill>
                  <a:schemeClr val="tx1">
                    <a:lumMod val="65000"/>
                    <a:lumOff val="35000"/>
                  </a:schemeClr>
                </a:solidFill>
                <a:latin typeface="微软雅黑" panose="020B0503020204020204" charset="-122"/>
                <a:cs typeface="微软雅黑" panose="020B0503020204020204" charset="-122"/>
                <a:sym typeface="+mn-ea"/>
              </a:rPr>
              <a:t>替换被管理的对象</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marR="0" algn="l" defTabSz="914400" rtl="0" eaLnBrk="1" fontAlgn="base" latinLnBrk="0" hangingPunct="1">
              <a:lnSpc>
                <a:spcPct val="100000"/>
              </a:lnSpc>
              <a:spcBef>
                <a:spcPct val="20000"/>
              </a:spcBef>
              <a:spcAft>
                <a:spcPct val="0"/>
              </a:spcAft>
              <a:buClrTx/>
              <a:buSzTx/>
            </a:pPr>
            <a:r>
              <a:rPr lang="en-US" sz="1600" spc="0" dirty="0">
                <a:solidFill>
                  <a:schemeClr val="tx1">
                    <a:lumMod val="65000"/>
                    <a:lumOff val="35000"/>
                  </a:schemeClr>
                </a:solidFill>
                <a:latin typeface="微软雅黑" panose="020B0503020204020204" charset="-122"/>
                <a:cs typeface="微软雅黑" panose="020B0503020204020204" charset="-122"/>
              </a:rPr>
              <a:t>s</a:t>
            </a:r>
            <a:r>
              <a:rPr sz="1600" spc="0" smtClean="0">
                <a:solidFill>
                  <a:schemeClr val="tx1">
                    <a:lumMod val="65000"/>
                    <a:lumOff val="35000"/>
                  </a:schemeClr>
                </a:solidFill>
                <a:latin typeface="微软雅黑" panose="020B0503020204020204" charset="-122"/>
                <a:cs typeface="微软雅黑" panose="020B0503020204020204" charset="-122"/>
                <a:sym typeface="+mn-ea"/>
              </a:rPr>
              <a:t>wap</a:t>
            </a:r>
            <a:r>
              <a:rPr lang="en-US" sz="1600" spc="0" dirty="0" smtClean="0">
                <a:solidFill>
                  <a:schemeClr val="tx1">
                    <a:lumMod val="65000"/>
                    <a:lumOff val="35000"/>
                  </a:schemeClr>
                </a:solidFill>
                <a:latin typeface="微软雅黑" panose="020B0503020204020204" charset="-122"/>
                <a:cs typeface="微软雅黑" panose="020B0503020204020204" charset="-122"/>
                <a:sym typeface="+mn-ea"/>
              </a:rPr>
              <a:t>()</a:t>
            </a:r>
            <a:endParaRPr sz="1600" spc="0" dirty="0">
              <a:solidFill>
                <a:schemeClr val="tx1">
                  <a:lumMod val="65000"/>
                  <a:lumOff val="35000"/>
                </a:schemeClr>
              </a:solidFill>
              <a:latin typeface="微软雅黑" panose="020B0503020204020204" charset="-122"/>
              <a:cs typeface="微软雅黑" panose="020B0503020204020204" charset="-122"/>
              <a:sym typeface="+mn-ea"/>
            </a:endParaRPr>
          </a:p>
          <a:p>
            <a:pPr marL="0" marR="0" indent="0" algn="l" defTabSz="914400" rtl="0" eaLnBrk="1" fontAlgn="base" latinLnBrk="0" hangingPunct="1">
              <a:lnSpc>
                <a:spcPct val="100000"/>
              </a:lnSpc>
              <a:spcBef>
                <a:spcPct val="20000"/>
              </a:spcBef>
              <a:spcAft>
                <a:spcPct val="0"/>
              </a:spcAft>
              <a:buClrTx/>
              <a:buSzTx/>
              <a:buNone/>
            </a:pPr>
            <a:endParaRPr kumimoji="0" sz="1600" b="0" i="0" u="none" strike="noStrike" kern="1200" cap="none" spc="0" normalizeH="0" baseline="0" noProof="1">
              <a:solidFill>
                <a:schemeClr val="tx1">
                  <a:lumMod val="65000"/>
                  <a:lumOff val="35000"/>
                </a:schemeClr>
              </a:solidFill>
              <a:latin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20000"/>
              </a:spcBef>
              <a:spcAft>
                <a:spcPct val="0"/>
              </a:spcAft>
              <a:buClrTx/>
              <a:buSzTx/>
              <a:buFont typeface="Wingdings" panose="05000000000000000000" charset="0"/>
              <a:buNone/>
            </a:pPr>
            <a:r>
              <a:rPr sz="1600" spc="0" dirty="0">
                <a:solidFill>
                  <a:schemeClr val="tx1">
                    <a:lumMod val="65000"/>
                    <a:lumOff val="35000"/>
                  </a:schemeClr>
                </a:solidFill>
                <a:latin typeface="微软雅黑" panose="020B0503020204020204" charset="-122"/>
                <a:cs typeface="微软雅黑" panose="020B0503020204020204" charset="-122"/>
                <a:sym typeface="+mn-ea"/>
              </a:rPr>
              <a:t>交换被管理的对象</a:t>
            </a:r>
            <a:endParaRPr lang="zh-CN" altLang="en-US" sz="1600" dirty="0">
              <a:latin typeface="微软雅黑" panose="020B0503020204020204" charset="-122"/>
              <a:cs typeface="微软雅黑" panose="020B0503020204020204" charset="-122"/>
            </a:endParaRPr>
          </a:p>
          <a:p>
            <a:pPr marL="0" indent="0">
              <a:lnSpc>
                <a:spcPct val="160000"/>
              </a:lnSpc>
              <a:buNone/>
            </a:pPr>
            <a:endParaRPr lang="en-US" altLang="zh-CN" sz="1600" dirty="0"/>
          </a:p>
          <a:p>
            <a:pPr marL="0" indent="0">
              <a:lnSpc>
                <a:spcPct val="160000"/>
              </a:lnSpc>
              <a:buNone/>
            </a:pPr>
            <a:r>
              <a:rPr sz="1600" b="1" spc="0" dirty="0">
                <a:solidFill>
                  <a:srgbClr val="C00000"/>
                </a:solidFill>
                <a:latin typeface="微软雅黑" panose="020B0503020204020204" charset="-122"/>
                <a:cs typeface="微软雅黑" panose="020B0503020204020204" charset="-122"/>
                <a:sym typeface="+mn-ea"/>
              </a:rPr>
              <a:t>可以通过release()和reset()转移所有权</a:t>
            </a:r>
            <a:endParaRPr kumimoji="0" lang="zh-CN" altLang="en-US" sz="1600" b="0" i="0" u="none" strike="noStrike" kern="1200" cap="none" spc="0" normalizeH="0" baseline="0" noProof="1">
              <a:solidFill>
                <a:schemeClr val="tx1"/>
              </a:solidFill>
              <a:latin typeface="+mn-lt"/>
              <a:ea typeface="+mn-ea"/>
              <a:cs typeface="+mn-cs"/>
            </a:endParaRPr>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p:tgtEl>
                                          <p:spTgt spid="3">
                                            <p:txEl>
                                              <p:pRg st="10" end="1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marR="0" indent="0" algn="l" defTabSz="914400" rtl="0" eaLnBrk="1" fontAlgn="base" latinLnBrk="0" hangingPunct="1">
              <a:lnSpc>
                <a:spcPct val="100000"/>
              </a:lnSpc>
              <a:spcBef>
                <a:spcPct val="20000"/>
              </a:spcBef>
              <a:spcAft>
                <a:spcPct val="0"/>
              </a:spcAft>
              <a:buClrTx/>
              <a:buSzTx/>
              <a:buFontTx/>
              <a:buNone/>
            </a:pPr>
            <a:r>
              <a:rPr lang="en-US" altLang="zh-CN" sz="2700" b="1" dirty="0" err="1">
                <a:latin typeface="微软雅黑" panose="020B0503020204020204" charset="-122"/>
                <a:cs typeface="微软雅黑" panose="020B0503020204020204" charset="-122"/>
                <a:sym typeface="+mn-ea"/>
              </a:rPr>
              <a:t>unique_ptr的应用</a:t>
            </a:r>
            <a:endParaRPr sz="1600" spc="0" dirty="0">
              <a:solidFill>
                <a:schemeClr val="tx1">
                  <a:lumMod val="65000"/>
                  <a:lumOff val="35000"/>
                </a:schemeClr>
              </a:solidFill>
              <a:latin typeface="微软雅黑" panose="020B0503020204020204" charset="-122"/>
              <a:sym typeface="+mn-ea"/>
            </a:endParaRPr>
          </a:p>
          <a:p>
            <a:pPr marL="342900" marR="0" indent="-342900" algn="l" defTabSz="914400" rtl="0" eaLnBrk="1" fontAlgn="base" latinLnBrk="0" hangingPunct="1">
              <a:lnSpc>
                <a:spcPct val="200000"/>
              </a:lnSpc>
              <a:spcBef>
                <a:spcPct val="20000"/>
              </a:spcBef>
              <a:spcAft>
                <a:spcPct val="0"/>
              </a:spcAft>
              <a:buClrTx/>
              <a:buSzTx/>
              <a:buFontTx/>
              <a:buChar char="•"/>
            </a:pPr>
            <a:r>
              <a:rPr sz="1600" b="1" spc="0" dirty="0">
                <a:solidFill>
                  <a:schemeClr val="tx1">
                    <a:lumMod val="65000"/>
                    <a:lumOff val="35000"/>
                  </a:schemeClr>
                </a:solidFill>
                <a:latin typeface="微软雅黑" panose="020B0503020204020204" charset="-122"/>
                <a:sym typeface="+mn-ea"/>
              </a:rPr>
              <a:t>实现工厂模式</a:t>
            </a:r>
            <a:endParaRPr sz="1600" spc="0" dirty="0">
              <a:solidFill>
                <a:schemeClr val="tx1">
                  <a:lumMod val="65000"/>
                  <a:lumOff val="35000"/>
                </a:schemeClr>
              </a:solidFill>
              <a:latin typeface="微软雅黑" panose="020B0503020204020204" charset="-122"/>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600" spc="0" dirty="0">
                <a:solidFill>
                  <a:schemeClr val="tx1">
                    <a:lumMod val="65000"/>
                    <a:lumOff val="35000"/>
                  </a:schemeClr>
                </a:solidFill>
                <a:latin typeface="微软雅黑" panose="020B0503020204020204" charset="-122"/>
                <a:sym typeface="+mn-ea"/>
              </a:rPr>
              <a:t>配合shared_ptr实现工厂模式</a:t>
            </a: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cs typeface="+mn-cs"/>
            </a:endParaRPr>
          </a:p>
          <a:p>
            <a:pPr marL="342900" marR="0" indent="-342900" algn="l" defTabSz="914400" rtl="0" eaLnBrk="1" fontAlgn="base" latinLnBrk="0" hangingPunct="1">
              <a:lnSpc>
                <a:spcPct val="200000"/>
              </a:lnSpc>
              <a:spcBef>
                <a:spcPct val="20000"/>
              </a:spcBef>
              <a:spcAft>
                <a:spcPct val="0"/>
              </a:spcAft>
              <a:buClrTx/>
              <a:buSzTx/>
              <a:buFontTx/>
              <a:buChar char="•"/>
            </a:pPr>
            <a:r>
              <a:rPr sz="1600" b="1" spc="0" dirty="0">
                <a:solidFill>
                  <a:schemeClr val="tx1">
                    <a:lumMod val="65000"/>
                    <a:lumOff val="35000"/>
                  </a:schemeClr>
                </a:solidFill>
                <a:latin typeface="微软雅黑" panose="020B0503020204020204" charset="-122"/>
                <a:sym typeface="+mn-ea"/>
              </a:rPr>
              <a:t>容器存入unique_ptr</a:t>
            </a:r>
            <a:endParaRPr sz="1600" spc="0" dirty="0">
              <a:solidFill>
                <a:schemeClr val="tx1">
                  <a:lumMod val="65000"/>
                  <a:lumOff val="35000"/>
                </a:schemeClr>
              </a:solidFill>
              <a:latin typeface="微软雅黑" panose="020B0503020204020204" charset="-122"/>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600" spc="0" dirty="0">
                <a:solidFill>
                  <a:schemeClr val="tx1">
                    <a:lumMod val="65000"/>
                    <a:lumOff val="35000"/>
                  </a:schemeClr>
                </a:solidFill>
                <a:latin typeface="微软雅黑" panose="020B0503020204020204" charset="-122"/>
                <a:sym typeface="+mn-ea"/>
              </a:rPr>
              <a:t>unique_ptr不支持拷贝语义，直接将一个unique_ptr对象存入容器是不行的，必须通过std::move将unqiue_ptr对象“移动”到容器</a:t>
            </a: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cs typeface="+mn-cs"/>
            </a:endParaRPr>
          </a:p>
          <a:p>
            <a:pPr marL="0" marR="0" indent="0" algn="l" defTabSz="914400" rtl="0" eaLnBrk="1" fontAlgn="base" latinLnBrk="0" hangingPunct="1">
              <a:lnSpc>
                <a:spcPct val="200000"/>
              </a:lnSpc>
              <a:spcBef>
                <a:spcPct val="20000"/>
              </a:spcBef>
              <a:spcAft>
                <a:spcPct val="0"/>
              </a:spcAft>
              <a:buClrTx/>
              <a:buSzTx/>
              <a:buFontTx/>
              <a:buNone/>
            </a:pP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ea typeface="+mn-ea"/>
              <a:cs typeface="+mn-cs"/>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000" b="1" spc="0" dirty="0">
                <a:solidFill>
                  <a:srgbClr val="C00000"/>
                </a:solidFill>
                <a:latin typeface="微软雅黑" panose="020B0503020204020204" charset="-122"/>
                <a:sym typeface="+mn-ea"/>
              </a:rPr>
              <a:t>boost 提供了一个socped_ptr的智能指针，它不可复制，也不可转移，代表完全所有权</a:t>
            </a:r>
            <a:endParaRPr kumimoji="0" lang="zh-CN" altLang="en-US" sz="1600" b="0" i="0" u="none" strike="noStrike" kern="1200" cap="none" spc="0" normalizeH="0" baseline="0" noProof="1">
              <a:solidFill>
                <a:schemeClr val="tx1"/>
              </a:solidFill>
              <a:latin typeface="+mn-lt"/>
              <a:ea typeface="+mn-ea"/>
              <a:cs typeface="+mn-cs"/>
            </a:endParaRPr>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marR="0" indent="0" algn="l" defTabSz="914400" rtl="0" eaLnBrk="1" fontAlgn="base" latinLnBrk="0" hangingPunct="1">
              <a:lnSpc>
                <a:spcPct val="100000"/>
              </a:lnSpc>
              <a:spcBef>
                <a:spcPct val="20000"/>
              </a:spcBef>
              <a:spcAft>
                <a:spcPct val="0"/>
              </a:spcAft>
              <a:buClrTx/>
              <a:buSzTx/>
              <a:buFontTx/>
              <a:buNone/>
            </a:pPr>
            <a:r>
              <a:rPr lang="en-US" altLang="zh-CN" sz="2700" b="1" dirty="0" err="1">
                <a:latin typeface="微软雅黑" panose="020B0503020204020204" charset="-122"/>
                <a:cs typeface="微软雅黑" panose="020B0503020204020204" charset="-122"/>
                <a:sym typeface="+mn-ea"/>
              </a:rPr>
              <a:t>unique_ptr的应用</a:t>
            </a:r>
            <a:endParaRPr sz="1600" spc="0" dirty="0">
              <a:solidFill>
                <a:schemeClr val="tx1">
                  <a:lumMod val="65000"/>
                  <a:lumOff val="35000"/>
                </a:schemeClr>
              </a:solidFill>
              <a:latin typeface="微软雅黑" panose="020B0503020204020204" charset="-122"/>
              <a:sym typeface="+mn-ea"/>
            </a:endParaRPr>
          </a:p>
          <a:p>
            <a:pPr marL="342900" marR="0" indent="-342900" algn="l" defTabSz="914400" rtl="0" eaLnBrk="1" fontAlgn="base" latinLnBrk="0" hangingPunct="1">
              <a:lnSpc>
                <a:spcPct val="200000"/>
              </a:lnSpc>
              <a:spcBef>
                <a:spcPct val="20000"/>
              </a:spcBef>
              <a:spcAft>
                <a:spcPct val="0"/>
              </a:spcAft>
              <a:buClrTx/>
              <a:buSzTx/>
              <a:buFontTx/>
              <a:buChar char="•"/>
            </a:pPr>
            <a:r>
              <a:rPr sz="1600" b="1" spc="0" dirty="0">
                <a:solidFill>
                  <a:schemeClr val="tx1">
                    <a:lumMod val="65000"/>
                    <a:lumOff val="35000"/>
                  </a:schemeClr>
                </a:solidFill>
                <a:latin typeface="微软雅黑" panose="020B0503020204020204" charset="-122"/>
                <a:sym typeface="+mn-ea"/>
              </a:rPr>
              <a:t>实现工厂模式</a:t>
            </a:r>
            <a:endParaRPr sz="1600" spc="0" dirty="0">
              <a:solidFill>
                <a:schemeClr val="tx1">
                  <a:lumMod val="65000"/>
                  <a:lumOff val="35000"/>
                </a:schemeClr>
              </a:solidFill>
              <a:latin typeface="微软雅黑" panose="020B0503020204020204" charset="-122"/>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600" spc="0" dirty="0">
                <a:solidFill>
                  <a:schemeClr val="tx1">
                    <a:lumMod val="65000"/>
                    <a:lumOff val="35000"/>
                  </a:schemeClr>
                </a:solidFill>
                <a:latin typeface="微软雅黑" panose="020B0503020204020204" charset="-122"/>
                <a:sym typeface="+mn-ea"/>
              </a:rPr>
              <a:t>配合shared_ptr实现工厂模式</a:t>
            </a: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cs typeface="+mn-cs"/>
            </a:endParaRPr>
          </a:p>
          <a:p>
            <a:pPr marL="342900" marR="0" indent="-342900" algn="l" defTabSz="914400" rtl="0" eaLnBrk="1" fontAlgn="base" latinLnBrk="0" hangingPunct="1">
              <a:lnSpc>
                <a:spcPct val="200000"/>
              </a:lnSpc>
              <a:spcBef>
                <a:spcPct val="20000"/>
              </a:spcBef>
              <a:spcAft>
                <a:spcPct val="0"/>
              </a:spcAft>
              <a:buClrTx/>
              <a:buSzTx/>
              <a:buFontTx/>
              <a:buChar char="•"/>
            </a:pPr>
            <a:r>
              <a:rPr sz="1600" b="1" spc="0" dirty="0">
                <a:solidFill>
                  <a:schemeClr val="tx1">
                    <a:lumMod val="65000"/>
                    <a:lumOff val="35000"/>
                  </a:schemeClr>
                </a:solidFill>
                <a:latin typeface="微软雅黑" panose="020B0503020204020204" charset="-122"/>
                <a:sym typeface="+mn-ea"/>
              </a:rPr>
              <a:t>容器存入unique_ptr</a:t>
            </a:r>
            <a:endParaRPr sz="1600" spc="0" dirty="0">
              <a:solidFill>
                <a:schemeClr val="tx1">
                  <a:lumMod val="65000"/>
                  <a:lumOff val="35000"/>
                </a:schemeClr>
              </a:solidFill>
              <a:latin typeface="微软雅黑" panose="020B0503020204020204" charset="-122"/>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600" spc="0" dirty="0">
                <a:solidFill>
                  <a:schemeClr val="tx1">
                    <a:lumMod val="65000"/>
                    <a:lumOff val="35000"/>
                  </a:schemeClr>
                </a:solidFill>
                <a:latin typeface="微软雅黑" panose="020B0503020204020204" charset="-122"/>
                <a:sym typeface="+mn-ea"/>
              </a:rPr>
              <a:t>unique_ptr不支持拷贝语义，直接将一个unique_ptr对象存入容器是不行的，必须通过std::move将unqiue_ptr对象“移动”到容器</a:t>
            </a: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cs typeface="+mn-cs"/>
            </a:endParaRPr>
          </a:p>
          <a:p>
            <a:pPr marL="342900" marR="0" indent="-342900" algn="l" defTabSz="914400" rtl="0" eaLnBrk="1" fontAlgn="base" latinLnBrk="0" hangingPunct="1">
              <a:lnSpc>
                <a:spcPct val="200000"/>
              </a:lnSpc>
              <a:spcBef>
                <a:spcPct val="20000"/>
              </a:spcBef>
              <a:spcAft>
                <a:spcPct val="0"/>
              </a:spcAft>
              <a:buClrTx/>
              <a:buSzTx/>
              <a:buFontTx/>
              <a:buChar char="•"/>
            </a:pPr>
            <a:r>
              <a:rPr sz="1600" b="1" spc="0" dirty="0">
                <a:solidFill>
                  <a:schemeClr val="tx1">
                    <a:lumMod val="65000"/>
                    <a:lumOff val="35000"/>
                  </a:schemeClr>
                </a:solidFill>
                <a:latin typeface="微软雅黑" panose="020B0503020204020204" charset="-122"/>
                <a:sym typeface="+mn-ea"/>
              </a:rPr>
              <a:t>unique_ptr支持动态数组</a:t>
            </a: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cs typeface="+mn-cs"/>
            </a:endParaRPr>
          </a:p>
          <a:p>
            <a:pPr marL="0" marR="0" indent="0" algn="l" defTabSz="914400" rtl="0" eaLnBrk="1" fontAlgn="base" latinLnBrk="0" hangingPunct="1">
              <a:lnSpc>
                <a:spcPct val="200000"/>
              </a:lnSpc>
              <a:spcBef>
                <a:spcPct val="20000"/>
              </a:spcBef>
              <a:spcAft>
                <a:spcPct val="0"/>
              </a:spcAft>
              <a:buClrTx/>
              <a:buSzTx/>
              <a:buFontTx/>
              <a:buNone/>
            </a:pPr>
            <a:r>
              <a:rPr sz="1600" spc="0" dirty="0">
                <a:solidFill>
                  <a:schemeClr val="tx1">
                    <a:lumMod val="65000"/>
                    <a:lumOff val="35000"/>
                  </a:schemeClr>
                </a:solidFill>
                <a:latin typeface="微软雅黑" panose="020B0503020204020204" charset="-122"/>
                <a:sym typeface="+mn-ea"/>
              </a:rPr>
              <a:t>unique_ptr有个数组版本，支持动态数组</a:t>
            </a:r>
            <a:endParaRPr sz="1600" spc="0" dirty="0">
              <a:solidFill>
                <a:schemeClr val="tx1">
                  <a:lumMod val="65000"/>
                  <a:lumOff val="35000"/>
                </a:schemeClr>
              </a:solidFill>
              <a:latin typeface="微软雅黑" panose="020B0503020204020204" charset="-122"/>
              <a:sym typeface="+mn-ea"/>
            </a:endParaRPr>
          </a:p>
          <a:p>
            <a:pPr marL="0" marR="0" indent="0" algn="l" defTabSz="914400" rtl="0" eaLnBrk="1" fontAlgn="base" latinLnBrk="0" hangingPunct="1">
              <a:lnSpc>
                <a:spcPct val="200000"/>
              </a:lnSpc>
              <a:spcBef>
                <a:spcPct val="20000"/>
              </a:spcBef>
              <a:spcAft>
                <a:spcPct val="0"/>
              </a:spcAft>
              <a:buClrTx/>
              <a:buSzTx/>
              <a:buFontTx/>
              <a:buNone/>
            </a:pPr>
            <a:endParaRPr kumimoji="0" lang="zh-CN" altLang="en-US" sz="1600" b="0" i="0" u="none" strike="noStrike" kern="1200" cap="none" spc="0" normalizeH="0" baseline="0" noProof="1">
              <a:solidFill>
                <a:schemeClr val="tx1">
                  <a:lumMod val="65000"/>
                  <a:lumOff val="35000"/>
                </a:schemeClr>
              </a:solidFill>
              <a:latin typeface="微软雅黑" panose="020B0503020204020204" charset="-122"/>
              <a:ea typeface="+mn-ea"/>
              <a:cs typeface="+mn-cs"/>
              <a:sym typeface="+mn-ea"/>
            </a:endParaRPr>
          </a:p>
          <a:p>
            <a:pPr marL="0" marR="0" indent="0" algn="l" defTabSz="914400" rtl="0" eaLnBrk="1" fontAlgn="base" latinLnBrk="0" hangingPunct="1">
              <a:lnSpc>
                <a:spcPct val="200000"/>
              </a:lnSpc>
              <a:spcBef>
                <a:spcPct val="20000"/>
              </a:spcBef>
              <a:spcAft>
                <a:spcPct val="0"/>
              </a:spcAft>
              <a:buClrTx/>
              <a:buSzTx/>
              <a:buFontTx/>
              <a:buNone/>
            </a:pPr>
            <a:r>
              <a:rPr sz="1000" b="1" spc="0" dirty="0">
                <a:solidFill>
                  <a:srgbClr val="C00000"/>
                </a:solidFill>
                <a:latin typeface="微软雅黑" panose="020B0503020204020204" charset="-122"/>
                <a:sym typeface="+mn-ea"/>
              </a:rPr>
              <a:t>boost 提供了一个socped_ptr的智能指针，它不可复制，也不可转移，代表完全所有权</a:t>
            </a:r>
            <a:endParaRPr kumimoji="0" lang="zh-CN" altLang="en-US" sz="1600" b="0" i="0" u="none" strike="noStrike" kern="1200" cap="none" spc="0" normalizeH="0" baseline="0" noProof="1">
              <a:solidFill>
                <a:schemeClr val="tx1"/>
              </a:solidFill>
              <a:latin typeface="+mn-lt"/>
              <a:ea typeface="+mn-ea"/>
              <a:cs typeface="+mn-cs"/>
            </a:endParaRPr>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p:tgtEl>
                                          <p:spTgt spid="3">
                                            <p:txEl>
                                              <p:pRg st="8" end="8"/>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4203820" y="3161482"/>
            <a:ext cx="1281121" cy="749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总结</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132391" y="2649895"/>
            <a:ext cx="12877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智 能 指 针</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3917"/>
            <a:ext cx="2204450" cy="227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smtClean="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05</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p:transition spd="med" advTm="0">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fontScale="77500" lnSpcReduction="20000"/>
          </a:bodyPr>
          <a:lstStyle/>
          <a:p>
            <a:pPr marL="0" marR="0" indent="0" algn="l" defTabSz="914400" rtl="0" eaLnBrk="1" fontAlgn="base" latinLnBrk="0" hangingPunct="1">
              <a:lnSpc>
                <a:spcPct val="100000"/>
              </a:lnSpc>
              <a:spcBef>
                <a:spcPct val="20000"/>
              </a:spcBef>
              <a:spcAft>
                <a:spcPct val="0"/>
              </a:spcAft>
              <a:buClrTx/>
              <a:buSzTx/>
              <a:buFontTx/>
              <a:buNone/>
            </a:pPr>
            <a:r>
              <a:rPr lang="zh-CN" altLang="en-US" sz="2700" b="1" dirty="0" smtClean="0">
                <a:latin typeface="微软雅黑" panose="020B0503020204020204" charset="-122"/>
                <a:cs typeface="微软雅黑" panose="020B0503020204020204" charset="-122"/>
                <a:sym typeface="+mn-ea"/>
              </a:rPr>
              <a:t>删除器</a:t>
            </a:r>
            <a:endParaRPr lang="en-US" altLang="zh-CN" sz="2700" b="1" dirty="0" smtClean="0">
              <a:latin typeface="微软雅黑" panose="020B0503020204020204" charset="-122"/>
              <a:cs typeface="微软雅黑" panose="020B0503020204020204" charset="-122"/>
              <a:sym typeface="+mn-ea"/>
            </a:endParaRPr>
          </a:p>
          <a:p>
            <a:pPr marL="0" indent="0" fontAlgn="base">
              <a:lnSpc>
                <a:spcPct val="210000"/>
              </a:lnSpc>
              <a:spcBef>
                <a:spcPct val="20000"/>
              </a:spcBef>
              <a:spcAft>
                <a:spcPct val="0"/>
              </a:spcAft>
              <a:buNone/>
            </a:pPr>
            <a:r>
              <a:rPr lang="zh-CN" altLang="en-US" sz="1600" spc="0" dirty="0">
                <a:solidFill>
                  <a:schemeClr val="tx1">
                    <a:lumMod val="65000"/>
                    <a:lumOff val="35000"/>
                  </a:schemeClr>
                </a:solidFill>
                <a:latin typeface="微软雅黑" panose="020B0503020204020204" charset="-122"/>
              </a:rPr>
              <a:t>对智能指针不只是管理动态内存，还可以其它类型的资源</a:t>
            </a:r>
            <a:r>
              <a:rPr lang="en-US" altLang="zh-CN" sz="1600" spc="0" dirty="0">
                <a:solidFill>
                  <a:schemeClr val="tx1">
                    <a:lumMod val="65000"/>
                    <a:lumOff val="35000"/>
                  </a:schemeClr>
                </a:solidFill>
                <a:latin typeface="微软雅黑" panose="020B0503020204020204" charset="-122"/>
              </a:rPr>
              <a:t>(</a:t>
            </a:r>
            <a:r>
              <a:rPr lang="zh-CN" altLang="en-US" sz="1600" spc="0" dirty="0">
                <a:solidFill>
                  <a:schemeClr val="tx1">
                    <a:lumMod val="65000"/>
                    <a:lumOff val="35000"/>
                  </a:schemeClr>
                </a:solidFill>
                <a:latin typeface="微软雅黑" panose="020B0503020204020204" charset="-122"/>
              </a:rPr>
              <a:t>只要业务认为是资源且对外暴露为指针，比如文件，数据库连接等</a:t>
            </a:r>
            <a:r>
              <a:rPr lang="en-US" altLang="zh-CN" sz="1600" spc="0" dirty="0" smtClean="0">
                <a:solidFill>
                  <a:schemeClr val="tx1">
                    <a:lumMod val="65000"/>
                    <a:lumOff val="35000"/>
                  </a:schemeClr>
                </a:solidFill>
                <a:latin typeface="微软雅黑" panose="020B0503020204020204" charset="-122"/>
              </a:rPr>
              <a:t>)</a:t>
            </a:r>
            <a:r>
              <a:rPr lang="zh-CN" altLang="en-US" sz="1600" spc="0" dirty="0" smtClean="0">
                <a:solidFill>
                  <a:schemeClr val="tx1">
                    <a:lumMod val="65000"/>
                    <a:lumOff val="35000"/>
                  </a:schemeClr>
                </a:solidFill>
                <a:latin typeface="微软雅黑" panose="020B0503020204020204" charset="-122"/>
              </a:rPr>
              <a:t>，</a:t>
            </a:r>
            <a:r>
              <a:rPr lang="en-US" altLang="zh-CN" sz="1600" spc="0" dirty="0" err="1">
                <a:solidFill>
                  <a:schemeClr val="tx1">
                    <a:lumMod val="65000"/>
                    <a:lumOff val="35000"/>
                  </a:schemeClr>
                </a:solidFill>
                <a:latin typeface="微软雅黑" panose="020B0503020204020204" charset="-122"/>
              </a:rPr>
              <a:t>shared_ptr</a:t>
            </a:r>
            <a:r>
              <a:rPr lang="zh-CN" altLang="en-US" sz="1600" spc="0" dirty="0">
                <a:solidFill>
                  <a:schemeClr val="tx1">
                    <a:lumMod val="65000"/>
                    <a:lumOff val="35000"/>
                  </a:schemeClr>
                </a:solidFill>
                <a:latin typeface="微软雅黑" panose="020B0503020204020204" charset="-122"/>
              </a:rPr>
              <a:t>和</a:t>
            </a:r>
            <a:r>
              <a:rPr lang="en-US" altLang="zh-CN" sz="1600" spc="0" dirty="0" err="1">
                <a:solidFill>
                  <a:schemeClr val="tx1">
                    <a:lumMod val="65000"/>
                    <a:lumOff val="35000"/>
                  </a:schemeClr>
                </a:solidFill>
                <a:latin typeface="微软雅黑" panose="020B0503020204020204" charset="-122"/>
              </a:rPr>
              <a:t>unique_ptr</a:t>
            </a:r>
            <a:r>
              <a:rPr lang="zh-CN" altLang="en-US" sz="1600" spc="0" dirty="0">
                <a:solidFill>
                  <a:schemeClr val="tx1">
                    <a:lumMod val="65000"/>
                    <a:lumOff val="35000"/>
                  </a:schemeClr>
                </a:solidFill>
                <a:latin typeface="微软雅黑" panose="020B0503020204020204" charset="-122"/>
              </a:rPr>
              <a:t>都可以胜任这样的工作，通过它们获取资源很容易，只要用资源的指针去构造它们即可。那么释放资源时就要注意了</a:t>
            </a:r>
            <a:r>
              <a:rPr lang="zh-CN" altLang="en-US" sz="1600" spc="0" dirty="0" smtClean="0">
                <a:solidFill>
                  <a:schemeClr val="tx1">
                    <a:lumMod val="65000"/>
                    <a:lumOff val="35000"/>
                  </a:schemeClr>
                </a:solidFill>
                <a:latin typeface="微软雅黑" panose="020B0503020204020204" charset="-122"/>
              </a:rPr>
              <a:t>，需要通过</a:t>
            </a:r>
            <a:r>
              <a:rPr lang="zh-CN" altLang="en-US" sz="1600" spc="0" dirty="0">
                <a:solidFill>
                  <a:schemeClr val="tx1">
                    <a:lumMod val="65000"/>
                    <a:lumOff val="35000"/>
                  </a:schemeClr>
                </a:solidFill>
                <a:latin typeface="微软雅黑" panose="020B0503020204020204" charset="-122"/>
              </a:rPr>
              <a:t>自定义删除器去告知智能指针如何去释放资源</a:t>
            </a:r>
            <a:endParaRPr lang="zh-CN" altLang="en-US" sz="1600" spc="0" dirty="0" smtClean="0">
              <a:solidFill>
                <a:schemeClr val="tx1">
                  <a:lumMod val="65000"/>
                  <a:lumOff val="35000"/>
                </a:schemeClr>
              </a:solidFill>
              <a:latin typeface="微软雅黑" panose="020B0503020204020204" charset="-122"/>
            </a:endParaRPr>
          </a:p>
          <a:p>
            <a:pPr marL="342900" marR="0" indent="-342900" algn="l" defTabSz="914400" rtl="0" eaLnBrk="1" fontAlgn="base" latinLnBrk="0" hangingPunct="1">
              <a:lnSpc>
                <a:spcPct val="200000"/>
              </a:lnSpc>
              <a:spcBef>
                <a:spcPct val="20000"/>
              </a:spcBef>
              <a:spcAft>
                <a:spcPct val="0"/>
              </a:spcAft>
              <a:buClrTx/>
              <a:buSzTx/>
              <a:buFontTx/>
              <a:buChar char="•"/>
            </a:pPr>
            <a:r>
              <a:rPr lang="en-US" altLang="zh-CN" sz="1600" b="1" spc="0" dirty="0" err="1">
                <a:solidFill>
                  <a:schemeClr val="tx1">
                    <a:lumMod val="65000"/>
                    <a:lumOff val="35000"/>
                  </a:schemeClr>
                </a:solidFill>
                <a:latin typeface="微软雅黑" panose="020B0503020204020204" charset="-122"/>
              </a:rPr>
              <a:t>s</a:t>
            </a:r>
            <a:r>
              <a:rPr lang="en-US" sz="1600" b="1" spc="0" dirty="0" err="1" smtClean="0">
                <a:solidFill>
                  <a:schemeClr val="tx1">
                    <a:lumMod val="65000"/>
                    <a:lumOff val="35000"/>
                  </a:schemeClr>
                </a:solidFill>
                <a:latin typeface="微软雅黑" panose="020B0503020204020204" charset="-122"/>
              </a:rPr>
              <a:t>hared_ptr</a:t>
            </a:r>
            <a:r>
              <a:rPr lang="zh-CN" altLang="en-US" sz="1600" b="1" spc="0" dirty="0" smtClean="0">
                <a:solidFill>
                  <a:schemeClr val="tx1">
                    <a:lumMod val="65000"/>
                    <a:lumOff val="35000"/>
                  </a:schemeClr>
                </a:solidFill>
                <a:latin typeface="微软雅黑" panose="020B0503020204020204" charset="-122"/>
              </a:rPr>
              <a:t>的删除器</a:t>
            </a:r>
            <a:endParaRPr lang="en-US" altLang="zh-CN" sz="1600" b="1" spc="0" dirty="0" smtClean="0">
              <a:solidFill>
                <a:schemeClr val="tx1">
                  <a:lumMod val="65000"/>
                  <a:lumOff val="35000"/>
                </a:schemeClr>
              </a:solidFill>
              <a:latin typeface="微软雅黑" panose="020B0503020204020204" charset="-122"/>
            </a:endParaRPr>
          </a:p>
          <a:p>
            <a:pPr marL="0" indent="0" fontAlgn="base">
              <a:lnSpc>
                <a:spcPct val="200000"/>
              </a:lnSpc>
              <a:spcBef>
                <a:spcPct val="20000"/>
              </a:spcBef>
              <a:spcAft>
                <a:spcPct val="0"/>
              </a:spcAft>
              <a:buNone/>
            </a:pPr>
            <a:r>
              <a:rPr lang="en-US" altLang="zh-CN" sz="1100" b="1" spc="0" dirty="0" smtClean="0">
                <a:solidFill>
                  <a:srgbClr val="FF0000"/>
                </a:solidFill>
                <a:latin typeface="微软雅黑" panose="020B0503020204020204" charset="-122"/>
              </a:rPr>
              <a:t>1. </a:t>
            </a:r>
            <a:r>
              <a:rPr lang="en-US" altLang="zh-CN" sz="1100" b="1" spc="0" dirty="0" err="1" smtClean="0">
                <a:solidFill>
                  <a:srgbClr val="FF0000"/>
                </a:solidFill>
                <a:latin typeface="微软雅黑" panose="020B0503020204020204" charset="-122"/>
              </a:rPr>
              <a:t>s</a:t>
            </a:r>
            <a:r>
              <a:rPr lang="en-US" sz="1100" b="1" spc="0" dirty="0" err="1" smtClean="0">
                <a:solidFill>
                  <a:srgbClr val="FF0000"/>
                </a:solidFill>
                <a:latin typeface="微软雅黑" panose="020B0503020204020204" charset="-122"/>
              </a:rPr>
              <a:t>hared_ptr</a:t>
            </a:r>
            <a:r>
              <a:rPr lang="zh-CN" altLang="en-US" sz="1100" b="1" spc="0" dirty="0" smtClean="0">
                <a:solidFill>
                  <a:srgbClr val="FF0000"/>
                </a:solidFill>
                <a:latin typeface="微软雅黑" panose="020B0503020204020204" charset="-122"/>
              </a:rPr>
              <a:t>是个模板类</a:t>
            </a:r>
            <a:endParaRPr lang="en-US" sz="1100" b="1" spc="0" dirty="0" smtClean="0">
              <a:solidFill>
                <a:srgbClr val="FF0000"/>
              </a:solidFill>
              <a:latin typeface="微软雅黑" panose="020B0503020204020204" charset="-122"/>
            </a:endParaRPr>
          </a:p>
          <a:p>
            <a:pPr marL="0" indent="0" fontAlgn="base">
              <a:lnSpc>
                <a:spcPct val="200000"/>
              </a:lnSpc>
              <a:spcBef>
                <a:spcPct val="20000"/>
              </a:spcBef>
              <a:spcAft>
                <a:spcPct val="0"/>
              </a:spcAft>
              <a:buNone/>
            </a:pPr>
            <a:r>
              <a:rPr lang="en-US" sz="1100" b="1" spc="0" dirty="0" smtClean="0">
                <a:solidFill>
                  <a:srgbClr val="FF0000"/>
                </a:solidFill>
                <a:latin typeface="微软雅黑" panose="020B0503020204020204" charset="-122"/>
              </a:rPr>
              <a:t>template</a:t>
            </a:r>
            <a:r>
              <a:rPr lang="en-US" sz="1100" b="1" spc="0" dirty="0">
                <a:solidFill>
                  <a:srgbClr val="FF0000"/>
                </a:solidFill>
                <a:latin typeface="微软雅黑" panose="020B0503020204020204" charset="-122"/>
              </a:rPr>
              <a:t>&lt; class T &gt; class </a:t>
            </a:r>
            <a:r>
              <a:rPr lang="en-US" sz="1100" b="1" spc="0" dirty="0" err="1" smtClean="0">
                <a:solidFill>
                  <a:srgbClr val="FF0000"/>
                </a:solidFill>
                <a:latin typeface="微软雅黑" panose="020B0503020204020204" charset="-122"/>
              </a:rPr>
              <a:t>shared_ptr</a:t>
            </a:r>
            <a:endParaRPr lang="en-US" sz="1100" b="1" spc="0" dirty="0" smtClean="0">
              <a:solidFill>
                <a:srgbClr val="FF0000"/>
              </a:solidFill>
              <a:latin typeface="微软雅黑" panose="020B0503020204020204" charset="-122"/>
            </a:endParaRPr>
          </a:p>
          <a:p>
            <a:pPr marL="0" indent="0" fontAlgn="base">
              <a:lnSpc>
                <a:spcPct val="200000"/>
              </a:lnSpc>
              <a:spcBef>
                <a:spcPct val="20000"/>
              </a:spcBef>
              <a:spcAft>
                <a:spcPct val="0"/>
              </a:spcAft>
              <a:buNone/>
            </a:pPr>
            <a:r>
              <a:rPr lang="en-US" sz="1100" b="1" spc="0" dirty="0" smtClean="0">
                <a:solidFill>
                  <a:srgbClr val="FF0000"/>
                </a:solidFill>
                <a:latin typeface="微软雅黑" panose="020B0503020204020204" charset="-122"/>
              </a:rPr>
              <a:t>2. </a:t>
            </a:r>
            <a:r>
              <a:rPr lang="en-US" sz="1100" b="1" spc="0" dirty="0" err="1" smtClean="0">
                <a:solidFill>
                  <a:srgbClr val="FF0000"/>
                </a:solidFill>
                <a:latin typeface="微软雅黑" panose="020B0503020204020204" charset="-122"/>
              </a:rPr>
              <a:t>shared_ptr</a:t>
            </a:r>
            <a:r>
              <a:rPr lang="zh-CN" altLang="en-US" sz="1100" b="1" spc="0" dirty="0" smtClean="0">
                <a:solidFill>
                  <a:srgbClr val="FF0000"/>
                </a:solidFill>
                <a:latin typeface="微软雅黑" panose="020B0503020204020204" charset="-122"/>
              </a:rPr>
              <a:t>带删除器的构造函数</a:t>
            </a:r>
            <a:endParaRPr lang="en-US" sz="1100" b="1" spc="0" dirty="0" smtClean="0">
              <a:solidFill>
                <a:srgbClr val="FF0000"/>
              </a:solidFill>
              <a:latin typeface="微软雅黑" panose="020B0503020204020204" charset="-122"/>
            </a:endParaRPr>
          </a:p>
          <a:p>
            <a:pPr marL="0" indent="0" fontAlgn="base">
              <a:lnSpc>
                <a:spcPct val="200000"/>
              </a:lnSpc>
              <a:spcBef>
                <a:spcPct val="20000"/>
              </a:spcBef>
              <a:spcAft>
                <a:spcPct val="0"/>
              </a:spcAft>
              <a:buNone/>
            </a:pPr>
            <a:r>
              <a:rPr lang="en-US" sz="1100" b="1" spc="0" dirty="0">
                <a:solidFill>
                  <a:srgbClr val="FF0000"/>
                </a:solidFill>
                <a:latin typeface="微软雅黑" panose="020B0503020204020204" charset="-122"/>
              </a:rPr>
              <a:t>template&lt; class Y, class </a:t>
            </a:r>
            <a:r>
              <a:rPr lang="en-US" sz="1100" b="1" spc="0" dirty="0" err="1">
                <a:solidFill>
                  <a:srgbClr val="FF0000"/>
                </a:solidFill>
                <a:latin typeface="微软雅黑" panose="020B0503020204020204" charset="-122"/>
              </a:rPr>
              <a:t>Deleter</a:t>
            </a:r>
            <a:r>
              <a:rPr lang="en-US" sz="1100" b="1" spc="0" dirty="0">
                <a:solidFill>
                  <a:srgbClr val="FF0000"/>
                </a:solidFill>
                <a:latin typeface="微软雅黑" panose="020B0503020204020204" charset="-122"/>
              </a:rPr>
              <a:t> &gt;</a:t>
            </a:r>
            <a:endParaRPr lang="en-US" sz="1100" b="1" spc="0" dirty="0">
              <a:solidFill>
                <a:srgbClr val="FF0000"/>
              </a:solidFill>
              <a:latin typeface="微软雅黑" panose="020B0503020204020204" charset="-122"/>
            </a:endParaRPr>
          </a:p>
          <a:p>
            <a:pPr marL="0" indent="0" fontAlgn="base">
              <a:lnSpc>
                <a:spcPct val="200000"/>
              </a:lnSpc>
              <a:spcBef>
                <a:spcPct val="20000"/>
              </a:spcBef>
              <a:spcAft>
                <a:spcPct val="0"/>
              </a:spcAft>
              <a:buNone/>
            </a:pPr>
            <a:r>
              <a:rPr lang="en-US" sz="1100" b="1" spc="0" dirty="0" err="1">
                <a:solidFill>
                  <a:srgbClr val="FF0000"/>
                </a:solidFill>
                <a:latin typeface="微软雅黑" panose="020B0503020204020204" charset="-122"/>
              </a:rPr>
              <a:t>shared_ptr</a:t>
            </a:r>
            <a:r>
              <a:rPr lang="en-US" sz="1100" b="1" spc="0" dirty="0">
                <a:solidFill>
                  <a:srgbClr val="FF0000"/>
                </a:solidFill>
                <a:latin typeface="微软雅黑" panose="020B0503020204020204" charset="-122"/>
              </a:rPr>
              <a:t>( Y* </a:t>
            </a:r>
            <a:r>
              <a:rPr lang="en-US" sz="1100" b="1" spc="0" dirty="0" err="1">
                <a:solidFill>
                  <a:srgbClr val="FF0000"/>
                </a:solidFill>
                <a:latin typeface="微软雅黑" panose="020B0503020204020204" charset="-122"/>
              </a:rPr>
              <a:t>ptr</a:t>
            </a:r>
            <a:r>
              <a:rPr lang="en-US" sz="1100" b="1" spc="0" dirty="0">
                <a:solidFill>
                  <a:srgbClr val="FF0000"/>
                </a:solidFill>
                <a:latin typeface="微软雅黑" panose="020B0503020204020204" charset="-122"/>
              </a:rPr>
              <a:t>, </a:t>
            </a:r>
            <a:r>
              <a:rPr lang="en-US" sz="1100" b="1" spc="0" dirty="0" err="1">
                <a:solidFill>
                  <a:srgbClr val="FF0000"/>
                </a:solidFill>
                <a:latin typeface="微软雅黑" panose="020B0503020204020204" charset="-122"/>
              </a:rPr>
              <a:t>Deleter</a:t>
            </a:r>
            <a:r>
              <a:rPr lang="en-US" sz="1100" b="1" spc="0" dirty="0">
                <a:solidFill>
                  <a:srgbClr val="FF0000"/>
                </a:solidFill>
                <a:latin typeface="微软雅黑" panose="020B0503020204020204" charset="-122"/>
              </a:rPr>
              <a:t> d </a:t>
            </a:r>
            <a:r>
              <a:rPr lang="en-US" sz="1100" b="1" spc="0" dirty="0" smtClean="0">
                <a:solidFill>
                  <a:srgbClr val="FF0000"/>
                </a:solidFill>
                <a:latin typeface="微软雅黑" panose="020B0503020204020204" charset="-122"/>
              </a:rPr>
              <a:t>);</a:t>
            </a:r>
            <a:endParaRPr lang="en-US" sz="1100" b="1" spc="0" dirty="0" smtClean="0">
              <a:solidFill>
                <a:srgbClr val="FF0000"/>
              </a:solidFill>
              <a:latin typeface="微软雅黑" panose="020B0503020204020204" charset="-122"/>
            </a:endParaRPr>
          </a:p>
          <a:p>
            <a:pPr marL="0" indent="0" fontAlgn="base">
              <a:lnSpc>
                <a:spcPct val="200000"/>
              </a:lnSpc>
              <a:spcBef>
                <a:spcPct val="20000"/>
              </a:spcBef>
              <a:spcAft>
                <a:spcPct val="0"/>
              </a:spcAft>
              <a:buNone/>
            </a:pPr>
            <a:r>
              <a:rPr lang="zh-CN" altLang="en-US" sz="1100" b="1" spc="0" dirty="0" smtClean="0">
                <a:solidFill>
                  <a:srgbClr val="FF0000"/>
                </a:solidFill>
                <a:latin typeface="微软雅黑" panose="020B0503020204020204" charset="-122"/>
                <a:sym typeface="+mn-ea"/>
              </a:rPr>
              <a:t>删除器是</a:t>
            </a:r>
            <a:r>
              <a:rPr lang="en-US" altLang="zh-CN" sz="1100" b="1" spc="0" dirty="0" err="1" smtClean="0">
                <a:solidFill>
                  <a:srgbClr val="FF0000"/>
                </a:solidFill>
                <a:latin typeface="微软雅黑" panose="020B0503020204020204" charset="-122"/>
                <a:sym typeface="+mn-ea"/>
              </a:rPr>
              <a:t>shared_ptr</a:t>
            </a:r>
            <a:r>
              <a:rPr lang="zh-CN" altLang="en-US" sz="1100" b="1" spc="0" dirty="0" smtClean="0">
                <a:solidFill>
                  <a:srgbClr val="FF0000"/>
                </a:solidFill>
                <a:latin typeface="微软雅黑" panose="020B0503020204020204" charset="-122"/>
                <a:sym typeface="+mn-ea"/>
              </a:rPr>
              <a:t>构造函数的一个参数</a:t>
            </a:r>
            <a:endParaRPr sz="1100" b="1" spc="0" dirty="0" smtClean="0">
              <a:solidFill>
                <a:srgbClr val="FF0000"/>
              </a:solidFill>
              <a:latin typeface="微软雅黑" panose="020B0503020204020204" charset="-122"/>
              <a:sym typeface="+mn-ea"/>
            </a:endParaRPr>
          </a:p>
          <a:p>
            <a:pPr marL="342900" indent="-342900" fontAlgn="base">
              <a:lnSpc>
                <a:spcPct val="200000"/>
              </a:lnSpc>
              <a:spcBef>
                <a:spcPct val="20000"/>
              </a:spcBef>
              <a:spcAft>
                <a:spcPct val="0"/>
              </a:spcAft>
              <a:buFontTx/>
              <a:buChar char="•"/>
            </a:pPr>
            <a:r>
              <a:rPr lang="en-US" altLang="en-US" sz="1600" b="1" spc="0" dirty="0" err="1">
                <a:solidFill>
                  <a:schemeClr val="tx1">
                    <a:lumMod val="65000"/>
                    <a:lumOff val="35000"/>
                  </a:schemeClr>
                </a:solidFill>
                <a:latin typeface="微软雅黑" panose="020B0503020204020204" charset="-122"/>
              </a:rPr>
              <a:t>unique_ptr</a:t>
            </a:r>
            <a:r>
              <a:rPr lang="zh-CN" altLang="en-US" sz="1600" b="1" spc="0" dirty="0">
                <a:solidFill>
                  <a:schemeClr val="tx1">
                    <a:lumMod val="65000"/>
                    <a:lumOff val="35000"/>
                  </a:schemeClr>
                </a:solidFill>
                <a:latin typeface="微软雅黑" panose="020B0503020204020204" charset="-122"/>
              </a:rPr>
              <a:t>的删除</a:t>
            </a:r>
            <a:r>
              <a:rPr lang="zh-CN" altLang="en-US" sz="1600" b="1" spc="0" dirty="0" smtClean="0">
                <a:solidFill>
                  <a:schemeClr val="tx1">
                    <a:lumMod val="65000"/>
                    <a:lumOff val="35000"/>
                  </a:schemeClr>
                </a:solidFill>
                <a:latin typeface="微软雅黑" panose="020B0503020204020204" charset="-122"/>
              </a:rPr>
              <a:t>器</a:t>
            </a:r>
            <a:endParaRPr lang="en-US" altLang="zh-CN" sz="1600" b="1" spc="0" dirty="0" smtClean="0">
              <a:solidFill>
                <a:schemeClr val="tx1">
                  <a:lumMod val="65000"/>
                  <a:lumOff val="35000"/>
                </a:schemeClr>
              </a:solidFill>
              <a:latin typeface="微软雅黑" panose="020B0503020204020204" charset="-122"/>
            </a:endParaRPr>
          </a:p>
          <a:p>
            <a:pPr marL="0" indent="0" fontAlgn="base">
              <a:lnSpc>
                <a:spcPct val="200000"/>
              </a:lnSpc>
              <a:spcBef>
                <a:spcPct val="20000"/>
              </a:spcBef>
              <a:spcAft>
                <a:spcPct val="0"/>
              </a:spcAft>
              <a:buNone/>
            </a:pPr>
            <a:r>
              <a:rPr lang="en-US" altLang="zh-CN" sz="1100" b="1" spc="0" dirty="0">
                <a:solidFill>
                  <a:srgbClr val="FF0000"/>
                </a:solidFill>
                <a:latin typeface="微软雅黑" panose="020B0503020204020204" charset="-122"/>
              </a:rPr>
              <a:t>1. </a:t>
            </a:r>
            <a:r>
              <a:rPr lang="en-US" altLang="zh-CN" sz="1100" b="1" spc="0" dirty="0" err="1">
                <a:solidFill>
                  <a:srgbClr val="FF0000"/>
                </a:solidFill>
                <a:latin typeface="微软雅黑" panose="020B0503020204020204" charset="-122"/>
              </a:rPr>
              <a:t>unique_ptr</a:t>
            </a:r>
            <a:r>
              <a:rPr lang="zh-CN" altLang="en-US" sz="1100" b="1" spc="0" dirty="0">
                <a:solidFill>
                  <a:srgbClr val="FF0000"/>
                </a:solidFill>
                <a:latin typeface="微软雅黑" panose="020B0503020204020204" charset="-122"/>
              </a:rPr>
              <a:t>是个模板类</a:t>
            </a:r>
            <a:endParaRPr lang="en-US" altLang="zh-CN" sz="1100" b="1" spc="0" dirty="0">
              <a:solidFill>
                <a:srgbClr val="FF0000"/>
              </a:solidFill>
              <a:latin typeface="微软雅黑" panose="020B0503020204020204" charset="-122"/>
            </a:endParaRPr>
          </a:p>
          <a:p>
            <a:pPr marL="0" indent="0" fontAlgn="base">
              <a:lnSpc>
                <a:spcPct val="200000"/>
              </a:lnSpc>
              <a:spcBef>
                <a:spcPct val="20000"/>
              </a:spcBef>
              <a:spcAft>
                <a:spcPct val="0"/>
              </a:spcAft>
              <a:buNone/>
            </a:pPr>
            <a:r>
              <a:rPr lang="en-US" altLang="zh-CN" sz="1100" b="1" spc="0" dirty="0">
                <a:solidFill>
                  <a:srgbClr val="FF0000"/>
                </a:solidFill>
                <a:latin typeface="微软雅黑" panose="020B0503020204020204" charset="-122"/>
              </a:rPr>
              <a:t>template&lt;class </a:t>
            </a:r>
            <a:r>
              <a:rPr lang="en-US" altLang="zh-CN" sz="1100" b="1" spc="0" dirty="0" err="1">
                <a:solidFill>
                  <a:srgbClr val="FF0000"/>
                </a:solidFill>
                <a:latin typeface="微软雅黑" panose="020B0503020204020204" charset="-122"/>
              </a:rPr>
              <a:t>T,class</a:t>
            </a:r>
            <a:r>
              <a:rPr lang="en-US" altLang="zh-CN" sz="1100" b="1" spc="0" dirty="0">
                <a:solidFill>
                  <a:srgbClr val="FF0000"/>
                </a:solidFill>
                <a:latin typeface="微软雅黑" panose="020B0503020204020204" charset="-122"/>
              </a:rPr>
              <a:t> </a:t>
            </a:r>
            <a:r>
              <a:rPr lang="en-US" altLang="zh-CN" sz="1100" b="1" spc="0" dirty="0" err="1">
                <a:solidFill>
                  <a:srgbClr val="FF0000"/>
                </a:solidFill>
                <a:latin typeface="微软雅黑" panose="020B0503020204020204" charset="-122"/>
              </a:rPr>
              <a:t>Deleter</a:t>
            </a:r>
            <a:r>
              <a:rPr lang="en-US" altLang="zh-CN" sz="1100" b="1" spc="0" dirty="0">
                <a:solidFill>
                  <a:srgbClr val="FF0000"/>
                </a:solidFill>
                <a:latin typeface="微软雅黑" panose="020B0503020204020204" charset="-122"/>
              </a:rPr>
              <a:t> = </a:t>
            </a:r>
            <a:r>
              <a:rPr lang="en-US" altLang="zh-CN" sz="1100" b="1" spc="0" dirty="0" err="1">
                <a:solidFill>
                  <a:srgbClr val="FF0000"/>
                </a:solidFill>
                <a:latin typeface="微软雅黑" panose="020B0503020204020204" charset="-122"/>
              </a:rPr>
              <a:t>std</a:t>
            </a:r>
            <a:r>
              <a:rPr lang="en-US" altLang="zh-CN" sz="1100" b="1" spc="0" dirty="0">
                <a:solidFill>
                  <a:srgbClr val="FF0000"/>
                </a:solidFill>
                <a:latin typeface="微软雅黑" panose="020B0503020204020204" charset="-122"/>
              </a:rPr>
              <a:t>::</a:t>
            </a:r>
            <a:r>
              <a:rPr lang="en-US" altLang="zh-CN" sz="1100" b="1" spc="0" dirty="0" err="1">
                <a:solidFill>
                  <a:srgbClr val="FF0000"/>
                </a:solidFill>
                <a:latin typeface="微软雅黑" panose="020B0503020204020204" charset="-122"/>
              </a:rPr>
              <a:t>default_delete</a:t>
            </a:r>
            <a:r>
              <a:rPr lang="en-US" altLang="zh-CN" sz="1100" b="1" spc="0" dirty="0">
                <a:solidFill>
                  <a:srgbClr val="FF0000"/>
                </a:solidFill>
                <a:latin typeface="微软雅黑" panose="020B0503020204020204" charset="-122"/>
              </a:rPr>
              <a:t>&lt;T</a:t>
            </a:r>
            <a:r>
              <a:rPr lang="en-US" altLang="zh-CN" sz="1100" b="1" spc="0" dirty="0">
                <a:solidFill>
                  <a:srgbClr val="FF0000"/>
                </a:solidFill>
                <a:latin typeface="微软雅黑" panose="020B0503020204020204" charset="-122"/>
              </a:rPr>
              <a:t>&gt; &gt; </a:t>
            </a:r>
            <a:r>
              <a:rPr lang="en-US" altLang="zh-CN" sz="1100" b="1" spc="0" dirty="0">
                <a:solidFill>
                  <a:srgbClr val="FF0000"/>
                </a:solidFill>
                <a:latin typeface="微软雅黑" panose="020B0503020204020204" charset="-122"/>
              </a:rPr>
              <a:t>class </a:t>
            </a:r>
            <a:r>
              <a:rPr lang="en-US" altLang="zh-CN" sz="1100" b="1" spc="0" dirty="0" err="1" smtClean="0">
                <a:solidFill>
                  <a:srgbClr val="FF0000"/>
                </a:solidFill>
                <a:latin typeface="微软雅黑" panose="020B0503020204020204" charset="-122"/>
              </a:rPr>
              <a:t>unique_ptr</a:t>
            </a:r>
            <a:endParaRPr lang="en-US" altLang="zh-CN" sz="1100" b="1" spc="0" dirty="0" smtClean="0">
              <a:solidFill>
                <a:srgbClr val="FF0000"/>
              </a:solidFill>
              <a:latin typeface="微软雅黑" panose="020B0503020204020204" charset="-122"/>
            </a:endParaRPr>
          </a:p>
          <a:p>
            <a:pPr marL="0" indent="0" fontAlgn="base">
              <a:lnSpc>
                <a:spcPct val="200000"/>
              </a:lnSpc>
              <a:spcBef>
                <a:spcPct val="20000"/>
              </a:spcBef>
              <a:spcAft>
                <a:spcPct val="0"/>
              </a:spcAft>
              <a:buNone/>
            </a:pPr>
            <a:r>
              <a:rPr lang="zh-CN" altLang="en-US" sz="1100" b="1" spc="0" dirty="0" smtClean="0">
                <a:solidFill>
                  <a:srgbClr val="FF0000"/>
                </a:solidFill>
                <a:latin typeface="微软雅黑" panose="020B0503020204020204" charset="-122"/>
              </a:rPr>
              <a:t>删除器是</a:t>
            </a:r>
            <a:r>
              <a:rPr lang="en-US" altLang="zh-CN" sz="1100" b="1" spc="0" dirty="0" err="1" smtClean="0">
                <a:solidFill>
                  <a:srgbClr val="FF0000"/>
                </a:solidFill>
                <a:latin typeface="微软雅黑" panose="020B0503020204020204" charset="-122"/>
              </a:rPr>
              <a:t>unique_ptr</a:t>
            </a:r>
            <a:r>
              <a:rPr lang="zh-CN" altLang="en-US" sz="1100" b="1" spc="0" dirty="0" smtClean="0">
                <a:solidFill>
                  <a:srgbClr val="FF0000"/>
                </a:solidFill>
                <a:latin typeface="微软雅黑" panose="020B0503020204020204" charset="-122"/>
              </a:rPr>
              <a:t>的模板参数，是类型的一部分</a:t>
            </a:r>
            <a:endParaRPr lang="zh-CN" altLang="en-US" sz="1100" b="1" spc="0" dirty="0">
              <a:solidFill>
                <a:srgbClr val="FF0000"/>
              </a:solidFill>
              <a:latin typeface="微软雅黑" panose="020B0503020204020204" charset="-122"/>
            </a:endParaRPr>
          </a:p>
          <a:p>
            <a:pPr marL="342900" marR="0" indent="-342900" algn="l" defTabSz="914400" rtl="0" eaLnBrk="1" fontAlgn="base" latinLnBrk="0" hangingPunct="1">
              <a:lnSpc>
                <a:spcPct val="200000"/>
              </a:lnSpc>
              <a:spcBef>
                <a:spcPct val="20000"/>
              </a:spcBef>
              <a:spcAft>
                <a:spcPct val="0"/>
              </a:spcAft>
              <a:buClrTx/>
              <a:buSzTx/>
              <a:buFontTx/>
              <a:buChar char="•"/>
            </a:pPr>
            <a:r>
              <a:rPr lang="zh-CN" altLang="en-US" sz="1600" b="1" spc="0" dirty="0" smtClean="0">
                <a:solidFill>
                  <a:schemeClr val="tx1">
                    <a:lumMod val="65000"/>
                    <a:lumOff val="35000"/>
                  </a:schemeClr>
                </a:solidFill>
                <a:latin typeface="微软雅黑" panose="020B0503020204020204" charset="-122"/>
                <a:sym typeface="+mn-ea"/>
              </a:rPr>
              <a:t>默认删除器</a:t>
            </a:r>
            <a:endParaRPr lang="en-US" altLang="zh-CN" sz="1600" dirty="0"/>
          </a:p>
          <a:p>
            <a:pPr marL="0" indent="0" fontAlgn="base">
              <a:lnSpc>
                <a:spcPct val="200000"/>
              </a:lnSpc>
              <a:spcBef>
                <a:spcPct val="20000"/>
              </a:spcBef>
              <a:spcAft>
                <a:spcPct val="0"/>
              </a:spcAft>
              <a:buNone/>
            </a:pPr>
            <a:r>
              <a:rPr lang="zh-CN" altLang="en-US" b="1" spc="0" dirty="0">
                <a:solidFill>
                  <a:srgbClr val="FF0000"/>
                </a:solidFill>
                <a:latin typeface="微软雅黑" panose="020B0503020204020204" charset="-122"/>
              </a:rPr>
              <a:t>默认删除器是</a:t>
            </a:r>
            <a:r>
              <a:rPr lang="en-US" altLang="zh-CN" b="1" spc="0" dirty="0" err="1">
                <a:solidFill>
                  <a:srgbClr val="FF0000"/>
                </a:solidFill>
                <a:latin typeface="微软雅黑" panose="020B0503020204020204" charset="-122"/>
              </a:rPr>
              <a:t>std</a:t>
            </a:r>
            <a:r>
              <a:rPr lang="en-US" altLang="zh-CN" b="1" spc="0" dirty="0">
                <a:solidFill>
                  <a:srgbClr val="FF0000"/>
                </a:solidFill>
                <a:latin typeface="微软雅黑" panose="020B0503020204020204" charset="-122"/>
              </a:rPr>
              <a:t>::default delete</a:t>
            </a:r>
            <a:r>
              <a:rPr lang="zh-CN" altLang="en-US" b="1" spc="0" dirty="0">
                <a:solidFill>
                  <a:srgbClr val="FF0000"/>
                </a:solidFill>
                <a:latin typeface="微软雅黑" panose="020B0503020204020204" charset="-122"/>
              </a:rPr>
              <a:t>，其行为就是</a:t>
            </a:r>
            <a:r>
              <a:rPr lang="en-US" altLang="zh-CN" b="1" spc="0" dirty="0">
                <a:solidFill>
                  <a:srgbClr val="FF0000"/>
                </a:solidFill>
                <a:latin typeface="微软雅黑" panose="020B0503020204020204" charset="-122"/>
              </a:rPr>
              <a:t>delete,</a:t>
            </a:r>
            <a:r>
              <a:rPr lang="zh-CN" altLang="en-US" b="1" spc="0" dirty="0">
                <a:solidFill>
                  <a:srgbClr val="FF0000"/>
                </a:solidFill>
                <a:latin typeface="微软雅黑" panose="020B0503020204020204" charset="-122"/>
              </a:rPr>
              <a:t>所以对于动态分配的数组或其它类型的资源显然就</a:t>
            </a:r>
            <a:r>
              <a:rPr lang="zh-CN" altLang="en-US" b="1" spc="0" dirty="0" smtClean="0">
                <a:solidFill>
                  <a:srgbClr val="FF0000"/>
                </a:solidFill>
                <a:latin typeface="微软雅黑" panose="020B0503020204020204" charset="-122"/>
              </a:rPr>
              <a:t>不适用，这时就需要使用自定义删除器</a:t>
            </a:r>
            <a:endParaRPr lang="en-US" altLang="zh-CN" b="1" spc="0" dirty="0">
              <a:solidFill>
                <a:srgbClr val="FF0000"/>
              </a:solidFill>
              <a:latin typeface="微软雅黑" panose="020B0503020204020204" charset="-122"/>
            </a:endParaRPr>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31358"/>
          </a:xfrm>
        </p:spPr>
        <p:txBody>
          <a:bodyPr>
            <a:normAutofit/>
          </a:bodyPr>
          <a:lstStyle/>
          <a:p>
            <a:pPr marL="0" marR="0" indent="0" algn="l" defTabSz="914400" rtl="0" eaLnBrk="1" fontAlgn="base" latinLnBrk="0" hangingPunct="1">
              <a:lnSpc>
                <a:spcPct val="100000"/>
              </a:lnSpc>
              <a:spcBef>
                <a:spcPct val="20000"/>
              </a:spcBef>
              <a:spcAft>
                <a:spcPct val="0"/>
              </a:spcAft>
              <a:buClrTx/>
              <a:buSzTx/>
              <a:buFontTx/>
              <a:buNone/>
            </a:pPr>
            <a:r>
              <a:rPr lang="zh-CN" altLang="en-US" sz="2700" b="1" dirty="0" smtClean="0">
                <a:latin typeface="微软雅黑" panose="020B0503020204020204" charset="-122"/>
              </a:rPr>
              <a:t>总结</a:t>
            </a:r>
            <a:endParaRPr sz="1600" spc="0" dirty="0">
              <a:solidFill>
                <a:schemeClr val="tx1">
                  <a:lumMod val="65000"/>
                  <a:lumOff val="35000"/>
                </a:schemeClr>
              </a:solidFill>
              <a:latin typeface="微软雅黑" panose="020B0503020204020204" charset="-122"/>
              <a:sym typeface="+mn-ea"/>
            </a:endParaRPr>
          </a:p>
          <a:p>
            <a:pPr marL="342900" marR="0" indent="-342900" algn="l" defTabSz="914400" rtl="0" eaLnBrk="1" fontAlgn="base" latinLnBrk="0" hangingPunct="1">
              <a:lnSpc>
                <a:spcPct val="200000"/>
              </a:lnSpc>
              <a:spcBef>
                <a:spcPct val="20000"/>
              </a:spcBef>
              <a:spcAft>
                <a:spcPct val="0"/>
              </a:spcAft>
              <a:buClrTx/>
              <a:buSzTx/>
              <a:buFontTx/>
              <a:buChar char="•"/>
            </a:pPr>
            <a:r>
              <a:rPr lang="zh-CN" altLang="en-US" sz="1600" b="1" spc="0" dirty="0" smtClean="0">
                <a:solidFill>
                  <a:schemeClr val="tx1">
                    <a:lumMod val="65000"/>
                    <a:lumOff val="35000"/>
                  </a:schemeClr>
                </a:solidFill>
                <a:latin typeface="微软雅黑" panose="020B0503020204020204" charset="-122"/>
              </a:rPr>
              <a:t>使用智能指针代替裸指针，彻底解决内存泄漏问题</a:t>
            </a:r>
            <a:endParaRPr lang="en-US" altLang="zh-CN" sz="1800" b="1" spc="0" dirty="0" smtClean="0">
              <a:solidFill>
                <a:schemeClr val="tx1">
                  <a:lumMod val="65000"/>
                  <a:lumOff val="35000"/>
                </a:schemeClr>
              </a:solidFill>
              <a:latin typeface="微软雅黑" panose="020B0503020204020204" charset="-122"/>
            </a:endParaRPr>
          </a:p>
          <a:p>
            <a:pPr marL="342900" indent="-342900" fontAlgn="base">
              <a:lnSpc>
                <a:spcPct val="200000"/>
              </a:lnSpc>
              <a:spcBef>
                <a:spcPct val="20000"/>
              </a:spcBef>
              <a:spcAft>
                <a:spcPct val="0"/>
              </a:spcAft>
              <a:buFontTx/>
              <a:buChar char="•"/>
            </a:pPr>
            <a:r>
              <a:rPr lang="zh-CN" altLang="en-US" sz="1600" b="1" spc="0" dirty="0" smtClean="0">
                <a:solidFill>
                  <a:schemeClr val="tx1">
                    <a:lumMod val="65000"/>
                    <a:lumOff val="35000"/>
                  </a:schemeClr>
                </a:solidFill>
                <a:latin typeface="微软雅黑" panose="020B0503020204020204" charset="-122"/>
              </a:rPr>
              <a:t>理清代码中的资源所有权，选择使用合适的智能指针</a:t>
            </a:r>
            <a:endParaRPr lang="en-US" altLang="zh-CN" sz="1600" b="1" spc="0" dirty="0" smtClean="0">
              <a:solidFill>
                <a:schemeClr val="tx1">
                  <a:lumMod val="65000"/>
                  <a:lumOff val="35000"/>
                </a:schemeClr>
              </a:solidFill>
              <a:latin typeface="微软雅黑" panose="020B0503020204020204" charset="-122"/>
            </a:endParaRPr>
          </a:p>
          <a:p>
            <a:pPr marL="0" indent="0" fontAlgn="base">
              <a:lnSpc>
                <a:spcPct val="200000"/>
              </a:lnSpc>
              <a:spcBef>
                <a:spcPct val="20000"/>
              </a:spcBef>
              <a:spcAft>
                <a:spcPct val="0"/>
              </a:spcAft>
              <a:buNone/>
            </a:pPr>
            <a:r>
              <a:rPr lang="zh-CN" altLang="en-US" sz="1400" spc="0" dirty="0">
                <a:solidFill>
                  <a:schemeClr val="tx1">
                    <a:lumMod val="65000"/>
                    <a:lumOff val="35000"/>
                  </a:schemeClr>
                </a:solidFill>
                <a:latin typeface="微软雅黑" panose="020B0503020204020204" charset="-122"/>
              </a:rPr>
              <a:t>在我们面对资源管理时，首先需要思考的是，资源的所有权问题，秉承一个原则，</a:t>
            </a:r>
            <a:r>
              <a:rPr lang="zh-CN" altLang="en-US" sz="1400" b="1" spc="0" dirty="0">
                <a:solidFill>
                  <a:srgbClr val="C00000"/>
                </a:solidFill>
                <a:latin typeface="微软雅黑" panose="020B0503020204020204" charset="-122"/>
              </a:rPr>
              <a:t>谁负责生成，则谁就负责释放</a:t>
            </a:r>
            <a:r>
              <a:rPr lang="en-US" altLang="zh-CN" sz="1400" b="1" spc="0" dirty="0">
                <a:solidFill>
                  <a:srgbClr val="C00000"/>
                </a:solidFill>
                <a:latin typeface="微软雅黑" panose="020B0503020204020204" charset="-122"/>
              </a:rPr>
              <a:t>(</a:t>
            </a:r>
            <a:r>
              <a:rPr lang="zh-CN" altLang="en-US" sz="1400" b="1" spc="0" dirty="0">
                <a:solidFill>
                  <a:srgbClr val="C00000"/>
                </a:solidFill>
                <a:latin typeface="微软雅黑" panose="020B0503020204020204" charset="-122"/>
              </a:rPr>
              <a:t>即管理其整个生命周期</a:t>
            </a:r>
            <a:r>
              <a:rPr lang="en-US" altLang="zh-CN" sz="1400" b="1" spc="0" dirty="0">
                <a:solidFill>
                  <a:srgbClr val="C00000"/>
                </a:solidFill>
                <a:latin typeface="微软雅黑" panose="020B0503020204020204" charset="-122"/>
              </a:rPr>
              <a:t>)</a:t>
            </a:r>
            <a:r>
              <a:rPr lang="zh-CN" altLang="en-US" sz="1400" spc="0" dirty="0">
                <a:solidFill>
                  <a:schemeClr val="tx1">
                    <a:lumMod val="65000"/>
                    <a:lumOff val="35000"/>
                  </a:schemeClr>
                </a:solidFill>
                <a:latin typeface="微软雅黑" panose="020B0503020204020204" charset="-122"/>
              </a:rPr>
              <a:t>，如果有其它对象只是使用该资源，则应考虑采用</a:t>
            </a:r>
            <a:r>
              <a:rPr lang="en-US" altLang="zh-CN" sz="1400" spc="0" dirty="0" err="1">
                <a:solidFill>
                  <a:schemeClr val="tx1">
                    <a:lumMod val="65000"/>
                    <a:lumOff val="35000"/>
                  </a:schemeClr>
                </a:solidFill>
                <a:latin typeface="微软雅黑" panose="020B0503020204020204" charset="-122"/>
              </a:rPr>
              <a:t>weak_ptr</a:t>
            </a:r>
            <a:r>
              <a:rPr lang="zh-CN" altLang="en-US" sz="1400" spc="0" dirty="0">
                <a:solidFill>
                  <a:schemeClr val="tx1">
                    <a:lumMod val="65000"/>
                    <a:lumOff val="35000"/>
                  </a:schemeClr>
                </a:solidFill>
                <a:latin typeface="微软雅黑" panose="020B0503020204020204" charset="-122"/>
              </a:rPr>
              <a:t>来引用。在使用前判断其引用对象的有效性，如果有效则将其转换成共享所有权指针即</a:t>
            </a:r>
            <a:r>
              <a:rPr lang="en-US" altLang="zh-CN" sz="1400" spc="0" dirty="0" err="1" smtClean="0">
                <a:solidFill>
                  <a:schemeClr val="tx1">
                    <a:lumMod val="65000"/>
                    <a:lumOff val="35000"/>
                  </a:schemeClr>
                </a:solidFill>
                <a:latin typeface="微软雅黑" panose="020B0503020204020204" charset="-122"/>
              </a:rPr>
              <a:t>shared_ptr</a:t>
            </a:r>
            <a:endParaRPr lang="zh-CN" altLang="en-US" sz="1400" spc="0" dirty="0" smtClean="0">
              <a:solidFill>
                <a:schemeClr val="tx1">
                  <a:lumMod val="65000"/>
                  <a:lumOff val="35000"/>
                </a:schemeClr>
              </a:solidFill>
              <a:latin typeface="微软雅黑" panose="020B0503020204020204" charset="-122"/>
            </a:endParaRPr>
          </a:p>
          <a:p>
            <a:pPr marL="0" indent="0">
              <a:lnSpc>
                <a:spcPct val="160000"/>
              </a:lnSpc>
              <a:buNone/>
            </a:pPr>
            <a:endParaRPr lang="en-US" altLang="zh-CN" sz="1600" dirty="0"/>
          </a:p>
          <a:p>
            <a:pPr marL="0" indent="0">
              <a:lnSpc>
                <a:spcPct val="160000"/>
              </a:lnSpc>
              <a:buNone/>
            </a:pPr>
            <a:endParaRPr lang="en-US" altLang="zh-CN" dirty="0"/>
          </a:p>
          <a:p>
            <a:pPr marL="0" indent="0">
              <a:buNone/>
            </a:pPr>
            <a:endParaRPr lang="zh-CN" altLang="en-US" dirty="0"/>
          </a:p>
          <a:p>
            <a:pPr marL="0" indent="0">
              <a:buNone/>
            </a:pPr>
            <a:endParaRPr lang="zh-CN" altLang="en-US" spc="0" dirty="0">
              <a:solidFill>
                <a:schemeClr val="tx1">
                  <a:lumMod val="65000"/>
                  <a:lumOff val="35000"/>
                </a:schemeClr>
              </a:solidFill>
              <a:ea typeface="微软雅黑" panose="020B0503020204020204" charset="-122"/>
            </a:endParaRPr>
          </a:p>
        </p:txBody>
      </p:sp>
      <p:sp>
        <p:nvSpPr>
          <p:cNvPr id="6" name="矩形 5"/>
          <p:cNvSpPr/>
          <p:nvPr/>
        </p:nvSpPr>
        <p:spPr>
          <a:xfrm>
            <a:off x="1763688" y="4437832"/>
            <a:ext cx="1296144" cy="288032"/>
          </a:xfrm>
          <a:prstGeom prst="rect">
            <a:avLst/>
          </a:prstGeom>
          <a:solidFill>
            <a:schemeClr val="accent4">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类型</a:t>
            </a:r>
            <a:endParaRPr lang="zh-CN" altLang="en-US" sz="1400" b="1" dirty="0">
              <a:solidFill>
                <a:schemeClr val="tx1"/>
              </a:solidFill>
            </a:endParaRPr>
          </a:p>
        </p:txBody>
      </p:sp>
      <p:sp>
        <p:nvSpPr>
          <p:cNvPr id="7" name="矩形 6"/>
          <p:cNvSpPr/>
          <p:nvPr/>
        </p:nvSpPr>
        <p:spPr>
          <a:xfrm>
            <a:off x="3059832" y="4437832"/>
            <a:ext cx="1224136" cy="2880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400" b="1" dirty="0" smtClean="0">
                <a:solidFill>
                  <a:schemeClr val="tx1"/>
                </a:solidFill>
              </a:rPr>
              <a:t>所有权</a:t>
            </a:r>
            <a:endParaRPr lang="zh-CN" altLang="en-US" sz="1400" b="1" dirty="0">
              <a:solidFill>
                <a:schemeClr val="tx1"/>
              </a:solidFill>
            </a:endParaRPr>
          </a:p>
        </p:txBody>
      </p:sp>
      <p:sp>
        <p:nvSpPr>
          <p:cNvPr id="8" name="矩形 7"/>
          <p:cNvSpPr/>
          <p:nvPr/>
        </p:nvSpPr>
        <p:spPr>
          <a:xfrm>
            <a:off x="4283968" y="4437112"/>
            <a:ext cx="1296144"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b="1" dirty="0" smtClean="0">
                <a:solidFill>
                  <a:schemeClr val="tx1"/>
                </a:solidFill>
              </a:rPr>
              <a:t>赋值语义</a:t>
            </a:r>
            <a:endParaRPr lang="zh-CN" altLang="en-US" sz="1400" b="1" dirty="0">
              <a:solidFill>
                <a:schemeClr val="tx1"/>
              </a:solidFill>
            </a:endParaRPr>
          </a:p>
        </p:txBody>
      </p:sp>
      <p:sp>
        <p:nvSpPr>
          <p:cNvPr id="9" name="矩形 8"/>
          <p:cNvSpPr/>
          <p:nvPr/>
        </p:nvSpPr>
        <p:spPr>
          <a:xfrm>
            <a:off x="5580112" y="4437112"/>
            <a:ext cx="100811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rPr>
              <a:t>移动语义</a:t>
            </a:r>
            <a:endParaRPr lang="zh-CN" altLang="en-US" sz="1400" b="1" dirty="0">
              <a:solidFill>
                <a:schemeClr val="tx1"/>
              </a:solidFill>
            </a:endParaRPr>
          </a:p>
        </p:txBody>
      </p:sp>
      <p:sp>
        <p:nvSpPr>
          <p:cNvPr id="10" name="矩形 9"/>
          <p:cNvSpPr/>
          <p:nvPr/>
        </p:nvSpPr>
        <p:spPr>
          <a:xfrm>
            <a:off x="1763688" y="4725144"/>
            <a:ext cx="129614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b="1" dirty="0" err="1">
                <a:solidFill>
                  <a:schemeClr val="tx1"/>
                </a:solidFill>
              </a:rPr>
              <a:t>s</a:t>
            </a:r>
            <a:r>
              <a:rPr lang="en-US" altLang="zh-CN" sz="1400" b="1" dirty="0" err="1" smtClean="0">
                <a:solidFill>
                  <a:schemeClr val="tx1"/>
                </a:solidFill>
              </a:rPr>
              <a:t>hared_ptr</a:t>
            </a:r>
            <a:endParaRPr lang="zh-CN" altLang="en-US" sz="1400" b="1" dirty="0">
              <a:solidFill>
                <a:schemeClr val="tx1"/>
              </a:solidFill>
            </a:endParaRPr>
          </a:p>
        </p:txBody>
      </p:sp>
      <p:sp>
        <p:nvSpPr>
          <p:cNvPr id="11" name="矩形 10"/>
          <p:cNvSpPr/>
          <p:nvPr/>
        </p:nvSpPr>
        <p:spPr>
          <a:xfrm>
            <a:off x="3065192" y="4725144"/>
            <a:ext cx="121877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共享所有权</a:t>
            </a:r>
            <a:endParaRPr lang="zh-CN" altLang="en-US" sz="1400" b="1" dirty="0">
              <a:solidFill>
                <a:schemeClr val="tx1"/>
              </a:solidFill>
            </a:endParaRPr>
          </a:p>
        </p:txBody>
      </p:sp>
      <p:sp>
        <p:nvSpPr>
          <p:cNvPr id="12" name="矩形 11"/>
          <p:cNvSpPr/>
          <p:nvPr/>
        </p:nvSpPr>
        <p:spPr>
          <a:xfrm>
            <a:off x="4283968" y="4725144"/>
            <a:ext cx="129614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支持</a:t>
            </a:r>
            <a:endParaRPr lang="zh-CN" altLang="en-US" sz="1400" b="1" dirty="0">
              <a:solidFill>
                <a:schemeClr val="tx1"/>
              </a:solidFill>
            </a:endParaRPr>
          </a:p>
        </p:txBody>
      </p:sp>
      <p:sp>
        <p:nvSpPr>
          <p:cNvPr id="13" name="矩形 12"/>
          <p:cNvSpPr/>
          <p:nvPr/>
        </p:nvSpPr>
        <p:spPr>
          <a:xfrm>
            <a:off x="5578200" y="4725144"/>
            <a:ext cx="101002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a:solidFill>
                  <a:schemeClr val="tx1"/>
                </a:solidFill>
              </a:rPr>
              <a:t>支持</a:t>
            </a:r>
            <a:endParaRPr lang="zh-CN" altLang="en-US" sz="1400" b="1" dirty="0">
              <a:solidFill>
                <a:schemeClr val="tx1"/>
              </a:solidFill>
            </a:endParaRPr>
          </a:p>
        </p:txBody>
      </p:sp>
      <p:sp>
        <p:nvSpPr>
          <p:cNvPr id="14" name="矩形 13"/>
          <p:cNvSpPr/>
          <p:nvPr/>
        </p:nvSpPr>
        <p:spPr>
          <a:xfrm>
            <a:off x="1763688" y="5012456"/>
            <a:ext cx="129614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b="1" dirty="0" err="1" smtClean="0">
                <a:solidFill>
                  <a:schemeClr val="tx1"/>
                </a:solidFill>
              </a:rPr>
              <a:t>weak_ptr</a:t>
            </a:r>
            <a:endParaRPr lang="zh-CN" altLang="en-US" sz="1400" b="1" dirty="0">
              <a:solidFill>
                <a:schemeClr val="tx1"/>
              </a:solidFill>
            </a:endParaRPr>
          </a:p>
        </p:txBody>
      </p:sp>
      <p:sp>
        <p:nvSpPr>
          <p:cNvPr id="15" name="矩形 14"/>
          <p:cNvSpPr/>
          <p:nvPr/>
        </p:nvSpPr>
        <p:spPr>
          <a:xfrm>
            <a:off x="3059832" y="5012456"/>
            <a:ext cx="121877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临时所有权</a:t>
            </a:r>
            <a:endParaRPr lang="zh-CN" altLang="en-US" sz="1400" b="1" dirty="0">
              <a:solidFill>
                <a:schemeClr val="tx1"/>
              </a:solidFill>
            </a:endParaRPr>
          </a:p>
        </p:txBody>
      </p:sp>
      <p:sp>
        <p:nvSpPr>
          <p:cNvPr id="16" name="矩形 15"/>
          <p:cNvSpPr/>
          <p:nvPr/>
        </p:nvSpPr>
        <p:spPr>
          <a:xfrm>
            <a:off x="4283968" y="5012456"/>
            <a:ext cx="1294232"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支持</a:t>
            </a:r>
            <a:endParaRPr lang="zh-CN" altLang="en-US" sz="1400" b="1" dirty="0">
              <a:solidFill>
                <a:schemeClr val="tx1"/>
              </a:solidFill>
            </a:endParaRPr>
          </a:p>
        </p:txBody>
      </p:sp>
      <p:sp>
        <p:nvSpPr>
          <p:cNvPr id="17" name="矩形 16"/>
          <p:cNvSpPr/>
          <p:nvPr/>
        </p:nvSpPr>
        <p:spPr>
          <a:xfrm>
            <a:off x="5580112" y="5012456"/>
            <a:ext cx="1008112"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a:solidFill>
                  <a:schemeClr val="tx1"/>
                </a:solidFill>
              </a:rPr>
              <a:t>支持</a:t>
            </a:r>
            <a:endParaRPr lang="zh-CN" altLang="en-US" sz="1400" b="1" dirty="0">
              <a:solidFill>
                <a:schemeClr val="tx1"/>
              </a:solidFill>
            </a:endParaRPr>
          </a:p>
        </p:txBody>
      </p:sp>
      <p:sp>
        <p:nvSpPr>
          <p:cNvPr id="18" name="矩形 17"/>
          <p:cNvSpPr/>
          <p:nvPr/>
        </p:nvSpPr>
        <p:spPr>
          <a:xfrm>
            <a:off x="1763688" y="5299768"/>
            <a:ext cx="128169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b="1" dirty="0" err="1">
                <a:solidFill>
                  <a:schemeClr val="tx1"/>
                </a:solidFill>
              </a:rPr>
              <a:t>u</a:t>
            </a:r>
            <a:r>
              <a:rPr lang="en-US" altLang="zh-CN" sz="1400" b="1" dirty="0" err="1" smtClean="0">
                <a:solidFill>
                  <a:schemeClr val="tx1"/>
                </a:solidFill>
              </a:rPr>
              <a:t>nique_ptr</a:t>
            </a:r>
            <a:endParaRPr lang="zh-CN" altLang="en-US" sz="1400" b="1" dirty="0">
              <a:solidFill>
                <a:schemeClr val="tx1"/>
              </a:solidFill>
            </a:endParaRPr>
          </a:p>
        </p:txBody>
      </p:sp>
      <p:sp>
        <p:nvSpPr>
          <p:cNvPr id="19" name="矩形 18"/>
          <p:cNvSpPr/>
          <p:nvPr/>
        </p:nvSpPr>
        <p:spPr>
          <a:xfrm>
            <a:off x="3059832" y="5299768"/>
            <a:ext cx="121877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独占所有权</a:t>
            </a:r>
            <a:endParaRPr lang="zh-CN" altLang="en-US" sz="1400" b="1" dirty="0">
              <a:solidFill>
                <a:schemeClr val="tx1"/>
              </a:solidFill>
            </a:endParaRPr>
          </a:p>
        </p:txBody>
      </p:sp>
      <p:sp>
        <p:nvSpPr>
          <p:cNvPr id="20" name="矩形 19"/>
          <p:cNvSpPr/>
          <p:nvPr/>
        </p:nvSpPr>
        <p:spPr>
          <a:xfrm>
            <a:off x="4278608" y="5299768"/>
            <a:ext cx="1308728"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不支持</a:t>
            </a:r>
            <a:endParaRPr lang="zh-CN" altLang="en-US" sz="1400" b="1" dirty="0">
              <a:solidFill>
                <a:schemeClr val="tx1"/>
              </a:solidFill>
            </a:endParaRPr>
          </a:p>
        </p:txBody>
      </p:sp>
      <p:sp>
        <p:nvSpPr>
          <p:cNvPr id="21" name="矩形 20"/>
          <p:cNvSpPr/>
          <p:nvPr/>
        </p:nvSpPr>
        <p:spPr>
          <a:xfrm>
            <a:off x="5578200" y="5299768"/>
            <a:ext cx="101002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a:solidFill>
                  <a:schemeClr val="tx1"/>
                </a:solidFill>
              </a:rPr>
              <a:t>支持</a:t>
            </a:r>
            <a:endParaRPr lang="zh-CN" altLang="en-US" sz="1400" b="1" dirty="0">
              <a:solidFill>
                <a:schemeClr val="tx1"/>
              </a:solidFill>
            </a:endParaRPr>
          </a:p>
        </p:txBody>
      </p:sp>
      <p:sp>
        <p:nvSpPr>
          <p:cNvPr id="22" name="矩形 21"/>
          <p:cNvSpPr/>
          <p:nvPr/>
        </p:nvSpPr>
        <p:spPr>
          <a:xfrm>
            <a:off x="1763688" y="5587080"/>
            <a:ext cx="128169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b="1" dirty="0" err="1" smtClean="0">
                <a:solidFill>
                  <a:schemeClr val="tx1"/>
                </a:solidFill>
              </a:rPr>
              <a:t>socped_ptr</a:t>
            </a:r>
            <a:endParaRPr lang="zh-CN" altLang="en-US" sz="1400" b="1" dirty="0">
              <a:solidFill>
                <a:schemeClr val="tx1"/>
              </a:solidFill>
            </a:endParaRPr>
          </a:p>
        </p:txBody>
      </p:sp>
      <p:sp>
        <p:nvSpPr>
          <p:cNvPr id="23" name="矩形 22"/>
          <p:cNvSpPr/>
          <p:nvPr/>
        </p:nvSpPr>
        <p:spPr>
          <a:xfrm>
            <a:off x="3059832" y="5587080"/>
            <a:ext cx="1218776"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独占所有权</a:t>
            </a:r>
            <a:endParaRPr lang="zh-CN" altLang="en-US" sz="1400" b="1" dirty="0">
              <a:solidFill>
                <a:schemeClr val="tx1"/>
              </a:solidFill>
            </a:endParaRPr>
          </a:p>
        </p:txBody>
      </p:sp>
      <p:sp>
        <p:nvSpPr>
          <p:cNvPr id="24" name="矩形 23"/>
          <p:cNvSpPr/>
          <p:nvPr/>
        </p:nvSpPr>
        <p:spPr>
          <a:xfrm>
            <a:off x="4278608" y="5587080"/>
            <a:ext cx="1308728"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smtClean="0">
                <a:solidFill>
                  <a:schemeClr val="tx1"/>
                </a:solidFill>
              </a:rPr>
              <a:t>不支持</a:t>
            </a:r>
            <a:endParaRPr lang="zh-CN" altLang="en-US" sz="1400" b="1" dirty="0">
              <a:solidFill>
                <a:schemeClr val="tx1"/>
              </a:solidFill>
            </a:endParaRPr>
          </a:p>
        </p:txBody>
      </p:sp>
      <p:sp>
        <p:nvSpPr>
          <p:cNvPr id="25" name="矩形 24"/>
          <p:cNvSpPr/>
          <p:nvPr/>
        </p:nvSpPr>
        <p:spPr>
          <a:xfrm>
            <a:off x="5580112" y="5587080"/>
            <a:ext cx="1010024" cy="2880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b="1" dirty="0">
                <a:solidFill>
                  <a:schemeClr val="tx1"/>
                </a:solidFill>
              </a:rPr>
              <a:t>不</a:t>
            </a:r>
            <a:r>
              <a:rPr lang="zh-CN" altLang="en-US" sz="1400" b="1" dirty="0" smtClean="0">
                <a:solidFill>
                  <a:schemeClr val="tx1"/>
                </a:solidFill>
              </a:rPr>
              <a:t>支持</a:t>
            </a:r>
            <a:endParaRPr lang="zh-CN" altLang="en-US" sz="1400" b="1" dirty="0">
              <a:solidFill>
                <a:schemeClr val="tx1"/>
              </a:solidFill>
            </a:endParaRPr>
          </a:p>
        </p:txBody>
      </p:sp>
    </p:spTree>
    <p:custDataLst>
      <p:tags r:id="rId1"/>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8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9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0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1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8.xml><?xml version="1.0" encoding="utf-8"?>
<p:tagLst xmlns:p="http://schemas.openxmlformats.org/presentationml/2006/main">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78"/>
  <p:tag name="KSO_WM_TEMPLATE_MASTER_TYPE" val="1"/>
  <p:tag name="KSO_WM_TEMPLATE_THUMBS_INDEX" val="1、4、7、12、15、16、20、23、24、25、30、35、39、40、41、42"/>
</p:tagLst>
</file>

<file path=ppt/tags/tag139.xml><?xml version="1.0" encoding="utf-8"?>
<p:tagLst xmlns:p="http://schemas.openxmlformats.org/presentationml/2006/main">
  <p:tag name="KSO_WM_TEMPLATE_CATEGORY" val="custom"/>
  <p:tag name="KSO_WM_TEMPLATE_INDEX" val="20204478"/>
</p:tagLst>
</file>

<file path=ppt/tags/tag140.xml><?xml version="1.0" encoding="utf-8"?>
<p:tagLst xmlns:p="http://schemas.openxmlformats.org/presentationml/2006/main">
  <p:tag name="KSO_WM_TEMPLATE_CATEGORY" val="custom"/>
  <p:tag name="KSO_WM_TEMPLATE_INDEX" val="20204478"/>
</p:tagLst>
</file>

<file path=ppt/tags/tag141.xml><?xml version="1.0" encoding="utf-8"?>
<p:tagLst xmlns:p="http://schemas.openxmlformats.org/presentationml/2006/main">
  <p:tag name="KSO_WM_TEMPLATE_CATEGORY" val="custom"/>
  <p:tag name="KSO_WM_TEMPLATE_INDEX" val="20204478"/>
</p:tagLst>
</file>

<file path=ppt/tags/tag142.xml><?xml version="1.0" encoding="utf-8"?>
<p:tagLst xmlns:p="http://schemas.openxmlformats.org/presentationml/2006/main">
  <p:tag name="KSO_WM_TEMPLATE_CATEGORY" val="custom"/>
  <p:tag name="KSO_WM_TEMPLATE_INDEX" val="20204478"/>
</p:tagLst>
</file>

<file path=ppt/tags/tag143.xml><?xml version="1.0" encoding="utf-8"?>
<p:tagLst xmlns:p="http://schemas.openxmlformats.org/presentationml/2006/main">
  <p:tag name="KSO_WM_TEMPLATE_CATEGORY" val="custom"/>
  <p:tag name="KSO_WM_TEMPLATE_INDEX" val="20204478"/>
</p:tagLst>
</file>

<file path=ppt/tags/tag144.xml><?xml version="1.0" encoding="utf-8"?>
<p:tagLst xmlns:p="http://schemas.openxmlformats.org/presentationml/2006/main">
  <p:tag name="KSO_WM_TEMPLATE_CATEGORY" val="custom"/>
  <p:tag name="KSO_WM_TEMPLATE_INDEX" val="20204478"/>
</p:tagLst>
</file>

<file path=ppt/tags/tag145.xml><?xml version="1.0" encoding="utf-8"?>
<p:tagLst xmlns:p="http://schemas.openxmlformats.org/presentationml/2006/main">
  <p:tag name="KSO_WM_TEMPLATE_CATEGORY" val="custom"/>
  <p:tag name="KSO_WM_TEMPLATE_INDEX" val="20204478"/>
</p:tagLst>
</file>

<file path=ppt/tags/tag146.xml><?xml version="1.0" encoding="utf-8"?>
<p:tagLst xmlns:p="http://schemas.openxmlformats.org/presentationml/2006/main">
  <p:tag name="KSO_WM_TEMPLATE_CATEGORY" val="custom"/>
  <p:tag name="KSO_WM_TEMPLATE_INDEX" val="20204478"/>
</p:tagLst>
</file>

<file path=ppt/tags/tag147.xml><?xml version="1.0" encoding="utf-8"?>
<p:tagLst xmlns:p="http://schemas.openxmlformats.org/presentationml/2006/main">
  <p:tag name="KSO_WM_TEMPLATE_CATEGORY" val="custom"/>
  <p:tag name="KSO_WM_TEMPLATE_INDEX" val="20204478"/>
</p:tagLst>
</file>

<file path=ppt/tags/tag148.xml><?xml version="1.0" encoding="utf-8"?>
<p:tagLst xmlns:p="http://schemas.openxmlformats.org/presentationml/2006/main">
  <p:tag name="KSO_WM_BEAUTIFY_FLAG" val="#wm#"/>
  <p:tag name="KSO_WM_TEMPLATE_CATEGORY" val="custom"/>
  <p:tag name="KSO_WM_TEMPLATE_INDEX" val="20204478"/>
</p:tagLst>
</file>

<file path=ppt/tags/tag149.xml><?xml version="1.0" encoding="utf-8"?>
<p:tagLst xmlns:p="http://schemas.openxmlformats.org/presentationml/2006/main">
  <p:tag name="KSO_WM_TEMPLATE_CATEGORY" val="custom"/>
  <p:tag name="KSO_WM_TEMPLATE_INDEX" val="20204478"/>
</p:tagLst>
</file>

<file path=ppt/tags/tag150.xml><?xml version="1.0" encoding="utf-8"?>
<p:tagLst xmlns:p="http://schemas.openxmlformats.org/presentationml/2006/main">
  <p:tag name="KSO_WM_TEMPLATE_CATEGORY" val="custom"/>
  <p:tag name="KSO_WM_TEMPLATE_INDEX" val="20204478"/>
</p:tagLst>
</file>

<file path=ppt/tags/tag151.xml><?xml version="1.0" encoding="utf-8"?>
<p:tagLst xmlns:p="http://schemas.openxmlformats.org/presentationml/2006/main">
  <p:tag name="KSO_WM_TEMPLATE_CATEGORY" val="custom"/>
  <p:tag name="KSO_WM_TEMPLATE_INDEX" val="20204478"/>
</p:tagLst>
</file>

<file path=ppt/tags/tag152.xml><?xml version="1.0" encoding="utf-8"?>
<p:tagLst xmlns:p="http://schemas.openxmlformats.org/presentationml/2006/main">
  <p:tag name="KSO_WM_TEMPLATE_CATEGORY" val="custom"/>
  <p:tag name="KSO_WM_TEMPLATE_INDEX" val="20204478"/>
</p:tagLst>
</file>

<file path=ppt/tags/tag153.xml><?xml version="1.0" encoding="utf-8"?>
<p:tagLst xmlns:p="http://schemas.openxmlformats.org/presentationml/2006/main">
  <p:tag name="KSO_WM_TEMPLATE_CATEGORY" val="custom"/>
  <p:tag name="KSO_WM_TEMPLATE_INDEX" val="20204478"/>
</p:tagLst>
</file>

<file path=ppt/tags/tag154.xml><?xml version="1.0" encoding="utf-8"?>
<p:tagLst xmlns:p="http://schemas.openxmlformats.org/presentationml/2006/main">
  <p:tag name="KSO_WM_TEMPLATE_CATEGORY" val="custom"/>
  <p:tag name="KSO_WM_TEMPLATE_INDEX" val="20204478"/>
</p:tagLst>
</file>

<file path=ppt/tags/tag155.xml><?xml version="1.0" encoding="utf-8"?>
<p:tagLst xmlns:p="http://schemas.openxmlformats.org/presentationml/2006/main">
  <p:tag name="KSO_WM_TEMPLATE_CATEGORY" val="custom"/>
  <p:tag name="KSO_WM_TEMPLATE_INDEX" val="20204478"/>
</p:tagLst>
</file>

<file path=ppt/tags/tag156.xml><?xml version="1.0" encoding="utf-8"?>
<p:tagLst xmlns:p="http://schemas.openxmlformats.org/presentationml/2006/main">
  <p:tag name="KSO_WM_TEMPLATE_CATEGORY" val="custom"/>
  <p:tag name="KSO_WM_TEMPLATE_INDEX" val="20204478"/>
</p:tagLst>
</file>

<file path=ppt/tags/tag157.xml><?xml version="1.0" encoding="utf-8"?>
<p:tagLst xmlns:p="http://schemas.openxmlformats.org/presentationml/2006/main">
  <p:tag name="KSO_WM_TEMPLATE_CATEGORY" val="custom"/>
  <p:tag name="KSO_WM_TEMPLATE_INDEX" val="20204478"/>
</p:tagLst>
</file>

<file path=ppt/theme/theme1.xml><?xml version="1.0" encoding="utf-8"?>
<a:theme xmlns:a="http://schemas.openxmlformats.org/drawingml/2006/main" name="2_Office 主题​​">
  <a:themeElements>
    <a:clrScheme name="自定义 199">
      <a:dk1>
        <a:srgbClr val="000000"/>
      </a:dk1>
      <a:lt1>
        <a:srgbClr val="FFFFFF"/>
      </a:lt1>
      <a:dk2>
        <a:srgbClr val="EEF6FC"/>
      </a:dk2>
      <a:lt2>
        <a:srgbClr val="FCFCFD"/>
      </a:lt2>
      <a:accent1>
        <a:srgbClr val="6F86A0"/>
      </a:accent1>
      <a:accent2>
        <a:srgbClr val="2F9BC1"/>
      </a:accent2>
      <a:accent3>
        <a:srgbClr val="20ADB0"/>
      </a:accent3>
      <a:accent4>
        <a:srgbClr val="35A550"/>
      </a:accent4>
      <a:accent5>
        <a:srgbClr val="7A9F3F"/>
      </a:accent5>
      <a:accent6>
        <a:srgbClr val="E5CA2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3645</Words>
  <Application>WPS 演示</Application>
  <PresentationFormat>全屏显示(4:3)</PresentationFormat>
  <Paragraphs>272</Paragraphs>
  <Slides>20</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微软雅黑</vt:lpstr>
      <vt:lpstr>汉仪旗黑-85S</vt:lpstr>
      <vt:lpstr>黑体</vt:lpstr>
      <vt:lpstr>Arial Unicode MS</vt:lpstr>
      <vt:lpstr>等线</vt:lpstr>
      <vt:lpstr>Wingdings</vt:lpstr>
      <vt:lpstr>2_Office 主题​​</vt:lpstr>
      <vt:lpstr>PowerPoint 演示文稿</vt:lpstr>
      <vt:lpstr>PowerPoint 演示文稿</vt:lpstr>
      <vt:lpstr>PowerPoint 演示文稿</vt:lpstr>
      <vt:lpstr>PowerPoint 演示文稿</vt:lpstr>
      <vt:lpstr>智能指针</vt:lpstr>
      <vt:lpstr>PowerPoint 演示文稿</vt:lpstr>
      <vt:lpstr>shared_ptr概述</vt:lpstr>
      <vt:lpstr>shared_ptr的细节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智能指针</dc:title>
  <dc:creator>lenovo</dc:creator>
  <cp:lastModifiedBy>Rock</cp:lastModifiedBy>
  <cp:revision>240</cp:revision>
  <dcterms:created xsi:type="dcterms:W3CDTF">2020-03-12T12:46:00Z</dcterms:created>
  <dcterms:modified xsi:type="dcterms:W3CDTF">2021-10-28T23:32:01Z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